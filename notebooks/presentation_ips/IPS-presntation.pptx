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0" r:id="rId4"/>
    <p:sldId id="273" r:id="rId5"/>
    <p:sldId id="274" r:id="rId6"/>
    <p:sldId id="271" r:id="rId7"/>
    <p:sldId id="272" r:id="rId8"/>
    <p:sldId id="268" r:id="rId9"/>
    <p:sldId id="266" r:id="rId10"/>
    <p:sldId id="262" r:id="rId11"/>
    <p:sldId id="269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6743" userDrawn="1">
          <p15:clr>
            <a:srgbClr val="A4A3A4"/>
          </p15:clr>
        </p15:guide>
        <p15:guide id="3" pos="6176" userDrawn="1">
          <p15:clr>
            <a:srgbClr val="A4A3A4"/>
          </p15:clr>
        </p15:guide>
        <p15:guide id="4" orient="horz" pos="1344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25C"/>
    <a:srgbClr val="177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122"/>
  </p:normalViewPr>
  <p:slideViewPr>
    <p:cSldViewPr snapToGrid="0" showGuides="1">
      <p:cViewPr varScale="1">
        <p:scale>
          <a:sx n="121" d="100"/>
          <a:sy n="121" d="100"/>
        </p:scale>
        <p:origin x="1400" y="168"/>
      </p:cViewPr>
      <p:guideLst>
        <p:guide orient="horz" pos="1162"/>
        <p:guide pos="6743"/>
        <p:guide pos="6176"/>
        <p:guide orient="horz" pos="1344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B5-4049-A81B-11C1F9D6D844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B5-4049-A81B-11C1F9D6D844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B5-4049-A81B-11C1F9D6D844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B5-4049-A81B-11C1F9D6D844}"/>
              </c:ext>
            </c:extLst>
          </c:dPt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D-5448-AFD0-D0E51601F7AA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סידרה 2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B5-4049-A81B-11C1F9D6D844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1B5-4049-A81B-11C1F9D6D844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1B5-4049-A81B-11C1F9D6D844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1B5-4049-A81B-11C1F9D6D844}"/>
              </c:ext>
            </c:extLst>
          </c:dPt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D-5448-AFD0-D0E51601F7AA}"/>
            </c:ext>
          </c:extLst>
        </c:ser>
        <c:ser>
          <c:idx val="2"/>
          <c:order val="2"/>
          <c:tx>
            <c:strRef>
              <c:f>גיליון1!$D$1</c:f>
              <c:strCache>
                <c:ptCount val="1"/>
                <c:pt idx="0">
                  <c:v>סידרה 3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1B5-4049-A81B-11C1F9D6D844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1B5-4049-A81B-11C1F9D6D844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1B5-4049-A81B-11C1F9D6D844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1B5-4049-A81B-11C1F9D6D844}"/>
              </c:ext>
            </c:extLst>
          </c:dPt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D-5448-AFD0-D0E51601F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D-5448-AFD0-D0E51601F7AA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סידרה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D-5448-AFD0-D0E51601F7AA}"/>
            </c:ext>
          </c:extLst>
        </c:ser>
        <c:ser>
          <c:idx val="2"/>
          <c:order val="2"/>
          <c:tx>
            <c:strRef>
              <c:f>גיליון1!$D$1</c:f>
              <c:strCache>
                <c:ptCount val="1"/>
                <c:pt idx="0">
                  <c:v>סידרה 3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גיליון1!$A$2:$A$5</c:f>
              <c:strCache>
                <c:ptCount val="4"/>
                <c:pt idx="0">
                  <c:v>קטגוריה 1</c:v>
                </c:pt>
                <c:pt idx="1">
                  <c:v>קטגוריה 2</c:v>
                </c:pt>
                <c:pt idx="2">
                  <c:v>קטגוריה 3</c:v>
                </c:pt>
                <c:pt idx="3">
                  <c:v>קטגוריה 4</c:v>
                </c:pt>
              </c:strCache>
            </c:strRef>
          </c:cat>
          <c:val>
            <c:numRef>
              <c:f>גיליון1!$D$2:$D$5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D-5448-AFD0-D0E51601F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axId val="930112751"/>
        <c:axId val="982460895"/>
      </c:barChart>
      <c:catAx>
        <c:axId val="9301127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82460895"/>
        <c:crosses val="autoZero"/>
        <c:auto val="1"/>
        <c:lblAlgn val="ctr"/>
        <c:lblOffset val="100"/>
        <c:noMultiLvlLbl val="0"/>
      </c:catAx>
      <c:valAx>
        <c:axId val="982460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30112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441FA12-AFAF-C64F-BCD9-42C98846694D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5A1688F-B466-7A4C-8F3E-17D2A85EF1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11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1688F-B466-7A4C-8F3E-17D2A85EF135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3865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16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8753D6-1B0E-1004-2F2C-1DEEA389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78F318-3E84-99FC-E8E1-54DF95CD5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BCD96D-9E02-F4A6-5EBB-54401FD7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3CC80A-DF4A-25ED-C652-6D62CA54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7D0188-E4DB-F040-83BF-6E84FF95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741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53ABFC8-E225-B0C8-EF66-76BF065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AFE45A9-6463-D4D9-47B3-7D2AE0490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AB8D42-B2A2-C09D-83D1-B0DD0048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4D21C5-E032-8C9D-6BCA-6416C0B7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A036AA-F651-1115-A03E-0C74A88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77778F-3514-8B62-CD47-F54A47902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E6FE0E2-E5C7-DBAA-673C-3F7957093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DE7A7CF-C807-8CDA-C421-368E0DA40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C7C671-2DC1-750E-61DD-5AD7482D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B641068-0AA2-B8DE-E67B-530B7B36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CC6C3F-383A-6586-2277-C8AD7C70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000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F953DE-F193-43AF-79A7-6A77B55F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4FFC868-6DED-03B8-666A-8F7535FC0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926E6DB-98CF-C323-3A7E-1E1D27EF6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89C3B0A-F270-860C-796C-CFECE2AB1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D0D40C7-54A8-0632-E7D2-3B5F7206F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3E8ADAF-FC55-143F-E726-A508EDC4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2F84F34-106D-1D89-1D71-157CD90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9BD0B4A-261E-E4D8-3943-46BBED97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905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D988DE-7DCD-91DF-554B-BBF31C8B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AF5A715-B5C6-C5FE-003E-A56D97C9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6255737-166D-5D1A-E241-95FA34A7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F190F3-17A6-C4FD-3EF2-D5735054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607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4EB8F73-41E4-D908-A69B-56115AFB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4CAB73B-37DB-CEAE-8F67-35CFB2CF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20946A-4C47-F763-8604-8BEA2743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772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85F59A-ED93-2690-7261-9EDAE908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AB72F4E-0555-8D47-CE47-C7130DAE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3A6A26C-8EA5-DE17-D755-B66869AC9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2158F9-8361-BEA8-8E32-268BA03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F28B89-BE54-D19C-0394-E389DF7E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E51B01-3E4E-6150-A275-F17014A3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468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03815F-D255-FD10-42EA-7FB86392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1DE86FC-CCB1-E112-F0BB-83EACB15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4C0D41D-F975-905A-56D2-46593B887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4FA7CC0-DF5F-F8E0-0164-DDD3F552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CBEB0EB-12C9-E699-D627-6B07FA56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8D0CEB-FCC8-D5E6-E2CC-BF63508C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501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1D7769-F31C-ECFE-C7B2-94BB6353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D8D90E4-0EB0-F2E3-7FAE-3DB7F3E52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1508503-ACBA-389D-9BBE-2643E6C8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FC6617-3F90-863F-9275-57ADA200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B4124FC-9994-2D63-1093-E8EF16D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009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BD873D3-05FC-5DF0-43AF-37D783661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CFA436F-3157-7C1A-E45A-2B6D30B03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7C9AC3-2B25-6F67-C6F0-8F7DE72F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7B9ADD-BB93-C946-BADA-B55A966A9950}" type="datetimeFigureOut">
              <a:rPr lang="he-IL" smtClean="0"/>
              <a:t>כ"ג.סיון.תשפ"ו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9EE2E3-6B1B-D5AC-9B62-84D70F51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2251D9-210E-31DA-5D59-10E6113B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8DA4E4-3E41-344B-B43F-2407D46CD70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731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08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6">
            <a:extLst>
              <a:ext uri="{FF2B5EF4-FFF2-40B4-BE49-F238E27FC236}">
                <a16:creationId xmlns:a16="http://schemas.microsoft.com/office/drawing/2014/main" id="{D3897F28-82C4-700E-3A6B-72FDBE1E7469}"/>
              </a:ext>
            </a:extLst>
          </p:cNvPr>
          <p:cNvSpPr txBox="1"/>
          <p:nvPr/>
        </p:nvSpPr>
        <p:spPr>
          <a:xfrm>
            <a:off x="0" y="2099504"/>
            <a:ext cx="1219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3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Amplitude-robust qubit spectroscopy</a:t>
            </a:r>
            <a:endParaRPr lang="en-US" sz="3200" dirty="0"/>
          </a:p>
          <a:p>
            <a:pPr marL="0" algn="ctr" defTabSz="914400" rtl="0" eaLnBrk="1" latinLnBrk="0" hangingPunct="1"/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תיבת טקסט 7">
            <a:extLst>
              <a:ext uri="{FF2B5EF4-FFF2-40B4-BE49-F238E27FC236}">
                <a16:creationId xmlns:a16="http://schemas.microsoft.com/office/drawing/2014/main" id="{3957DA1D-1993-9CEC-E7D0-9AFA177F4D36}"/>
              </a:ext>
            </a:extLst>
          </p:cNvPr>
          <p:cNvSpPr txBox="1"/>
          <p:nvPr/>
        </p:nvSpPr>
        <p:spPr>
          <a:xfrm>
            <a:off x="1466193" y="2896449"/>
            <a:ext cx="925961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6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Echo-root-Lorentzian pulse shapes preserve T2-limited frequency resolution while tolerating much stronger drive amplitudes.</a:t>
            </a:r>
          </a:p>
          <a:p>
            <a:pPr algn="ctr" rtl="0"/>
            <a:endParaRPr lang="en-US" sz="1600" dirty="0">
              <a:solidFill>
                <a:srgbClr val="475467"/>
              </a:solidFill>
              <a:latin typeface="Aptos" pitchFamily="34" charset="0"/>
            </a:endParaRPr>
          </a:p>
          <a:p>
            <a:pPr algn="ctr" rtl="0"/>
            <a:endParaRPr lang="en-US" sz="1600" dirty="0"/>
          </a:p>
          <a:p>
            <a:pPr algn="ctr" rtl="0"/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Asaf Solonnikov | Nadav Katz</a:t>
            </a:r>
            <a:b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Racah Institute of Physics, Hebrew University of Jerusalem · Jun 8, 2026</a:t>
            </a:r>
            <a:endParaRPr lang="en-US" sz="1600" dirty="0"/>
          </a:p>
          <a:p>
            <a:pPr algn="ctr" rtl="0"/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E78D37C-003A-46A5-1213-DB1797F56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344" y="5238476"/>
            <a:ext cx="1996535" cy="682452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EDAA9CB-7A26-38E4-DB13-4087FD12B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456" y="5278853"/>
            <a:ext cx="1918200" cy="64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3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4A76A09-EE0C-2C96-227B-EAA5E5D235D3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calibration needs resolution without fragile low-amplitude scans</a:t>
            </a:r>
            <a:endParaRPr lang="en-US" sz="3200" dirty="0"/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55DE8-4E25-83E1-6DC9-6D87D6B066EC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13A1A-3C7F-6DB3-062C-9D54D94CF2E2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16518-0E7C-8C27-5ADC-E547D9AB8251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B12AC3B7-A74A-6BE4-5705-FC8639768D84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D68B49D6-F91A-E824-7521-F13965D4D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" name="Picture 1" descr="A diagram of a window of interest&#10;&#10;AI-generated content may be incorrect.">
            <a:extLst>
              <a:ext uri="{FF2B5EF4-FFF2-40B4-BE49-F238E27FC236}">
                <a16:creationId xmlns:a16="http://schemas.microsoft.com/office/drawing/2014/main" id="{CAE371B2-EEA2-3DFF-8296-06D4D90FA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240" y="2850845"/>
            <a:ext cx="5839519" cy="235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6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3AF63-D277-AC0B-3C1F-DE75C743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3A608154-2799-BA4E-C845-6EBDA62F80F3}"/>
              </a:ext>
            </a:extLst>
          </p:cNvPr>
          <p:cNvSpPr txBox="1"/>
          <p:nvPr/>
        </p:nvSpPr>
        <p:spPr>
          <a:xfrm>
            <a:off x="473413" y="489015"/>
            <a:ext cx="1020509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root-Lorentzian envelope plus π-phase inversion creates an echo-like spectroscopy pulse</a:t>
            </a:r>
            <a:endParaRPr lang="en-US" sz="3200" dirty="0"/>
          </a:p>
          <a:p>
            <a:pPr marL="0" algn="l" defTabSz="914400" rtl="0" eaLnBrk="1" latinLnBrk="0" hangingPunct="1"/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64610-C108-8C10-F1AF-F2E502DEAF34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E283C-4BA6-0664-1EB6-C16200145B6A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068410-7F79-97E7-D42F-68784F3ABACE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254D8752-D8FB-06B4-5138-393DF6E3C3FC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33330455-5D84-7979-7771-84C56D326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" name="Shape 5">
            <a:extLst>
              <a:ext uri="{FF2B5EF4-FFF2-40B4-BE49-F238E27FC236}">
                <a16:creationId xmlns:a16="http://schemas.microsoft.com/office/drawing/2014/main" id="{2DD10079-6EEA-B2EF-420F-C7E201FBE5A5}"/>
              </a:ext>
            </a:extLst>
          </p:cNvPr>
          <p:cNvSpPr/>
          <p:nvPr/>
        </p:nvSpPr>
        <p:spPr>
          <a:xfrm>
            <a:off x="876278" y="1809750"/>
            <a:ext cx="4095648" cy="295275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FAB64BE9-1548-DDEF-0298-66671884DA84}"/>
              </a:ext>
            </a:extLst>
          </p:cNvPr>
          <p:cNvSpPr/>
          <p:nvPr/>
        </p:nvSpPr>
        <p:spPr>
          <a:xfrm>
            <a:off x="1152496" y="2085975"/>
            <a:ext cx="354321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envelope</a:t>
            </a:r>
            <a:endParaRPr lang="en-US" sz="165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0FDB8F9C-1B7F-5788-0210-586456413F88}"/>
              </a:ext>
            </a:extLst>
          </p:cNvPr>
          <p:cNvSpPr/>
          <p:nvPr/>
        </p:nvSpPr>
        <p:spPr>
          <a:xfrm>
            <a:off x="1152496" y="2343150"/>
            <a:ext cx="35432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L⁽ⁿ⁾(t) = 1 / [1 + (t/τ)²]ⁿ</a:t>
            </a:r>
            <a:endParaRPr lang="en-US" sz="1875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E75DD4BD-0CCE-EF25-6F28-BAA31FE70F08}"/>
              </a:ext>
            </a:extLst>
          </p:cNvPr>
          <p:cNvSpPr/>
          <p:nvPr/>
        </p:nvSpPr>
        <p:spPr>
          <a:xfrm>
            <a:off x="1152496" y="2705100"/>
            <a:ext cx="35432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Lᵉᶜʰᵒ₁/₂(t) := L₁/₂(t) · sgn(t)</a:t>
            </a:r>
            <a:endParaRPr lang="en-US" sz="1875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5D9B2239-313D-C8B9-6192-9AA3ACAD7957}"/>
              </a:ext>
            </a:extLst>
          </p:cNvPr>
          <p:cNvSpPr/>
          <p:nvPr/>
        </p:nvSpPr>
        <p:spPr>
          <a:xfrm>
            <a:off x="1152496" y="3067050"/>
            <a:ext cx="35432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τ sets duration; n controls sharpness; the sign change gives echo-like symmetry.</a:t>
            </a:r>
            <a:endParaRPr lang="en-US" sz="12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61DDB211-0BA7-A3A7-6F3D-8E261FEACBB3}"/>
              </a:ext>
            </a:extLst>
          </p:cNvPr>
          <p:cNvSpPr/>
          <p:nvPr/>
        </p:nvSpPr>
        <p:spPr>
          <a:xfrm>
            <a:off x="5619610" y="1952625"/>
            <a:ext cx="1523962" cy="106680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28B1631-79C4-6243-5220-EA99EFBA757A}"/>
              </a:ext>
            </a:extLst>
          </p:cNvPr>
          <p:cNvSpPr/>
          <p:nvPr/>
        </p:nvSpPr>
        <p:spPr>
          <a:xfrm>
            <a:off x="5772006" y="2105025"/>
            <a:ext cx="12191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Adiabatic shaping</a:t>
            </a:r>
            <a:endParaRPr lang="en-US" sz="135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3FB3E44D-BCD2-EA83-20A1-BBBF7D739B17}"/>
              </a:ext>
            </a:extLst>
          </p:cNvPr>
          <p:cNvSpPr/>
          <p:nvPr/>
        </p:nvSpPr>
        <p:spPr>
          <a:xfrm>
            <a:off x="5772006" y="24860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Lorentzian-derived pulse narrows the response.</a:t>
            </a:r>
            <a:endParaRPr lang="en-US" sz="975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1AEFEDEB-D1E4-24D9-2BC0-CD7A3DE23895}"/>
              </a:ext>
            </a:extLst>
          </p:cNvPr>
          <p:cNvSpPr/>
          <p:nvPr/>
        </p:nvSpPr>
        <p:spPr>
          <a:xfrm>
            <a:off x="7181670" y="2457450"/>
            <a:ext cx="419090" cy="38100"/>
          </a:xfrm>
          <a:prstGeom prst="rect">
            <a:avLst/>
          </a:prstGeom>
          <a:solidFill>
            <a:srgbClr val="13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8F9C420-8EB1-8824-A3C6-E00880FEDF48}"/>
              </a:ext>
            </a:extLst>
          </p:cNvPr>
          <p:cNvSpPr/>
          <p:nvPr/>
        </p:nvSpPr>
        <p:spPr>
          <a:xfrm>
            <a:off x="7638859" y="1952625"/>
            <a:ext cx="1523962" cy="1066800"/>
          </a:xfrm>
          <a:prstGeom prst="rect">
            <a:avLst/>
          </a:prstGeom>
          <a:solidFill>
            <a:srgbClr val="F7FAFC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7AED2D47-FB4A-FB86-0CCF-6AEEAB90BA4D}"/>
              </a:ext>
            </a:extLst>
          </p:cNvPr>
          <p:cNvSpPr/>
          <p:nvPr/>
        </p:nvSpPr>
        <p:spPr>
          <a:xfrm>
            <a:off x="7791255" y="2105025"/>
            <a:ext cx="121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 inversion</a:t>
            </a:r>
            <a:endParaRPr lang="en-US" sz="13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8A25D4-87F3-BB15-CDDE-D91D014DE226}"/>
              </a:ext>
            </a:extLst>
          </p:cNvPr>
          <p:cNvSpPr/>
          <p:nvPr/>
        </p:nvSpPr>
        <p:spPr>
          <a:xfrm>
            <a:off x="7791255" y="22955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pulse changes phase at peak amplitude.</a:t>
            </a:r>
            <a:endParaRPr lang="en-US" sz="975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26C06B5-2C5D-F820-AC60-93A692D61576}"/>
              </a:ext>
            </a:extLst>
          </p:cNvPr>
          <p:cNvSpPr/>
          <p:nvPr/>
        </p:nvSpPr>
        <p:spPr>
          <a:xfrm>
            <a:off x="9200920" y="2457450"/>
            <a:ext cx="419090" cy="38100"/>
          </a:xfrm>
          <a:prstGeom prst="rect">
            <a:avLst/>
          </a:prstGeom>
          <a:solidFill>
            <a:srgbClr val="13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45FB2A4-413B-F476-1C22-2903EAC97F04}"/>
              </a:ext>
            </a:extLst>
          </p:cNvPr>
          <p:cNvSpPr/>
          <p:nvPr/>
        </p:nvSpPr>
        <p:spPr>
          <a:xfrm>
            <a:off x="9658109" y="1952625"/>
            <a:ext cx="1523962" cy="1066800"/>
          </a:xfrm>
          <a:prstGeom prst="rect">
            <a:avLst/>
          </a:prstGeom>
          <a:solidFill>
            <a:srgbClr val="0B1F33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5A38195-0EF6-CFEC-DB79-191C777C8EB8}"/>
              </a:ext>
            </a:extLst>
          </p:cNvPr>
          <p:cNvSpPr/>
          <p:nvPr/>
        </p:nvSpPr>
        <p:spPr>
          <a:xfrm>
            <a:off x="9810505" y="2105025"/>
            <a:ext cx="121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Echo dip</a:t>
            </a:r>
            <a:endParaRPr lang="en-US" sz="13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AC656A-BA3D-BCCB-B6E3-020EC3BC7197}"/>
              </a:ext>
            </a:extLst>
          </p:cNvPr>
          <p:cNvSpPr/>
          <p:nvPr/>
        </p:nvSpPr>
        <p:spPr>
          <a:xfrm>
            <a:off x="9810505" y="2295525"/>
            <a:ext cx="12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BFD5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Resonant excitation cancels; detuned response remains.</a:t>
            </a:r>
            <a:endParaRPr lang="en-US" sz="975" dirty="0"/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AEEFABA0-DB96-2705-64CB-08B1E593072E}"/>
              </a:ext>
            </a:extLst>
          </p:cNvPr>
          <p:cNvSpPr/>
          <p:nvPr/>
        </p:nvSpPr>
        <p:spPr>
          <a:xfrm>
            <a:off x="5619610" y="4686300"/>
            <a:ext cx="5571986" cy="742950"/>
          </a:xfrm>
          <a:prstGeom prst="rect">
            <a:avLst/>
          </a:prstGeom>
          <a:solidFill>
            <a:srgbClr val="EEF9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48050499-488B-1CFE-D436-B59013386028}"/>
              </a:ext>
            </a:extLst>
          </p:cNvPr>
          <p:cNvSpPr/>
          <p:nvPr/>
        </p:nvSpPr>
        <p:spPr>
          <a:xfrm>
            <a:off x="5848204" y="4838700"/>
            <a:ext cx="51719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Mechanism: suppress on-resonant Rabi oscillations while preserving a sharp spectral feature for frequency extraction.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8128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7E612-2BD0-3C7F-9D36-2F973D09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EDBBDB0E-4AB1-7F0A-0C37-D5C52077D3A2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b="1" dirty="0"/>
              <a:t>Three order of magnitude robustness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B8EDD-D95B-73C2-EBB9-76DACE971997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90327-8295-DADE-F41B-7EC876D8E032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7A63A6-B3C9-BDD1-85E2-CB30096BF1F2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91AA4345-92A7-8849-C553-09F047BE0D89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BC94CB65-5114-0566-FC8E-36CC524B4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303B1321-AAB1-3B7D-3B0D-AFCB3E4B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13" y="2413331"/>
            <a:ext cx="10345064" cy="3501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D4F73-B46C-F07F-9551-D3AE565CEF37}"/>
              </a:ext>
            </a:extLst>
          </p:cNvPr>
          <p:cNvSpPr txBox="1"/>
          <p:nvPr/>
        </p:nvSpPr>
        <p:spPr>
          <a:xfrm>
            <a:off x="907915" y="1385522"/>
            <a:ext cx="32229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dirty="0"/>
              <a:t>Suppresses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coherent oscillations</a:t>
            </a:r>
          </a:p>
          <a:p>
            <a:pPr algn="l" rtl="0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Amplitude robustness 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algn="l" defTabSz="914400" rtl="0" eaLnBrk="1" latinLnBrk="0" hangingPunct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4114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DF46-8AE7-3627-EC84-BEBE851E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B88A-DCF1-C15E-FDDA-51C636BA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pic>
        <p:nvPicPr>
          <p:cNvPr id="4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AF39FDB-07AF-CA38-4C3D-510DFF37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957" y="1928876"/>
            <a:ext cx="5172532" cy="4563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76C202-3B93-8D1A-76D9-B6D1F21C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489" y="2618650"/>
            <a:ext cx="1128077" cy="276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2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96747-C385-B49F-BF0C-ADAC4CEAD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DA19B70-58D5-2DB6-E0AC-922BFD9B044C}"/>
              </a:ext>
            </a:extLst>
          </p:cNvPr>
          <p:cNvSpPr txBox="1"/>
          <p:nvPr/>
        </p:nvSpPr>
        <p:spPr>
          <a:xfrm>
            <a:off x="473413" y="489015"/>
            <a:ext cx="10205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dirty="0"/>
              <a:t>Adiabatic basis: power narrowing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93B8A-C632-C2CC-6955-827A9D4E1A4F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6D086-2E14-809A-9E8B-0B50C62F2433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340FA-5DB5-FD2D-3594-3B2FBB450F20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88E38C5C-5E3D-A2EB-CA8E-1200AEA01F24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9DC3C744-FA30-9850-AEE9-E52D70D2E5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1C4DB50-45CA-A4A8-ECAF-A8D5BBF27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1880340"/>
            <a:ext cx="108966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92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74FA9-CBA6-7894-671C-31E01EF1F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F2E329DE-E35D-BB9A-6911-3BF1A3317D48}"/>
              </a:ext>
            </a:extLst>
          </p:cNvPr>
          <p:cNvSpPr txBox="1"/>
          <p:nvPr/>
        </p:nvSpPr>
        <p:spPr>
          <a:xfrm>
            <a:off x="473413" y="489015"/>
            <a:ext cx="102050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System: </a:t>
            </a:r>
            <a:r>
              <a:rPr lang="en-US" sz="3000" b="1" dirty="0" err="1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superconducing</a:t>
            </a:r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qubits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6038D-4471-71C8-F2F1-6B89DEC0BE77}"/>
              </a:ext>
            </a:extLst>
          </p:cNvPr>
          <p:cNvSpPr txBox="1"/>
          <p:nvPr/>
        </p:nvSpPr>
        <p:spPr>
          <a:xfrm>
            <a:off x="2668717" y="616085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8559F-05BC-C63F-EF3F-1C744E4C7827}"/>
              </a:ext>
            </a:extLst>
          </p:cNvPr>
          <p:cNvSpPr txBox="1"/>
          <p:nvPr/>
        </p:nvSpPr>
        <p:spPr>
          <a:xfrm>
            <a:off x="288683" y="6277583"/>
            <a:ext cx="18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endParaRPr lang="en-I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283988-992E-5811-83CB-6D6C94B4B438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16" name="תיבת טקסט 15">
              <a:extLst>
                <a:ext uri="{FF2B5EF4-FFF2-40B4-BE49-F238E27FC236}">
                  <a16:creationId xmlns:a16="http://schemas.microsoft.com/office/drawing/2014/main" id="{9C3F5969-217A-0117-8576-8E234F2F5CA2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7" name="מחבר ישר 16">
              <a:extLst>
                <a:ext uri="{FF2B5EF4-FFF2-40B4-BE49-F238E27FC236}">
                  <a16:creationId xmlns:a16="http://schemas.microsoft.com/office/drawing/2014/main" id="{28D3F00C-3E00-9389-DD75-9016815415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560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תרשים 1">
            <a:extLst>
              <a:ext uri="{FF2B5EF4-FFF2-40B4-BE49-F238E27FC236}">
                <a16:creationId xmlns:a16="http://schemas.microsoft.com/office/drawing/2014/main" id="{DCD8FD6D-EEB6-6D87-065C-B0E3246651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909882"/>
              </p:ext>
            </p:extLst>
          </p:nvPr>
        </p:nvGraphicFramePr>
        <p:xfrm>
          <a:off x="2403058" y="2242493"/>
          <a:ext cx="4610116" cy="31500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4A76A09-EE0C-2C96-227B-EAA5E5D235D3}"/>
              </a:ext>
            </a:extLst>
          </p:cNvPr>
          <p:cNvSpPr txBox="1"/>
          <p:nvPr/>
        </p:nvSpPr>
        <p:spPr>
          <a:xfrm>
            <a:off x="567987" y="489015"/>
            <a:ext cx="10236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A28A0B0-EC1D-EAEA-43A3-25C41B49C447}"/>
              </a:ext>
            </a:extLst>
          </p:cNvPr>
          <p:cNvSpPr txBox="1"/>
          <p:nvPr/>
        </p:nvSpPr>
        <p:spPr>
          <a:xfrm>
            <a:off x="567987" y="1166123"/>
            <a:ext cx="373812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Historical Development: 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paragraph addresses the history of the subject, meaning its development occurs along a timeline.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תיבת טקסט 15">
            <a:extLst>
              <a:ext uri="{FF2B5EF4-FFF2-40B4-BE49-F238E27FC236}">
                <a16:creationId xmlns:a16="http://schemas.microsoft.com/office/drawing/2014/main" id="{9C2C40BC-FC02-29F6-03BA-69669A52F97A}"/>
              </a:ext>
            </a:extLst>
          </p:cNvPr>
          <p:cNvSpPr txBox="1"/>
          <p:nvPr/>
        </p:nvSpPr>
        <p:spPr>
          <a:xfrm>
            <a:off x="381048" y="6031362"/>
            <a:ext cx="1630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lang="he-IL" sz="10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מחבר ישר 16">
            <a:extLst>
              <a:ext uri="{FF2B5EF4-FFF2-40B4-BE49-F238E27FC236}">
                <a16:creationId xmlns:a16="http://schemas.microsoft.com/office/drawing/2014/main" id="{A9268EDB-B1BA-B643-C938-311C714C3439}"/>
              </a:ext>
            </a:extLst>
          </p:cNvPr>
          <p:cNvCxnSpPr>
            <a:cxnSpLocks/>
          </p:cNvCxnSpPr>
          <p:nvPr/>
        </p:nvCxnSpPr>
        <p:spPr>
          <a:xfrm flipH="1">
            <a:off x="907915" y="6160957"/>
            <a:ext cx="9896272" cy="0"/>
          </a:xfrm>
          <a:prstGeom prst="line">
            <a:avLst/>
          </a:prstGeom>
          <a:ln w="6350" cap="flat" cmpd="sng" algn="ctr">
            <a:solidFill>
              <a:srgbClr val="17798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30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קלט ידני 2">
            <a:extLst>
              <a:ext uri="{FF2B5EF4-FFF2-40B4-BE49-F238E27FC236}">
                <a16:creationId xmlns:a16="http://schemas.microsoft.com/office/drawing/2014/main" id="{12BDAD4A-42CB-0BBD-6B0F-D12FCDAB892D}"/>
              </a:ext>
            </a:extLst>
          </p:cNvPr>
          <p:cNvSpPr/>
          <p:nvPr/>
        </p:nvSpPr>
        <p:spPr>
          <a:xfrm rot="5400000">
            <a:off x="-404761" y="404761"/>
            <a:ext cx="6905522" cy="6096000"/>
          </a:xfrm>
          <a:prstGeom prst="flowChartManualInpu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914400" rtl="1" eaLnBrk="1" latinLnBrk="0" hangingPunct="1"/>
            <a:endParaRPr lang="he-IL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4A76A09-EE0C-2C96-227B-EAA5E5D235D3}"/>
              </a:ext>
            </a:extLst>
          </p:cNvPr>
          <p:cNvSpPr txBox="1"/>
          <p:nvPr/>
        </p:nvSpPr>
        <p:spPr>
          <a:xfrm>
            <a:off x="7709185" y="2659559"/>
            <a:ext cx="162224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DC30C16-B0F3-028C-BE29-1D600E5053BB}"/>
              </a:ext>
            </a:extLst>
          </p:cNvPr>
          <p:cNvSpPr txBox="1"/>
          <p:nvPr/>
        </p:nvSpPr>
        <p:spPr>
          <a:xfrm>
            <a:off x="7709185" y="3429000"/>
            <a:ext cx="419309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consectetur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 Nam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sagittis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efficitur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nunc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sed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placerat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Nulla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rutrum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sagittis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erat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sit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semper. Aenean </a:t>
            </a:r>
            <a:r>
              <a:rPr lang="en-US" sz="1500" dirty="0" err="1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mattis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" name="מחבר ישר 16">
            <a:extLst>
              <a:ext uri="{FF2B5EF4-FFF2-40B4-BE49-F238E27FC236}">
                <a16:creationId xmlns:a16="http://schemas.microsoft.com/office/drawing/2014/main" id="{7E5A1F5C-619E-14C8-0614-75013CF814B5}"/>
              </a:ext>
            </a:extLst>
          </p:cNvPr>
          <p:cNvCxnSpPr>
            <a:cxnSpLocks/>
          </p:cNvCxnSpPr>
          <p:nvPr/>
        </p:nvCxnSpPr>
        <p:spPr>
          <a:xfrm flipH="1">
            <a:off x="6029883" y="6175395"/>
            <a:ext cx="4923462" cy="0"/>
          </a:xfrm>
          <a:prstGeom prst="line">
            <a:avLst/>
          </a:prstGeom>
          <a:ln w="6350" cap="flat" cmpd="sng" algn="ctr">
            <a:solidFill>
              <a:srgbClr val="17798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18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89C96C7-511F-A5EA-1A52-2A0767B9772E}"/>
              </a:ext>
            </a:extLst>
          </p:cNvPr>
          <p:cNvSpPr txBox="1"/>
          <p:nvPr/>
        </p:nvSpPr>
        <p:spPr>
          <a:xfrm>
            <a:off x="746419" y="2552995"/>
            <a:ext cx="33856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Support Paragraph: 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paragraph begins with a specific claim, followed by sentences that elaborate on and prove this claim.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50DF1F5-3EF9-8D86-8839-DA3C524C7124}"/>
              </a:ext>
            </a:extLst>
          </p:cNvPr>
          <p:cNvSpPr txBox="1"/>
          <p:nvPr/>
        </p:nvSpPr>
        <p:spPr>
          <a:xfrm>
            <a:off x="763955" y="1810267"/>
            <a:ext cx="10117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he-IL" sz="30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4B6A3090-BA6D-FCBF-9931-446465CEEB83}"/>
              </a:ext>
            </a:extLst>
          </p:cNvPr>
          <p:cNvSpPr txBox="1"/>
          <p:nvPr/>
        </p:nvSpPr>
        <p:spPr>
          <a:xfrm>
            <a:off x="0" y="65867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3000" b="1" dirty="0" err="1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3000" b="1" dirty="0" err="1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itle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תיבת טקסט 2">
            <a:extLst>
              <a:ext uri="{FF2B5EF4-FFF2-40B4-BE49-F238E27FC236}">
                <a16:creationId xmlns:a16="http://schemas.microsoft.com/office/drawing/2014/main" id="{8E13796F-ED3C-3186-16AF-E5394A6520FC}"/>
              </a:ext>
            </a:extLst>
          </p:cNvPr>
          <p:cNvSpPr txBox="1"/>
          <p:nvPr/>
        </p:nvSpPr>
        <p:spPr>
          <a:xfrm>
            <a:off x="4676394" y="2552995"/>
            <a:ext cx="338567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Descriptive Paragraph: This paragraph provides a description of a concept, object, legal article, or similar subject.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תיבת טקסט 3">
            <a:extLst>
              <a:ext uri="{FF2B5EF4-FFF2-40B4-BE49-F238E27FC236}">
                <a16:creationId xmlns:a16="http://schemas.microsoft.com/office/drawing/2014/main" id="{4CAE4719-D25B-BFD5-3C5E-9423E1E747BC}"/>
              </a:ext>
            </a:extLst>
          </p:cNvPr>
          <p:cNvSpPr txBox="1"/>
          <p:nvPr/>
        </p:nvSpPr>
        <p:spPr>
          <a:xfrm>
            <a:off x="4693930" y="1810267"/>
            <a:ext cx="10117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endParaRPr lang="he-IL" sz="30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תיבת טקסט 2">
            <a:extLst>
              <a:ext uri="{FF2B5EF4-FFF2-40B4-BE49-F238E27FC236}">
                <a16:creationId xmlns:a16="http://schemas.microsoft.com/office/drawing/2014/main" id="{8C4CDD65-F675-228D-F667-214A98E2B86C}"/>
              </a:ext>
            </a:extLst>
          </p:cNvPr>
          <p:cNvSpPr txBox="1"/>
          <p:nvPr/>
        </p:nvSpPr>
        <p:spPr>
          <a:xfrm>
            <a:off x="8333994" y="2552995"/>
            <a:ext cx="33856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Support Paragraph: </a:t>
            </a:r>
            <a:r>
              <a:rPr lang="en-US" sz="15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paragraph begins with a specific claim, followed by sentences that elaborate on and prove this claim.</a:t>
            </a:r>
            <a:endParaRPr lang="he-IL" sz="15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תיבת טקסט 3">
            <a:extLst>
              <a:ext uri="{FF2B5EF4-FFF2-40B4-BE49-F238E27FC236}">
                <a16:creationId xmlns:a16="http://schemas.microsoft.com/office/drawing/2014/main" id="{FE8CFB5D-584A-B2D9-3C6E-0A2C835E91C8}"/>
              </a:ext>
            </a:extLst>
          </p:cNvPr>
          <p:cNvSpPr txBox="1"/>
          <p:nvPr/>
        </p:nvSpPr>
        <p:spPr>
          <a:xfrm>
            <a:off x="8351530" y="1810267"/>
            <a:ext cx="10117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he-IL" sz="30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תיבת טקסט 15">
            <a:extLst>
              <a:ext uri="{FF2B5EF4-FFF2-40B4-BE49-F238E27FC236}">
                <a16:creationId xmlns:a16="http://schemas.microsoft.com/office/drawing/2014/main" id="{36810C6A-7664-3A55-9ABA-4BD12A1EA5E0}"/>
              </a:ext>
            </a:extLst>
          </p:cNvPr>
          <p:cNvSpPr txBox="1"/>
          <p:nvPr/>
        </p:nvSpPr>
        <p:spPr>
          <a:xfrm>
            <a:off x="381048" y="6031362"/>
            <a:ext cx="16300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Title</a:t>
            </a:r>
            <a:endParaRPr lang="he-IL" sz="1000" dirty="0">
              <a:solidFill>
                <a:srgbClr val="177987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" name="מחבר ישר 16">
            <a:extLst>
              <a:ext uri="{FF2B5EF4-FFF2-40B4-BE49-F238E27FC236}">
                <a16:creationId xmlns:a16="http://schemas.microsoft.com/office/drawing/2014/main" id="{01886633-B821-2DE7-712E-AFEAB64861C6}"/>
              </a:ext>
            </a:extLst>
          </p:cNvPr>
          <p:cNvCxnSpPr>
            <a:cxnSpLocks/>
          </p:cNvCxnSpPr>
          <p:nvPr/>
        </p:nvCxnSpPr>
        <p:spPr>
          <a:xfrm flipH="1">
            <a:off x="907915" y="6160957"/>
            <a:ext cx="9896272" cy="0"/>
          </a:xfrm>
          <a:prstGeom prst="line">
            <a:avLst/>
          </a:prstGeom>
          <a:ln w="6350" cap="flat" cmpd="sng" algn="ctr">
            <a:solidFill>
              <a:srgbClr val="17798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9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תרשים 1">
            <a:extLst>
              <a:ext uri="{FF2B5EF4-FFF2-40B4-BE49-F238E27FC236}">
                <a16:creationId xmlns:a16="http://schemas.microsoft.com/office/drawing/2014/main" id="{DCD8FD6D-EEB6-6D87-065C-B0E3246651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2293813"/>
              </p:ext>
            </p:extLst>
          </p:nvPr>
        </p:nvGraphicFramePr>
        <p:xfrm>
          <a:off x="3280052" y="1559771"/>
          <a:ext cx="5980681" cy="40865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4A76A09-EE0C-2C96-227B-EAA5E5D235D3}"/>
              </a:ext>
            </a:extLst>
          </p:cNvPr>
          <p:cNvSpPr txBox="1"/>
          <p:nvPr/>
        </p:nvSpPr>
        <p:spPr>
          <a:xfrm>
            <a:off x="1557743" y="529334"/>
            <a:ext cx="10236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>
                <a:solidFill>
                  <a:srgbClr val="17798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</a:t>
            </a:r>
            <a:endParaRPr lang="he-IL" sz="3000" b="1" dirty="0">
              <a:solidFill>
                <a:srgbClr val="17798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ED9C2B-44F4-D304-3E4A-19AA6887FEBC}"/>
              </a:ext>
            </a:extLst>
          </p:cNvPr>
          <p:cNvGrpSpPr/>
          <p:nvPr/>
        </p:nvGrpSpPr>
        <p:grpSpPr>
          <a:xfrm>
            <a:off x="381048" y="6031362"/>
            <a:ext cx="10423139" cy="246221"/>
            <a:chOff x="-85879" y="5989209"/>
            <a:chExt cx="10423139" cy="246221"/>
          </a:xfrm>
        </p:grpSpPr>
        <p:sp>
          <p:nvSpPr>
            <p:cNvPr id="8" name="תיבת טקסט 15">
              <a:extLst>
                <a:ext uri="{FF2B5EF4-FFF2-40B4-BE49-F238E27FC236}">
                  <a16:creationId xmlns:a16="http://schemas.microsoft.com/office/drawing/2014/main" id="{EA92F450-EA82-57F5-B4F9-0A976D0E4CD7}"/>
                </a:ext>
              </a:extLst>
            </p:cNvPr>
            <p:cNvSpPr txBox="1"/>
            <p:nvPr/>
          </p:nvSpPr>
          <p:spPr>
            <a:xfrm>
              <a:off x="-85879" y="5989209"/>
              <a:ext cx="16300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000" dirty="0">
                  <a:solidFill>
                    <a:srgbClr val="177987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Title</a:t>
              </a:r>
              <a:endParaRPr lang="he-IL" sz="1000" dirty="0">
                <a:solidFill>
                  <a:srgbClr val="177987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9" name="מחבר ישר 16">
              <a:extLst>
                <a:ext uri="{FF2B5EF4-FFF2-40B4-BE49-F238E27FC236}">
                  <a16:creationId xmlns:a16="http://schemas.microsoft.com/office/drawing/2014/main" id="{034D9D90-AB20-0893-FAA3-5E84573BD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988" y="6118804"/>
              <a:ext cx="9896272" cy="0"/>
            </a:xfrm>
            <a:prstGeom prst="line">
              <a:avLst/>
            </a:prstGeom>
            <a:ln w="6350" cap="flat" cmpd="sng" algn="ctr">
              <a:solidFill>
                <a:srgbClr val="17798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1365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מותאם אישית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325B"/>
      </a:accent1>
      <a:accent2>
        <a:srgbClr val="50A781"/>
      </a:accent2>
      <a:accent3>
        <a:srgbClr val="D8AF5C"/>
      </a:accent3>
      <a:accent4>
        <a:srgbClr val="2B819B"/>
      </a:accent4>
      <a:accent5>
        <a:srgbClr val="83151E"/>
      </a:accent5>
      <a:accent6>
        <a:srgbClr val="873B70"/>
      </a:accent6>
      <a:hlink>
        <a:srgbClr val="50A781"/>
      </a:hlink>
      <a:folHlink>
        <a:srgbClr val="75325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{83CDC9D4-0014-B14D-ADB7-C2D46441B754}tf10001123</Template>
  <TotalTime>1006</TotalTime>
  <Words>307</Words>
  <Application>Microsoft Macintosh PowerPoint</Application>
  <PresentationFormat>Widescreen</PresentationFormat>
  <Paragraphs>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Cambria Math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מוריה-יעל בשן (סטודנט)</dc:creator>
  <cp:lastModifiedBy>Asaf Solonnikov</cp:lastModifiedBy>
  <cp:revision>26</cp:revision>
  <dcterms:created xsi:type="dcterms:W3CDTF">2023-06-12T09:25:50Z</dcterms:created>
  <dcterms:modified xsi:type="dcterms:W3CDTF">2026-06-08T16:23:41Z</dcterms:modified>
</cp:coreProperties>
</file>