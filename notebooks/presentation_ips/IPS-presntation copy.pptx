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70" r:id="rId4"/>
    <p:sldId id="273" r:id="rId5"/>
    <p:sldId id="274" r:id="rId6"/>
    <p:sldId id="271" r:id="rId7"/>
    <p:sldId id="272" r:id="rId8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6743" userDrawn="1">
          <p15:clr>
            <a:srgbClr val="A4A3A4"/>
          </p15:clr>
        </p15:guide>
        <p15:guide id="3" pos="6176" userDrawn="1">
          <p15:clr>
            <a:srgbClr val="A4A3A4"/>
          </p15:clr>
        </p15:guide>
        <p15:guide id="4" orient="horz" pos="1344" userDrawn="1">
          <p15:clr>
            <a:srgbClr val="A4A3A4"/>
          </p15:clr>
        </p15:guide>
        <p15:guide id="5" orient="horz" pos="39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325C"/>
    <a:srgbClr val="1779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6122"/>
  </p:normalViewPr>
  <p:slideViewPr>
    <p:cSldViewPr snapToGrid="0" showGuides="1">
      <p:cViewPr varScale="1">
        <p:scale>
          <a:sx n="121" d="100"/>
          <a:sy n="121" d="100"/>
        </p:scale>
        <p:origin x="1400" y="168"/>
      </p:cViewPr>
      <p:guideLst>
        <p:guide orient="horz" pos="1162"/>
        <p:guide pos="6743"/>
        <p:guide pos="6176"/>
        <p:guide orient="horz" pos="1344"/>
        <p:guide orient="horz" pos="399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441FA12-AFAF-C64F-BCD9-42C98846694D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F5A1688F-B466-7A4C-8F3E-17D2A85EF13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6611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1688F-B466-7A4C-8F3E-17D2A85EF135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3865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7163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68753D6-1B0E-1004-2F2C-1DEEA3891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178F318-3E84-99FC-E8E1-54DF95CD5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BBCD96D-9E02-F4A6-5EBB-54401FD7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23CC80A-DF4A-25ED-C652-6D62CA541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F7D0188-E4DB-F040-83BF-6E84FF95C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37415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53ABFC8-E225-B0C8-EF66-76BF0653B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AFE45A9-6463-D4D9-47B3-7D2AE0490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CAB8D42-B2A2-C09D-83D1-B0DD0048B3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B4D21C5-E032-8C9D-6BCA-6416C0B70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FA036AA-F651-1115-A03E-0C74A888F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4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177778F-3514-8B62-CD47-F54A47902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E6FE0E2-E5C7-DBAA-673C-3F7957093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DE7A7CF-C807-8CDA-C421-368E0DA40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FC7C671-2DC1-750E-61DD-5AD7482DAA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B641068-0AA2-B8DE-E67B-530B7B369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ACC6C3F-383A-6586-2277-C8AD7C70F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5000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1F953DE-F193-43AF-79A7-6A77B55FE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4FFC868-6DED-03B8-666A-8F7535FC0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926E6DB-98CF-C323-3A7E-1E1D27EF6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889C3B0A-F270-860C-796C-CFECE2AB18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BD0D40C7-54A8-0632-E7D2-3B5F7206F8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53E8ADAF-FC55-143F-E726-A508EDC4D8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72F84F34-106D-1D89-1D71-157CD9054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9BD0B4A-261E-E4D8-3943-46BBED97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7905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3D988DE-7DCD-91DF-554B-BBF31C8BF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AF5A715-B5C6-C5FE-003E-A56D97C9B8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6255737-166D-5D1A-E241-95FA34A7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BF190F3-17A6-C4FD-3EF2-D57350549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6074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E4EB8F73-41E4-D908-A69B-56115AFB55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D4CAB73B-37DB-CEAE-8F67-35CFB2CF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B20946A-4C47-F763-8604-8BEA2743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07727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85F59A-ED93-2690-7261-9EDAE908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AB72F4E-0555-8D47-CE47-C7130DAE3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3A6A26C-8EA5-DE17-D755-B66869AC9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F2158F9-8361-BEA8-8E32-268BA03387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3F28B89-BE54-D19C-0394-E389DF7E6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BE51B01-3E4E-6150-A275-F17014A3F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94689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103815F-D255-FD10-42EA-7FB863927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71DE86FC-CCB1-E112-F0BB-83EACB155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4C0D41D-F975-905A-56D2-46593B887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4FA7CC0-DF5F-F8E0-0164-DDD3F5520B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CBEB0EB-12C9-E699-D627-6B07FA56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F8D0CEB-FCC8-D5E6-E2CC-BF63508C6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55016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61D7769-F31C-ECFE-C7B2-94BB6353B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D8D90E4-0EB0-F2E3-7FAE-3DB7F3E52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1508503-ACBA-389D-9BBE-2643E6C83B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5FC6617-3F90-863F-9275-57ADA200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B4124FC-9994-2D63-1093-E8EF16D9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70090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EBD873D3-05FC-5DF0-43AF-37D7836618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CFA436F-3157-7C1A-E45A-2B6D30B03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67C9AC3-2B25-6F67-C6F0-8F7DE72F00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E9EE2E3-6B1B-D5AC-9B62-84D70F51A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A2251D9-210E-31DA-5D59-10E6113BA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87313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089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6">
            <a:extLst>
              <a:ext uri="{FF2B5EF4-FFF2-40B4-BE49-F238E27FC236}">
                <a16:creationId xmlns:a16="http://schemas.microsoft.com/office/drawing/2014/main" id="{D3897F28-82C4-700E-3A6B-72FDBE1E7469}"/>
              </a:ext>
            </a:extLst>
          </p:cNvPr>
          <p:cNvSpPr txBox="1"/>
          <p:nvPr/>
        </p:nvSpPr>
        <p:spPr>
          <a:xfrm>
            <a:off x="0" y="2099504"/>
            <a:ext cx="121920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3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Amplitude-robust qubit spectroscopy</a:t>
            </a:r>
            <a:endParaRPr lang="en-US" sz="3200" dirty="0"/>
          </a:p>
          <a:p>
            <a:pPr marL="0" algn="ctr" defTabSz="914400" rtl="0" eaLnBrk="1" latinLnBrk="0" hangingPunct="1"/>
            <a:endParaRPr lang="he-IL" sz="3000" b="1" dirty="0">
              <a:solidFill>
                <a:srgbClr val="1779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תיבת טקסט 7">
            <a:extLst>
              <a:ext uri="{FF2B5EF4-FFF2-40B4-BE49-F238E27FC236}">
                <a16:creationId xmlns:a16="http://schemas.microsoft.com/office/drawing/2014/main" id="{3957DA1D-1993-9CEC-E7D0-9AFA177F4D36}"/>
              </a:ext>
            </a:extLst>
          </p:cNvPr>
          <p:cNvSpPr txBox="1"/>
          <p:nvPr/>
        </p:nvSpPr>
        <p:spPr>
          <a:xfrm>
            <a:off x="1466193" y="2896449"/>
            <a:ext cx="9259614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16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Echo-root-Lorentzian pulse shapes preserve T2-limited frequency resolution while tolerating much stronger drive amplitudes.</a:t>
            </a:r>
          </a:p>
          <a:p>
            <a:pPr algn="ctr" rtl="0"/>
            <a:endParaRPr lang="en-US" sz="1600" dirty="0">
              <a:solidFill>
                <a:srgbClr val="475467"/>
              </a:solidFill>
              <a:latin typeface="Aptos" pitchFamily="34" charset="0"/>
            </a:endParaRPr>
          </a:p>
          <a:p>
            <a:pPr algn="ctr" rtl="0"/>
            <a:endParaRPr lang="en-US" sz="1600" dirty="0"/>
          </a:p>
          <a:p>
            <a:pPr algn="ctr" rtl="0"/>
            <a: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Asaf Solonnikov | Nadav Katz</a:t>
            </a:r>
            <a:b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b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6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Racah Institute of Physics, Hebrew University of Jerusalem · Jun 8, 2026</a:t>
            </a:r>
            <a:endParaRPr lang="en-US" sz="1600" dirty="0"/>
          </a:p>
          <a:p>
            <a:pPr algn="ctr" rtl="0"/>
            <a: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	</a:t>
            </a:r>
            <a:endParaRPr lang="he-IL" sz="1500" dirty="0">
              <a:solidFill>
                <a:srgbClr val="177987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E78D37C-003A-46A5-1213-DB1797F56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344" y="5238476"/>
            <a:ext cx="1996535" cy="682452"/>
          </a:xfrm>
          <a:prstGeom prst="rect">
            <a:avLst/>
          </a:prstGeom>
        </p:spPr>
      </p:pic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EDAA9CB-7A26-38E4-DB13-4087FD12B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5456" y="5278853"/>
            <a:ext cx="1918200" cy="64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632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C4A76A09-EE0C-2C96-227B-EAA5E5D235D3}"/>
              </a:ext>
            </a:extLst>
          </p:cNvPr>
          <p:cNvSpPr txBox="1"/>
          <p:nvPr/>
        </p:nvSpPr>
        <p:spPr>
          <a:xfrm>
            <a:off x="473413" y="489015"/>
            <a:ext cx="1020509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3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calibration needs resolution without fragile low-amplitude scans</a:t>
            </a:r>
            <a:endParaRPr lang="en-US" sz="3200" dirty="0"/>
          </a:p>
          <a:p>
            <a:pPr marL="0" algn="l" defTabSz="914400" rtl="0" eaLnBrk="1" latinLnBrk="0" hangingPunct="1"/>
            <a:endParaRPr lang="he-IL" sz="3000" b="1" dirty="0">
              <a:solidFill>
                <a:srgbClr val="1779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C55DE8-4E25-83E1-6DC9-6D87D6B066EC}"/>
              </a:ext>
            </a:extLst>
          </p:cNvPr>
          <p:cNvSpPr txBox="1"/>
          <p:nvPr/>
        </p:nvSpPr>
        <p:spPr>
          <a:xfrm>
            <a:off x="2668717" y="616085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613A1A-3C7F-6DB3-062C-9D54D94CF2E2}"/>
              </a:ext>
            </a:extLst>
          </p:cNvPr>
          <p:cNvSpPr txBox="1"/>
          <p:nvPr/>
        </p:nvSpPr>
        <p:spPr>
          <a:xfrm>
            <a:off x="288683" y="6277583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endParaRPr lang="en-IL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16518-0E7C-8C27-5ADC-E547D9AB8251}"/>
              </a:ext>
            </a:extLst>
          </p:cNvPr>
          <p:cNvGrpSpPr/>
          <p:nvPr/>
        </p:nvGrpSpPr>
        <p:grpSpPr>
          <a:xfrm>
            <a:off x="381048" y="6031362"/>
            <a:ext cx="10423139" cy="246221"/>
            <a:chOff x="-85879" y="5989209"/>
            <a:chExt cx="10423139" cy="246221"/>
          </a:xfrm>
        </p:grpSpPr>
        <p:sp>
          <p:nvSpPr>
            <p:cNvPr id="16" name="תיבת טקסט 15">
              <a:extLst>
                <a:ext uri="{FF2B5EF4-FFF2-40B4-BE49-F238E27FC236}">
                  <a16:creationId xmlns:a16="http://schemas.microsoft.com/office/drawing/2014/main" id="{B12AC3B7-A74A-6BE4-5705-FC8639768D84}"/>
                </a:ext>
              </a:extLst>
            </p:cNvPr>
            <p:cNvSpPr txBox="1"/>
            <p:nvPr/>
          </p:nvSpPr>
          <p:spPr>
            <a:xfrm>
              <a:off x="-85879" y="5989209"/>
              <a:ext cx="16300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dirty="0">
                  <a:solidFill>
                    <a:srgbClr val="177987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Title</a:t>
              </a:r>
              <a:endParaRPr lang="he-IL" sz="10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7" name="מחבר ישר 16">
              <a:extLst>
                <a:ext uri="{FF2B5EF4-FFF2-40B4-BE49-F238E27FC236}">
                  <a16:creationId xmlns:a16="http://schemas.microsoft.com/office/drawing/2014/main" id="{D68B49D6-F91A-E824-7521-F13965D4D5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988" y="6118804"/>
              <a:ext cx="9896272" cy="0"/>
            </a:xfrm>
            <a:prstGeom prst="line">
              <a:avLst/>
            </a:prstGeom>
            <a:ln w="6350" cap="flat" cmpd="sng" algn="ctr">
              <a:solidFill>
                <a:srgbClr val="17798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2" name="Picture 1" descr="A diagram of a window of interest&#10;&#10;AI-generated content may be incorrect.">
            <a:extLst>
              <a:ext uri="{FF2B5EF4-FFF2-40B4-BE49-F238E27FC236}">
                <a16:creationId xmlns:a16="http://schemas.microsoft.com/office/drawing/2014/main" id="{CAE371B2-EEA2-3DFF-8296-06D4D90FA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240" y="2850845"/>
            <a:ext cx="5839519" cy="235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964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23AF63-D277-AC0B-3C1F-DE75C7431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3A608154-2799-BA4E-C845-6EBDA62F80F3}"/>
              </a:ext>
            </a:extLst>
          </p:cNvPr>
          <p:cNvSpPr txBox="1"/>
          <p:nvPr/>
        </p:nvSpPr>
        <p:spPr>
          <a:xfrm>
            <a:off x="473413" y="489015"/>
            <a:ext cx="1020509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root-Lorentzian envelope plus π-phase inversion creates an echo-like spectroscopy pulse</a:t>
            </a:r>
            <a:endParaRPr lang="en-US" sz="3200" dirty="0"/>
          </a:p>
          <a:p>
            <a:pPr marL="0" algn="l" defTabSz="914400" rtl="0" eaLnBrk="1" latinLnBrk="0" hangingPunct="1"/>
            <a:endParaRPr lang="he-IL" sz="3000" b="1" dirty="0">
              <a:solidFill>
                <a:srgbClr val="1779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964610-C108-8C10-F1AF-F2E502DEAF34}"/>
              </a:ext>
            </a:extLst>
          </p:cNvPr>
          <p:cNvSpPr txBox="1"/>
          <p:nvPr/>
        </p:nvSpPr>
        <p:spPr>
          <a:xfrm>
            <a:off x="2668717" y="616085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6E283C-4BA6-0664-1EB6-C16200145B6A}"/>
              </a:ext>
            </a:extLst>
          </p:cNvPr>
          <p:cNvSpPr txBox="1"/>
          <p:nvPr/>
        </p:nvSpPr>
        <p:spPr>
          <a:xfrm>
            <a:off x="288683" y="6277583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endParaRPr lang="en-IL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A068410-7F79-97E7-D42F-68784F3ABACE}"/>
              </a:ext>
            </a:extLst>
          </p:cNvPr>
          <p:cNvGrpSpPr/>
          <p:nvPr/>
        </p:nvGrpSpPr>
        <p:grpSpPr>
          <a:xfrm>
            <a:off x="381048" y="6031362"/>
            <a:ext cx="10423139" cy="246221"/>
            <a:chOff x="-85879" y="5989209"/>
            <a:chExt cx="10423139" cy="246221"/>
          </a:xfrm>
        </p:grpSpPr>
        <p:sp>
          <p:nvSpPr>
            <p:cNvPr id="16" name="תיבת טקסט 15">
              <a:extLst>
                <a:ext uri="{FF2B5EF4-FFF2-40B4-BE49-F238E27FC236}">
                  <a16:creationId xmlns:a16="http://schemas.microsoft.com/office/drawing/2014/main" id="{254D8752-D8FB-06B4-5138-393DF6E3C3FC}"/>
                </a:ext>
              </a:extLst>
            </p:cNvPr>
            <p:cNvSpPr txBox="1"/>
            <p:nvPr/>
          </p:nvSpPr>
          <p:spPr>
            <a:xfrm>
              <a:off x="-85879" y="5989209"/>
              <a:ext cx="16300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dirty="0">
                  <a:solidFill>
                    <a:srgbClr val="177987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Title</a:t>
              </a:r>
              <a:endParaRPr lang="he-IL" sz="10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7" name="מחבר ישר 16">
              <a:extLst>
                <a:ext uri="{FF2B5EF4-FFF2-40B4-BE49-F238E27FC236}">
                  <a16:creationId xmlns:a16="http://schemas.microsoft.com/office/drawing/2014/main" id="{33330455-5D84-7979-7771-84C56D3260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988" y="6118804"/>
              <a:ext cx="9896272" cy="0"/>
            </a:xfrm>
            <a:prstGeom prst="line">
              <a:avLst/>
            </a:prstGeom>
            <a:ln w="6350" cap="flat" cmpd="sng" algn="ctr">
              <a:solidFill>
                <a:srgbClr val="17798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2" name="Shape 5">
            <a:extLst>
              <a:ext uri="{FF2B5EF4-FFF2-40B4-BE49-F238E27FC236}">
                <a16:creationId xmlns:a16="http://schemas.microsoft.com/office/drawing/2014/main" id="{2DD10079-6EEA-B2EF-420F-C7E201FBE5A5}"/>
              </a:ext>
            </a:extLst>
          </p:cNvPr>
          <p:cNvSpPr/>
          <p:nvPr/>
        </p:nvSpPr>
        <p:spPr>
          <a:xfrm>
            <a:off x="876278" y="1809750"/>
            <a:ext cx="4095648" cy="2952750"/>
          </a:xfrm>
          <a:prstGeom prst="rect">
            <a:avLst/>
          </a:prstGeom>
          <a:solidFill>
            <a:srgbClr val="F7FAFC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FAB64BE9-1548-DDEF-0298-66671884DA84}"/>
              </a:ext>
            </a:extLst>
          </p:cNvPr>
          <p:cNvSpPr/>
          <p:nvPr/>
        </p:nvSpPr>
        <p:spPr>
          <a:xfrm>
            <a:off x="1152496" y="2085975"/>
            <a:ext cx="35432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 envelope</a:t>
            </a:r>
            <a:endParaRPr lang="en-US" sz="165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0FDB8F9C-1B7F-5788-0210-586456413F88}"/>
              </a:ext>
            </a:extLst>
          </p:cNvPr>
          <p:cNvSpPr/>
          <p:nvPr/>
        </p:nvSpPr>
        <p:spPr>
          <a:xfrm>
            <a:off x="1152496" y="2343150"/>
            <a:ext cx="354321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L⁽ⁿ⁾(t) = 1 / [1 + (t/τ)²]ⁿ</a:t>
            </a:r>
            <a:endParaRPr lang="en-US" sz="1875" dirty="0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E75DD4BD-0CCE-EF25-6F28-BAA31FE70F08}"/>
              </a:ext>
            </a:extLst>
          </p:cNvPr>
          <p:cNvSpPr/>
          <p:nvPr/>
        </p:nvSpPr>
        <p:spPr>
          <a:xfrm>
            <a:off x="1152496" y="2705100"/>
            <a:ext cx="354321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Lᵉᶜʰᵒ₁/₂(t) := L₁/₂(t) · sgn(t)</a:t>
            </a:r>
            <a:endParaRPr lang="en-US" sz="1875" dirty="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5D9B2239-313D-C8B9-6192-9AA3ACAD7957}"/>
              </a:ext>
            </a:extLst>
          </p:cNvPr>
          <p:cNvSpPr/>
          <p:nvPr/>
        </p:nvSpPr>
        <p:spPr>
          <a:xfrm>
            <a:off x="1152496" y="3067050"/>
            <a:ext cx="35432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τ sets duration; n controls sharpness; the sign change gives echo-like symmetry.</a:t>
            </a:r>
            <a:endParaRPr lang="en-US" sz="1200" dirty="0"/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61DDB211-0BA7-A3A7-6F3D-8E261FEACBB3}"/>
              </a:ext>
            </a:extLst>
          </p:cNvPr>
          <p:cNvSpPr/>
          <p:nvPr/>
        </p:nvSpPr>
        <p:spPr>
          <a:xfrm>
            <a:off x="5619610" y="1952625"/>
            <a:ext cx="1523962" cy="1066800"/>
          </a:xfrm>
          <a:prstGeom prst="rect">
            <a:avLst/>
          </a:prstGeom>
          <a:solidFill>
            <a:srgbClr val="F7FAFC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528B1631-79C4-6243-5220-EA99EFBA757A}"/>
              </a:ext>
            </a:extLst>
          </p:cNvPr>
          <p:cNvSpPr/>
          <p:nvPr/>
        </p:nvSpPr>
        <p:spPr>
          <a:xfrm>
            <a:off x="5772006" y="2105025"/>
            <a:ext cx="12191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Adiabatic shaping</a:t>
            </a:r>
            <a:endParaRPr lang="en-US" sz="135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3FB3E44D-BCD2-EA83-20A1-BBBF7D739B17}"/>
              </a:ext>
            </a:extLst>
          </p:cNvPr>
          <p:cNvSpPr/>
          <p:nvPr/>
        </p:nvSpPr>
        <p:spPr>
          <a:xfrm>
            <a:off x="5772006" y="2486025"/>
            <a:ext cx="1219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Lorentzian-derived pulse narrows the response.</a:t>
            </a:r>
            <a:endParaRPr lang="en-US" sz="975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1AEFEDEB-D1E4-24D9-2BC0-CD7A3DE23895}"/>
              </a:ext>
            </a:extLst>
          </p:cNvPr>
          <p:cNvSpPr/>
          <p:nvPr/>
        </p:nvSpPr>
        <p:spPr>
          <a:xfrm>
            <a:off x="7181670" y="2457450"/>
            <a:ext cx="419090" cy="38100"/>
          </a:xfrm>
          <a:prstGeom prst="rect">
            <a:avLst/>
          </a:prstGeom>
          <a:solidFill>
            <a:srgbClr val="13A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98F9C420-8EB1-8824-A3C6-E00880FEDF48}"/>
              </a:ext>
            </a:extLst>
          </p:cNvPr>
          <p:cNvSpPr/>
          <p:nvPr/>
        </p:nvSpPr>
        <p:spPr>
          <a:xfrm>
            <a:off x="7638859" y="1952625"/>
            <a:ext cx="1523962" cy="1066800"/>
          </a:xfrm>
          <a:prstGeom prst="rect">
            <a:avLst/>
          </a:prstGeom>
          <a:solidFill>
            <a:srgbClr val="F7FAFC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7AED2D47-FB4A-FB86-0CCF-6AEEAB90BA4D}"/>
              </a:ext>
            </a:extLst>
          </p:cNvPr>
          <p:cNvSpPr/>
          <p:nvPr/>
        </p:nvSpPr>
        <p:spPr>
          <a:xfrm>
            <a:off x="7791255" y="2105025"/>
            <a:ext cx="1219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 inversion</a:t>
            </a:r>
            <a:endParaRPr lang="en-US" sz="13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F8A25D4-87F3-BB15-CDDE-D91D014DE226}"/>
              </a:ext>
            </a:extLst>
          </p:cNvPr>
          <p:cNvSpPr/>
          <p:nvPr/>
        </p:nvSpPr>
        <p:spPr>
          <a:xfrm>
            <a:off x="7791255" y="2295525"/>
            <a:ext cx="1219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pulse changes phase at peak amplitude.</a:t>
            </a:r>
            <a:endParaRPr lang="en-US" sz="975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26C06B5-2C5D-F820-AC60-93A692D61576}"/>
              </a:ext>
            </a:extLst>
          </p:cNvPr>
          <p:cNvSpPr/>
          <p:nvPr/>
        </p:nvSpPr>
        <p:spPr>
          <a:xfrm>
            <a:off x="9200920" y="2457450"/>
            <a:ext cx="419090" cy="38100"/>
          </a:xfrm>
          <a:prstGeom prst="rect">
            <a:avLst/>
          </a:prstGeom>
          <a:solidFill>
            <a:srgbClr val="13A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45FB2A4-413B-F476-1C22-2903EAC97F04}"/>
              </a:ext>
            </a:extLst>
          </p:cNvPr>
          <p:cNvSpPr/>
          <p:nvPr/>
        </p:nvSpPr>
        <p:spPr>
          <a:xfrm>
            <a:off x="9658109" y="1952625"/>
            <a:ext cx="1523962" cy="1066800"/>
          </a:xfrm>
          <a:prstGeom prst="rect">
            <a:avLst/>
          </a:prstGeom>
          <a:solidFill>
            <a:srgbClr val="0B1F33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5A38195-0EF6-CFEC-DB79-191C777C8EB8}"/>
              </a:ext>
            </a:extLst>
          </p:cNvPr>
          <p:cNvSpPr/>
          <p:nvPr/>
        </p:nvSpPr>
        <p:spPr>
          <a:xfrm>
            <a:off x="9810505" y="2105025"/>
            <a:ext cx="1219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Echo dip</a:t>
            </a:r>
            <a:endParaRPr lang="en-US" sz="13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BAC656A-BA3D-BCCB-B6E3-020EC3BC7197}"/>
              </a:ext>
            </a:extLst>
          </p:cNvPr>
          <p:cNvSpPr/>
          <p:nvPr/>
        </p:nvSpPr>
        <p:spPr>
          <a:xfrm>
            <a:off x="9810505" y="2295525"/>
            <a:ext cx="1219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BFD5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Resonant excitation cancels; detuned response remains.</a:t>
            </a:r>
            <a:endParaRPr lang="en-US" sz="975" dirty="0"/>
          </a:p>
        </p:txBody>
      </p:sp>
      <p:sp>
        <p:nvSpPr>
          <p:cNvPr id="35" name="Shape 21">
            <a:extLst>
              <a:ext uri="{FF2B5EF4-FFF2-40B4-BE49-F238E27FC236}">
                <a16:creationId xmlns:a16="http://schemas.microsoft.com/office/drawing/2014/main" id="{AEEFABA0-DB96-2705-64CB-08B1E593072E}"/>
              </a:ext>
            </a:extLst>
          </p:cNvPr>
          <p:cNvSpPr/>
          <p:nvPr/>
        </p:nvSpPr>
        <p:spPr>
          <a:xfrm>
            <a:off x="5619610" y="4686300"/>
            <a:ext cx="5571986" cy="742950"/>
          </a:xfrm>
          <a:prstGeom prst="rect">
            <a:avLst/>
          </a:prstGeom>
          <a:solidFill>
            <a:srgbClr val="EEF9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48050499-488B-1CFE-D436-B59013386028}"/>
              </a:ext>
            </a:extLst>
          </p:cNvPr>
          <p:cNvSpPr/>
          <p:nvPr/>
        </p:nvSpPr>
        <p:spPr>
          <a:xfrm>
            <a:off x="5848204" y="4838700"/>
            <a:ext cx="517194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Mechanism: suppress on-resonant Rabi oscillations while preserving a sharp spectral feature for frequency extraction.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881289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C7E612-2BD0-3C7F-9D36-2F973D095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EDBBDB0E-4AB1-7F0A-0C37-D5C52077D3A2}"/>
              </a:ext>
            </a:extLst>
          </p:cNvPr>
          <p:cNvSpPr txBox="1"/>
          <p:nvPr/>
        </p:nvSpPr>
        <p:spPr>
          <a:xfrm>
            <a:off x="473413" y="489015"/>
            <a:ext cx="102050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3200" b="1" dirty="0"/>
              <a:t>Three order of magnitude robustness</a:t>
            </a:r>
            <a:endParaRPr lang="he-IL" sz="3000" b="1" dirty="0">
              <a:solidFill>
                <a:srgbClr val="1779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1B8EDD-D95B-73C2-EBB9-76DACE971997}"/>
              </a:ext>
            </a:extLst>
          </p:cNvPr>
          <p:cNvSpPr txBox="1"/>
          <p:nvPr/>
        </p:nvSpPr>
        <p:spPr>
          <a:xfrm>
            <a:off x="2668717" y="616085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390327-8295-DADE-F41B-7EC876D8E032}"/>
              </a:ext>
            </a:extLst>
          </p:cNvPr>
          <p:cNvSpPr txBox="1"/>
          <p:nvPr/>
        </p:nvSpPr>
        <p:spPr>
          <a:xfrm>
            <a:off x="288683" y="6277583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endParaRPr lang="en-IL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77A63A6-B3C9-BDD1-85E2-CB30096BF1F2}"/>
              </a:ext>
            </a:extLst>
          </p:cNvPr>
          <p:cNvGrpSpPr/>
          <p:nvPr/>
        </p:nvGrpSpPr>
        <p:grpSpPr>
          <a:xfrm>
            <a:off x="381048" y="6031362"/>
            <a:ext cx="10423139" cy="246221"/>
            <a:chOff x="-85879" y="5989209"/>
            <a:chExt cx="10423139" cy="246221"/>
          </a:xfrm>
        </p:grpSpPr>
        <p:sp>
          <p:nvSpPr>
            <p:cNvPr id="16" name="תיבת טקסט 15">
              <a:extLst>
                <a:ext uri="{FF2B5EF4-FFF2-40B4-BE49-F238E27FC236}">
                  <a16:creationId xmlns:a16="http://schemas.microsoft.com/office/drawing/2014/main" id="{91AA4345-92A7-8849-C553-09F047BE0D89}"/>
                </a:ext>
              </a:extLst>
            </p:cNvPr>
            <p:cNvSpPr txBox="1"/>
            <p:nvPr/>
          </p:nvSpPr>
          <p:spPr>
            <a:xfrm>
              <a:off x="-85879" y="5989209"/>
              <a:ext cx="16300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dirty="0">
                  <a:solidFill>
                    <a:srgbClr val="177987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Title</a:t>
              </a:r>
              <a:endParaRPr lang="he-IL" sz="10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7" name="מחבר ישר 16">
              <a:extLst>
                <a:ext uri="{FF2B5EF4-FFF2-40B4-BE49-F238E27FC236}">
                  <a16:creationId xmlns:a16="http://schemas.microsoft.com/office/drawing/2014/main" id="{BC94CB65-5114-0566-FC8E-36CC524B4D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988" y="6118804"/>
              <a:ext cx="9896272" cy="0"/>
            </a:xfrm>
            <a:prstGeom prst="line">
              <a:avLst/>
            </a:prstGeom>
            <a:ln w="6350" cap="flat" cmpd="sng" algn="ctr">
              <a:solidFill>
                <a:srgbClr val="17798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3" name="Picture 2" descr="A close-up of a graph&#10;&#10;AI-generated content may be incorrect.">
            <a:extLst>
              <a:ext uri="{FF2B5EF4-FFF2-40B4-BE49-F238E27FC236}">
                <a16:creationId xmlns:a16="http://schemas.microsoft.com/office/drawing/2014/main" id="{303B1321-AAB1-3B7D-3B0D-AFCB3E4BB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13" y="2413331"/>
            <a:ext cx="10345064" cy="35014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0D4F73-B46C-F07F-9551-D3AE565CEF37}"/>
              </a:ext>
            </a:extLst>
          </p:cNvPr>
          <p:cNvSpPr txBox="1"/>
          <p:nvPr/>
        </p:nvSpPr>
        <p:spPr>
          <a:xfrm>
            <a:off x="907915" y="1385522"/>
            <a:ext cx="32229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dirty="0"/>
              <a:t>Suppresses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coherent oscillations</a:t>
            </a:r>
          </a:p>
          <a:p>
            <a:pPr algn="l" rtl="0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Amplitude robustness 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0" algn="l" defTabSz="914400" rtl="0" eaLnBrk="1" latinLnBrk="0" hangingPunct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41147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0DF46-8AE7-3627-EC84-BEBE851E7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0B88A-DCF1-C15E-FDDA-51C636BA4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 dirty="0"/>
          </a:p>
        </p:txBody>
      </p:sp>
      <p:pic>
        <p:nvPicPr>
          <p:cNvPr id="4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CAF39FDB-07AF-CA38-4C3D-510DFF37C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957" y="1928876"/>
            <a:ext cx="5172532" cy="4563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76C202-3B93-8D1A-76D9-B6D1F21C1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489" y="2618650"/>
            <a:ext cx="1128077" cy="276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922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896747-C385-B49F-BF0C-ADAC4CEAD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4DA19B70-58D5-2DB6-E0AC-922BFD9B044C}"/>
              </a:ext>
            </a:extLst>
          </p:cNvPr>
          <p:cNvSpPr txBox="1"/>
          <p:nvPr/>
        </p:nvSpPr>
        <p:spPr>
          <a:xfrm>
            <a:off x="473413" y="489015"/>
            <a:ext cx="102050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3200" dirty="0"/>
              <a:t>Adiabatic basis: power narrowing</a:t>
            </a:r>
            <a:endParaRPr lang="he-IL" sz="3000" b="1" dirty="0">
              <a:solidFill>
                <a:srgbClr val="1779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A93B8A-C632-C2CC-6955-827A9D4E1A4F}"/>
              </a:ext>
            </a:extLst>
          </p:cNvPr>
          <p:cNvSpPr txBox="1"/>
          <p:nvPr/>
        </p:nvSpPr>
        <p:spPr>
          <a:xfrm>
            <a:off x="2668717" y="616085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46D086-2E14-809A-9E8B-0B50C62F2433}"/>
              </a:ext>
            </a:extLst>
          </p:cNvPr>
          <p:cNvSpPr txBox="1"/>
          <p:nvPr/>
        </p:nvSpPr>
        <p:spPr>
          <a:xfrm>
            <a:off x="288683" y="6277583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endParaRPr lang="en-IL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15340FA-5DB5-FD2D-3594-3B2FBB450F20}"/>
              </a:ext>
            </a:extLst>
          </p:cNvPr>
          <p:cNvGrpSpPr/>
          <p:nvPr/>
        </p:nvGrpSpPr>
        <p:grpSpPr>
          <a:xfrm>
            <a:off x="381048" y="6031362"/>
            <a:ext cx="10423139" cy="246221"/>
            <a:chOff x="-85879" y="5989209"/>
            <a:chExt cx="10423139" cy="246221"/>
          </a:xfrm>
        </p:grpSpPr>
        <p:sp>
          <p:nvSpPr>
            <p:cNvPr id="16" name="תיבת טקסט 15">
              <a:extLst>
                <a:ext uri="{FF2B5EF4-FFF2-40B4-BE49-F238E27FC236}">
                  <a16:creationId xmlns:a16="http://schemas.microsoft.com/office/drawing/2014/main" id="{88E38C5C-5E3D-A2EB-CA8E-1200AEA01F24}"/>
                </a:ext>
              </a:extLst>
            </p:cNvPr>
            <p:cNvSpPr txBox="1"/>
            <p:nvPr/>
          </p:nvSpPr>
          <p:spPr>
            <a:xfrm>
              <a:off x="-85879" y="5989209"/>
              <a:ext cx="16300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dirty="0">
                  <a:solidFill>
                    <a:srgbClr val="177987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Title</a:t>
              </a:r>
              <a:endParaRPr lang="he-IL" sz="10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7" name="מחבר ישר 16">
              <a:extLst>
                <a:ext uri="{FF2B5EF4-FFF2-40B4-BE49-F238E27FC236}">
                  <a16:creationId xmlns:a16="http://schemas.microsoft.com/office/drawing/2014/main" id="{9DC3C744-FA30-9850-AEE9-E52D70D2E5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988" y="6118804"/>
              <a:ext cx="9896272" cy="0"/>
            </a:xfrm>
            <a:prstGeom prst="line">
              <a:avLst/>
            </a:prstGeom>
            <a:ln w="6350" cap="flat" cmpd="sng" algn="ctr">
              <a:solidFill>
                <a:srgbClr val="17798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C1C4DB50-45CA-A4A8-ECAF-A8D5BBF27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1880340"/>
            <a:ext cx="108966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92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674FA9-CBA6-7894-671C-31E01EF1F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F2E329DE-E35D-BB9A-6911-3BF1A3317D48}"/>
              </a:ext>
            </a:extLst>
          </p:cNvPr>
          <p:cNvSpPr txBox="1"/>
          <p:nvPr/>
        </p:nvSpPr>
        <p:spPr>
          <a:xfrm>
            <a:off x="473413" y="489015"/>
            <a:ext cx="102050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en-US" sz="3000" b="1" dirty="0">
                <a:solidFill>
                  <a:srgbClr val="1779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System: </a:t>
            </a:r>
            <a:r>
              <a:rPr lang="en-US" sz="3000" b="1" dirty="0" err="1">
                <a:solidFill>
                  <a:srgbClr val="1779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superconducing</a:t>
            </a:r>
            <a:r>
              <a:rPr lang="en-US" sz="3000" b="1" dirty="0">
                <a:solidFill>
                  <a:srgbClr val="1779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qubits</a:t>
            </a:r>
            <a:endParaRPr lang="he-IL" sz="3000" b="1" dirty="0">
              <a:solidFill>
                <a:srgbClr val="1779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E6038D-4471-71C8-F2F1-6B89DEC0BE77}"/>
              </a:ext>
            </a:extLst>
          </p:cNvPr>
          <p:cNvSpPr txBox="1"/>
          <p:nvPr/>
        </p:nvSpPr>
        <p:spPr>
          <a:xfrm>
            <a:off x="2668717" y="616085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B8559F-05BC-C63F-EF3F-1C744E4C7827}"/>
              </a:ext>
            </a:extLst>
          </p:cNvPr>
          <p:cNvSpPr txBox="1"/>
          <p:nvPr/>
        </p:nvSpPr>
        <p:spPr>
          <a:xfrm>
            <a:off x="288683" y="6277583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endParaRPr lang="en-IL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4283988-992E-5811-83CB-6D6C94B4B438}"/>
              </a:ext>
            </a:extLst>
          </p:cNvPr>
          <p:cNvGrpSpPr/>
          <p:nvPr/>
        </p:nvGrpSpPr>
        <p:grpSpPr>
          <a:xfrm>
            <a:off x="381048" y="6031362"/>
            <a:ext cx="10423139" cy="246221"/>
            <a:chOff x="-85879" y="5989209"/>
            <a:chExt cx="10423139" cy="246221"/>
          </a:xfrm>
        </p:grpSpPr>
        <p:sp>
          <p:nvSpPr>
            <p:cNvPr id="16" name="תיבת טקסט 15">
              <a:extLst>
                <a:ext uri="{FF2B5EF4-FFF2-40B4-BE49-F238E27FC236}">
                  <a16:creationId xmlns:a16="http://schemas.microsoft.com/office/drawing/2014/main" id="{9C3F5969-217A-0117-8576-8E234F2F5CA2}"/>
                </a:ext>
              </a:extLst>
            </p:cNvPr>
            <p:cNvSpPr txBox="1"/>
            <p:nvPr/>
          </p:nvSpPr>
          <p:spPr>
            <a:xfrm>
              <a:off x="-85879" y="5989209"/>
              <a:ext cx="16300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dirty="0">
                  <a:solidFill>
                    <a:srgbClr val="177987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Title</a:t>
              </a:r>
              <a:endParaRPr lang="he-IL" sz="10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7" name="מחבר ישר 16">
              <a:extLst>
                <a:ext uri="{FF2B5EF4-FFF2-40B4-BE49-F238E27FC236}">
                  <a16:creationId xmlns:a16="http://schemas.microsoft.com/office/drawing/2014/main" id="{28D3F00C-3E00-9389-DD75-9016815415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988" y="6118804"/>
              <a:ext cx="9896272" cy="0"/>
            </a:xfrm>
            <a:prstGeom prst="line">
              <a:avLst/>
            </a:prstGeom>
            <a:ln w="6350" cap="flat" cmpd="sng" algn="ctr">
              <a:solidFill>
                <a:srgbClr val="17798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5560922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מותאם אישית 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5325B"/>
      </a:accent1>
      <a:accent2>
        <a:srgbClr val="50A781"/>
      </a:accent2>
      <a:accent3>
        <a:srgbClr val="D8AF5C"/>
      </a:accent3>
      <a:accent4>
        <a:srgbClr val="2B819B"/>
      </a:accent4>
      <a:accent5>
        <a:srgbClr val="83151E"/>
      </a:accent5>
      <a:accent6>
        <a:srgbClr val="873B70"/>
      </a:accent6>
      <a:hlink>
        <a:srgbClr val="50A781"/>
      </a:hlink>
      <a:folHlink>
        <a:srgbClr val="75325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{83CDC9D4-0014-B14D-ADB7-C2D46441B754}tf10001123</Template>
  <TotalTime>1066</TotalTime>
  <Words>184</Words>
  <Application>Microsoft Macintosh PowerPoint</Application>
  <PresentationFormat>Widescreen</PresentationFormat>
  <Paragraphs>30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Cambria Math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מוריה-יעל בשן (סטודנט)</dc:creator>
  <cp:lastModifiedBy>Asaf Solonnikov</cp:lastModifiedBy>
  <cp:revision>28</cp:revision>
  <dcterms:created xsi:type="dcterms:W3CDTF">2023-06-12T09:25:50Z</dcterms:created>
  <dcterms:modified xsi:type="dcterms:W3CDTF">2026-06-28T07:28:51Z</dcterms:modified>
</cp:coreProperties>
</file>