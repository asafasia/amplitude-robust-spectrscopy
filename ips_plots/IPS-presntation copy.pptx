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60" r:id="rId1"/>
  </p:sldMasterIdLst>
  <p:notesMasterIdLst>
    <p:notesMasterId r:id="rId21"/>
  </p:notesMasterIdLst>
  <p:handoutMasterIdLst>
    <p:handoutMasterId r:id="rId22"/>
  </p:handoutMasterIdLst>
  <p:sldIdLst>
    <p:sldId id="278" r:id="rId2"/>
    <p:sldId id="303" r:id="rId3"/>
    <p:sldId id="309" r:id="rId4"/>
    <p:sldId id="296" r:id="rId5"/>
    <p:sldId id="307" r:id="rId6"/>
    <p:sldId id="294" r:id="rId7"/>
    <p:sldId id="320" r:id="rId8"/>
    <p:sldId id="321" r:id="rId9"/>
    <p:sldId id="322" r:id="rId10"/>
    <p:sldId id="312" r:id="rId11"/>
    <p:sldId id="314" r:id="rId12"/>
    <p:sldId id="318" r:id="rId13"/>
    <p:sldId id="310" r:id="rId14"/>
    <p:sldId id="313" r:id="rId15"/>
    <p:sldId id="326" r:id="rId16"/>
    <p:sldId id="324" r:id="rId17"/>
    <p:sldId id="286" r:id="rId18"/>
    <p:sldId id="308" r:id="rId19"/>
    <p:sldId id="325" r:id="rId2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042193-660E-43A9-9EBE-BA9109A97C0E}">
          <p14:sldIdLst>
            <p14:sldId id="278"/>
            <p14:sldId id="303"/>
            <p14:sldId id="309"/>
            <p14:sldId id="296"/>
            <p14:sldId id="307"/>
            <p14:sldId id="294"/>
            <p14:sldId id="320"/>
            <p14:sldId id="321"/>
          </p14:sldIdLst>
        </p14:section>
        <p14:section name="Untitled Section" id="{20A03756-E68A-4040-BABC-736A29779AFA}">
          <p14:sldIdLst>
            <p14:sldId id="322"/>
            <p14:sldId id="312"/>
            <p14:sldId id="314"/>
            <p14:sldId id="318"/>
            <p14:sldId id="310"/>
            <p14:sldId id="313"/>
            <p14:sldId id="326"/>
            <p14:sldId id="324"/>
            <p14:sldId id="286"/>
            <p14:sldId id="308"/>
            <p14:sldId id="325"/>
          </p14:sldIdLst>
        </p14:section>
      </p14:sectionLst>
    </p:ext>
    <p:ext uri="{EFAFB233-063F-42B5-8137-9DF3F51BA10A}">
      <p15:sldGuideLst xmlns:p15="http://schemas.microsoft.com/office/powerpoint/2012/main">
        <p15:guide id="1" orient="horz" pos="1162" userDrawn="1">
          <p15:clr>
            <a:srgbClr val="A4A3A4"/>
          </p15:clr>
        </p15:guide>
        <p15:guide id="2" pos="6743" userDrawn="1">
          <p15:clr>
            <a:srgbClr val="A4A3A4"/>
          </p15:clr>
        </p15:guide>
        <p15:guide id="3" pos="6176" userDrawn="1">
          <p15:clr>
            <a:srgbClr val="A4A3A4"/>
          </p15:clr>
        </p15:guide>
        <p15:guide id="4" orient="horz" pos="1344" userDrawn="1">
          <p15:clr>
            <a:srgbClr val="A4A3A4"/>
          </p15:clr>
        </p15:guide>
        <p15:guide id="5" orient="horz" pos="399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325C"/>
    <a:srgbClr val="1779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17"/>
    <p:restoredTop sz="67797" autoAdjust="0"/>
  </p:normalViewPr>
  <p:slideViewPr>
    <p:cSldViewPr snapToGrid="0" showGuides="1">
      <p:cViewPr varScale="1">
        <p:scale>
          <a:sx n="73" d="100"/>
          <a:sy n="73" d="100"/>
        </p:scale>
        <p:origin x="66" y="108"/>
      </p:cViewPr>
      <p:guideLst>
        <p:guide orient="horz" pos="1162"/>
        <p:guide pos="6743"/>
        <p:guide pos="6176"/>
        <p:guide orient="horz" pos="1344"/>
        <p:guide orient="horz" pos="3997"/>
      </p:guideLst>
    </p:cSldViewPr>
  </p:slideViewPr>
  <p:notesTextViewPr>
    <p:cViewPr>
      <p:scale>
        <a:sx n="1" d="1"/>
        <a:sy n="1" d="1"/>
      </p:scale>
      <p:origin x="0" y="0"/>
    </p:cViewPr>
  </p:notesText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9C329-39B5-1014-575C-E79868B64C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a:extLst>
              <a:ext uri="{FF2B5EF4-FFF2-40B4-BE49-F238E27FC236}">
                <a16:creationId xmlns:a16="http://schemas.microsoft.com/office/drawing/2014/main" id="{0ED0E878-7F21-FADA-2825-81E8C7F295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93314B-08FE-451B-81F7-DD3EC2848EA5}" type="datetimeFigureOut">
              <a:rPr lang="en-IL" smtClean="0"/>
              <a:t>30/06/2026</a:t>
            </a:fld>
            <a:endParaRPr lang="en-IL"/>
          </a:p>
        </p:txBody>
      </p:sp>
      <p:sp>
        <p:nvSpPr>
          <p:cNvPr id="4" name="Footer Placeholder 3">
            <a:extLst>
              <a:ext uri="{FF2B5EF4-FFF2-40B4-BE49-F238E27FC236}">
                <a16:creationId xmlns:a16="http://schemas.microsoft.com/office/drawing/2014/main" id="{CD5E6B50-4BAA-3D6A-C73D-6A62A16A3D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5" name="Slide Number Placeholder 4">
            <a:extLst>
              <a:ext uri="{FF2B5EF4-FFF2-40B4-BE49-F238E27FC236}">
                <a16:creationId xmlns:a16="http://schemas.microsoft.com/office/drawing/2014/main" id="{769A4165-FE60-F231-B351-587FE5602D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36198D-EB1D-455D-A719-40C570910D93}" type="slidenum">
              <a:rPr lang="en-IL" smtClean="0"/>
              <a:t>‹#›</a:t>
            </a:fld>
            <a:endParaRPr lang="en-IL"/>
          </a:p>
        </p:txBody>
      </p:sp>
    </p:spTree>
    <p:extLst>
      <p:ext uri="{BB962C8B-B14F-4D97-AF65-F5344CB8AC3E}">
        <p14:creationId xmlns:p14="http://schemas.microsoft.com/office/powerpoint/2010/main" val="38258075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B441FA12-AFAF-C64F-BCD9-42C98846694D}" type="datetimeFigureOut">
              <a:rPr lang="he-IL" smtClean="0"/>
              <a:t>י"ד/תמוז/תשפ"ו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F5A1688F-B466-7A4C-8F3E-17D2A85EF135}" type="slidenum">
              <a:rPr lang="he-IL" smtClean="0"/>
              <a:t>‹#›</a:t>
            </a:fld>
            <a:endParaRPr lang="he-IL"/>
          </a:p>
        </p:txBody>
      </p:sp>
    </p:spTree>
    <p:extLst>
      <p:ext uri="{BB962C8B-B14F-4D97-AF65-F5344CB8AC3E}">
        <p14:creationId xmlns:p14="http://schemas.microsoft.com/office/powerpoint/2010/main" val="2366118758"/>
      </p:ext>
    </p:extLst>
  </p:cSld>
  <p:clrMap bg1="lt1" tx1="dk1" bg2="lt2" tx2="dk2" accent1="accent1" accent2="accent2" accent3="accent3" accent4="accent4" accent5="accent5" accent6="accent6" hlink="hlink" folHlink="folHlink"/>
  <p:hf hdr="0" ftr="0" dt="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r>
              <a:rPr lang="en-US" dirty="0"/>
              <a:t>Good after noon</a:t>
            </a:r>
            <a:r>
              <a:rPr lang="en-IL" dirty="0"/>
              <a:t>, </a:t>
            </a:r>
            <a:r>
              <a:rPr lang="en-US" dirty="0"/>
              <a:t>my name is Asaf. Today ill talk about </a:t>
            </a:r>
            <a:r>
              <a:rPr lang="en-IL" dirty="0"/>
              <a:t>amplitude-robust qubit spectroscopy using Echo Root-Lorentzian pulse shapes.</a:t>
            </a:r>
          </a:p>
        </p:txBody>
      </p:sp>
      <p:sp>
        <p:nvSpPr>
          <p:cNvPr id="4" name="Slide Number Placeholder 3"/>
          <p:cNvSpPr>
            <a:spLocks noGrp="1"/>
          </p:cNvSpPr>
          <p:nvPr>
            <p:ph type="sldNum" sz="quarter" idx="5"/>
          </p:nvPr>
        </p:nvSpPr>
        <p:spPr/>
        <p:txBody>
          <a:bodyPr/>
          <a:lstStyle/>
          <a:p>
            <a:fld id="{F5A1688F-B466-7A4C-8F3E-17D2A85EF135}" type="slidenum">
              <a:rPr lang="he-IL" smtClean="0"/>
              <a:t>1</a:t>
            </a:fld>
            <a:endParaRPr lang="he-IL"/>
          </a:p>
        </p:txBody>
      </p:sp>
    </p:spTree>
    <p:extLst>
      <p:ext uri="{BB962C8B-B14F-4D97-AF65-F5344CB8AC3E}">
        <p14:creationId xmlns:p14="http://schemas.microsoft.com/office/powerpoint/2010/main" val="461852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E8AC4-22A1-80BC-76C6-884424A4E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7638E-C7A2-9E4E-A224-D4C28A6CB2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B36C7-19B1-C9D9-1554-6A3D8B8D1038}"/>
              </a:ext>
            </a:extLst>
          </p:cNvPr>
          <p:cNvSpPr>
            <a:spLocks noGrp="1"/>
          </p:cNvSpPr>
          <p:nvPr>
            <p:ph type="body" idx="1"/>
          </p:nvPr>
        </p:nvSpPr>
        <p:spPr/>
        <p:txBody>
          <a:bodyPr/>
          <a:lstStyle/>
          <a:p>
            <a:pPr algn="l" rtl="0"/>
            <a:r>
              <a:rPr lang="en-IL" dirty="0"/>
              <a:t>Many quantum systems can be </a:t>
            </a:r>
            <a:r>
              <a:rPr lang="en-IL" dirty="0" err="1"/>
              <a:t>modeled</a:t>
            </a:r>
            <a:r>
              <a:rPr lang="en-IL" dirty="0"/>
              <a:t> as an effective two-level system, including atoms, spins, </a:t>
            </a:r>
            <a:r>
              <a:rPr lang="en-IL" dirty="0" err="1"/>
              <a:t>color</a:t>
            </a:r>
            <a:r>
              <a:rPr lang="en-IL" dirty="0"/>
              <a:t> </a:t>
            </a:r>
            <a:r>
              <a:rPr lang="en-IL" dirty="0" err="1"/>
              <a:t>centers</a:t>
            </a:r>
            <a:r>
              <a:rPr lang="en-IL" dirty="0"/>
              <a:t>, and superconducting qubits.</a:t>
            </a:r>
            <a:endParaRPr lang="en-US" dirty="0"/>
          </a:p>
          <a:p>
            <a:pPr algn="l" rtl="0"/>
            <a:endParaRPr lang="en-IL" dirty="0"/>
          </a:p>
          <a:p>
            <a:pPr algn="l" rtl="0"/>
            <a:r>
              <a:rPr lang="en-IL" dirty="0"/>
              <a:t>A fundamental task is determining the transition frequency as accurately as possible. This process is known as spectroscopy.</a:t>
            </a:r>
            <a:endParaRPr lang="en-US" dirty="0"/>
          </a:p>
          <a:p>
            <a:pPr algn="l" rtl="0"/>
            <a:endParaRPr lang="en-IL" dirty="0"/>
          </a:p>
          <a:p>
            <a:pPr algn="l" rtl="0"/>
            <a:r>
              <a:rPr lang="en-IL" dirty="0"/>
              <a:t>Spectroscopy is essentially a frequency metrology problem: we probe the system with different drive frequencies and observe its response.</a:t>
            </a:r>
            <a:endParaRPr lang="en-US" dirty="0"/>
          </a:p>
          <a:p>
            <a:pPr algn="l" rtl="0"/>
            <a:endParaRPr lang="en-IL" dirty="0"/>
          </a:p>
          <a:p>
            <a:pPr algn="l" rtl="0"/>
            <a:r>
              <a:rPr lang="en-IL" dirty="0"/>
              <a:t>The precision with which we estimate the transition frequency depends directly on the width of the resonance. A narrower resonance allows a more precise frequency estimate.</a:t>
            </a:r>
            <a:endParaRPr lang="en-US" dirty="0"/>
          </a:p>
          <a:p>
            <a:pPr algn="l" rtl="0"/>
            <a:endParaRPr lang="en-IL" dirty="0"/>
          </a:p>
          <a:p>
            <a:pPr algn="l" rtl="0"/>
            <a:r>
              <a:rPr lang="en-IL" dirty="0"/>
              <a:t>In this work, we focus on improving that </a:t>
            </a:r>
            <a:r>
              <a:rPr lang="en-US" dirty="0"/>
              <a:t>current </a:t>
            </a:r>
            <a:r>
              <a:rPr lang="en-US" dirty="0" err="1"/>
              <a:t>spectcopy</a:t>
            </a:r>
            <a:r>
              <a:rPr lang="en-US" dirty="0"/>
              <a:t> methods</a:t>
            </a:r>
            <a:endParaRPr lang="en-IL" dirty="0"/>
          </a:p>
        </p:txBody>
      </p:sp>
      <p:sp>
        <p:nvSpPr>
          <p:cNvPr id="4" name="Slide Number Placeholder 3">
            <a:extLst>
              <a:ext uri="{FF2B5EF4-FFF2-40B4-BE49-F238E27FC236}">
                <a16:creationId xmlns:a16="http://schemas.microsoft.com/office/drawing/2014/main" id="{93732142-C02D-C43C-6EC9-9EF7F231C6CB}"/>
              </a:ext>
            </a:extLst>
          </p:cNvPr>
          <p:cNvSpPr>
            <a:spLocks noGrp="1"/>
          </p:cNvSpPr>
          <p:nvPr>
            <p:ph type="sldNum" sz="quarter" idx="5"/>
          </p:nvPr>
        </p:nvSpPr>
        <p:spPr/>
        <p:txBody>
          <a:bodyPr/>
          <a:lstStyle/>
          <a:p>
            <a:fld id="{F5A1688F-B466-7A4C-8F3E-17D2A85EF135}" type="slidenum">
              <a:rPr lang="he-IL" smtClean="0"/>
              <a:t>2</a:t>
            </a:fld>
            <a:endParaRPr lang="he-IL"/>
          </a:p>
        </p:txBody>
      </p:sp>
    </p:spTree>
    <p:extLst>
      <p:ext uri="{BB962C8B-B14F-4D97-AF65-F5344CB8AC3E}">
        <p14:creationId xmlns:p14="http://schemas.microsoft.com/office/powerpoint/2010/main" val="2483027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D5FB-E7B3-D9EF-3813-707F29489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60889-BF0A-B989-411E-2569541DF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5F2BB-2A00-0669-5E60-FBE54CDDCB67}"/>
              </a:ext>
            </a:extLst>
          </p:cNvPr>
          <p:cNvSpPr>
            <a:spLocks noGrp="1"/>
          </p:cNvSpPr>
          <p:nvPr>
            <p:ph type="body" idx="1"/>
          </p:nvPr>
        </p:nvSpPr>
        <p:spPr/>
        <p:txBody>
          <a:bodyPr/>
          <a:lstStyle/>
          <a:p>
            <a:pPr algn="l" rtl="0"/>
            <a:endParaRPr lang="en-US" dirty="0"/>
          </a:p>
          <a:p>
            <a:pPr algn="l"/>
            <a:r>
              <a:rPr lang="en-IL" dirty="0"/>
              <a:t>A two-level system, or qubit, is characterized by its transition frequency, as shown in the Hamiltonian. To manipulate the qubit, we apply a microwave drive through a control line that is capacitively coupled to the circuit.</a:t>
            </a:r>
            <a:endParaRPr lang="en-US" dirty="0"/>
          </a:p>
          <a:p>
            <a:pPr algn="l"/>
            <a:endParaRPr lang="en-IL" dirty="0"/>
          </a:p>
          <a:p>
            <a:pPr algn="l"/>
            <a:r>
              <a:rPr lang="en-IL" dirty="0"/>
              <a:t>In this work, we use a </a:t>
            </a:r>
            <a:r>
              <a:rPr lang="en-IL" dirty="0" err="1"/>
              <a:t>transmon</a:t>
            </a:r>
            <a:r>
              <a:rPr lang="en-IL" dirty="0"/>
              <a:t>, one of the most widely used superconducting qubits. The </a:t>
            </a:r>
            <a:r>
              <a:rPr lang="en-IL" dirty="0" err="1"/>
              <a:t>transmon</a:t>
            </a:r>
            <a:r>
              <a:rPr lang="en-IL" dirty="0"/>
              <a:t> is a nonlinear quantum oscillator with unequally spaced energy levels. This anharmonicity allows us to isolate the two lowest energy levels and treat them as an effective two-level system.</a:t>
            </a:r>
            <a:endParaRPr lang="en-US" dirty="0"/>
          </a:p>
          <a:p>
            <a:pPr algn="l"/>
            <a:endParaRPr lang="en-IL" dirty="0"/>
          </a:p>
          <a:p>
            <a:pPr algn="l"/>
            <a:r>
              <a:rPr lang="en-IL" dirty="0"/>
              <a:t>Efficient control is achieved only when the drive frequency is resonant with the qubit transition frequency. Therefore, accurately determining this transition frequency is a fundamental prerequisite for high-fidelity quantum operations.</a:t>
            </a:r>
          </a:p>
          <a:p>
            <a:pPr algn="l" rtl="0"/>
            <a:endParaRPr lang="en-IL" dirty="0"/>
          </a:p>
        </p:txBody>
      </p:sp>
      <p:sp>
        <p:nvSpPr>
          <p:cNvPr id="4" name="Slide Number Placeholder 3">
            <a:extLst>
              <a:ext uri="{FF2B5EF4-FFF2-40B4-BE49-F238E27FC236}">
                <a16:creationId xmlns:a16="http://schemas.microsoft.com/office/drawing/2014/main" id="{8B1D2306-4FE2-4DFD-C4BD-4B835A8F1DDA}"/>
              </a:ext>
            </a:extLst>
          </p:cNvPr>
          <p:cNvSpPr>
            <a:spLocks noGrp="1"/>
          </p:cNvSpPr>
          <p:nvPr>
            <p:ph type="sldNum" sz="quarter" idx="5"/>
          </p:nvPr>
        </p:nvSpPr>
        <p:spPr/>
        <p:txBody>
          <a:bodyPr/>
          <a:lstStyle/>
          <a:p>
            <a:fld id="{F5A1688F-B466-7A4C-8F3E-17D2A85EF135}" type="slidenum">
              <a:rPr lang="he-IL" smtClean="0"/>
              <a:t>3</a:t>
            </a:fld>
            <a:endParaRPr lang="he-IL"/>
          </a:p>
        </p:txBody>
      </p:sp>
    </p:spTree>
    <p:extLst>
      <p:ext uri="{BB962C8B-B14F-4D97-AF65-F5344CB8AC3E}">
        <p14:creationId xmlns:p14="http://schemas.microsoft.com/office/powerpoint/2010/main" val="266987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lgn="l" rtl="0"/>
            <a:endParaRPr lang="en-US" dirty="0"/>
          </a:p>
          <a:p>
            <a:pPr algn="l" rtl="0"/>
            <a:r>
              <a:rPr lang="en-IL" dirty="0"/>
              <a:t>The probability of exciting the qubit is given by the Rabi formula shown on the left. It depends on two quantities: the </a:t>
            </a:r>
            <a:r>
              <a:rPr lang="en-IL" b="1" dirty="0"/>
              <a:t>detuning</a:t>
            </a:r>
            <a:r>
              <a:rPr lang="en-IL" dirty="0"/>
              <a:t>, which is the difference between the qubit frequency and the drive frequency, and the </a:t>
            </a:r>
            <a:r>
              <a:rPr lang="en-IL" b="1" dirty="0"/>
              <a:t>Rabi frequency</a:t>
            </a:r>
            <a:r>
              <a:rPr lang="en-IL" dirty="0"/>
              <a:t>, which is proportional to the drive amplitude.</a:t>
            </a:r>
            <a:br>
              <a:rPr lang="en-US" dirty="0"/>
            </a:br>
            <a:br>
              <a:rPr lang="en-US" dirty="0"/>
            </a:br>
            <a:r>
              <a:rPr lang="en-US" dirty="0"/>
              <a:t>Also we have the </a:t>
            </a:r>
            <a:r>
              <a:rPr lang="en-US" dirty="0" err="1"/>
              <a:t>blobh</a:t>
            </a:r>
            <a:r>
              <a:rPr lang="en-US" dirty="0"/>
              <a:t> </a:t>
            </a:r>
            <a:r>
              <a:rPr lang="en-US" dirty="0" err="1"/>
              <a:t>vecator</a:t>
            </a:r>
            <a:r>
              <a:rPr lang="en-US" dirty="0"/>
              <a:t> which is fives the same result </a:t>
            </a:r>
            <a:r>
              <a:rPr lang="en-US" dirty="0" err="1"/>
              <a:t>buit</a:t>
            </a:r>
            <a:r>
              <a:rPr lang="en-US" dirty="0"/>
              <a:t> with Decay times and for very long pulse higher 10 Times T1</a:t>
            </a:r>
          </a:p>
          <a:p>
            <a:pPr algn="l" rtl="0"/>
            <a:endParaRPr lang="en-IL" dirty="0"/>
          </a:p>
          <a:p>
            <a:pPr algn="l" rtl="0"/>
            <a:r>
              <a:rPr lang="en-IL" dirty="0"/>
              <a:t>If we increase the drive amplitude, the qubit is easier to excite, giving a stronger signal and a better signal-to-noise ratio.</a:t>
            </a:r>
          </a:p>
          <a:p>
            <a:pPr algn="l" rtl="0"/>
            <a:r>
              <a:rPr lang="en-IL" dirty="0"/>
              <a:t>However, there is a drawback. As the drive becomes stronger, the resonance becomes wider, as shown in the spectroscopy map. This phenomenon is known as </a:t>
            </a:r>
            <a:r>
              <a:rPr lang="en-IL" b="1" dirty="0"/>
              <a:t>power broadening</a:t>
            </a:r>
            <a:r>
              <a:rPr lang="en-IL" dirty="0"/>
              <a:t>.</a:t>
            </a:r>
            <a:endParaRPr lang="en-US" dirty="0"/>
          </a:p>
          <a:p>
            <a:pPr algn="l" rtl="0"/>
            <a:endParaRPr lang="en-IL" dirty="0"/>
          </a:p>
          <a:p>
            <a:pPr algn="l" rtl="0"/>
            <a:r>
              <a:rPr lang="en-IL" dirty="0"/>
              <a:t>A broader resonance makes it harder to determine the exact </a:t>
            </a:r>
            <a:r>
              <a:rPr lang="en-IL" dirty="0" err="1"/>
              <a:t>center</a:t>
            </a:r>
            <a:r>
              <a:rPr lang="en-IL" dirty="0"/>
              <a:t> frequency. So we face a fundamental trade-off: </a:t>
            </a:r>
            <a:r>
              <a:rPr lang="en-IL" b="1" dirty="0"/>
              <a:t>strong drives provide better SNR, while weak drives provide better frequency resolution.</a:t>
            </a:r>
            <a:endParaRPr lang="en-IL" dirty="0"/>
          </a:p>
          <a:p>
            <a:pPr algn="l" rtl="0"/>
            <a:endParaRPr lang="en-IL" dirty="0"/>
          </a:p>
        </p:txBody>
      </p:sp>
      <p:sp>
        <p:nvSpPr>
          <p:cNvPr id="4" name="Slide Number Placeholder 3"/>
          <p:cNvSpPr>
            <a:spLocks noGrp="1"/>
          </p:cNvSpPr>
          <p:nvPr>
            <p:ph type="sldNum" sz="quarter" idx="5"/>
          </p:nvPr>
        </p:nvSpPr>
        <p:spPr/>
        <p:txBody>
          <a:bodyPr/>
          <a:lstStyle/>
          <a:p>
            <a:fld id="{F5A1688F-B466-7A4C-8F3E-17D2A85EF135}" type="slidenum">
              <a:rPr lang="he-IL" smtClean="0"/>
              <a:t>4</a:t>
            </a:fld>
            <a:endParaRPr lang="he-IL"/>
          </a:p>
        </p:txBody>
      </p:sp>
    </p:spTree>
    <p:extLst>
      <p:ext uri="{BB962C8B-B14F-4D97-AF65-F5344CB8AC3E}">
        <p14:creationId xmlns:p14="http://schemas.microsoft.com/office/powerpoint/2010/main" val="2870922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08300-6F96-D693-1169-6D111F901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6D665-7258-AB87-AEA9-23D4A32C94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5E184-955A-FBBC-0C90-8151A42963EF}"/>
              </a:ext>
            </a:extLst>
          </p:cNvPr>
          <p:cNvSpPr>
            <a:spLocks noGrp="1"/>
          </p:cNvSpPr>
          <p:nvPr>
            <p:ph type="body" idx="1"/>
          </p:nvPr>
        </p:nvSpPr>
        <p:spPr/>
        <p:txBody>
          <a:bodyPr/>
          <a:lstStyle/>
          <a:p>
            <a:pPr algn="l" rtl="0"/>
            <a:r>
              <a:rPr lang="en-IL" dirty="0"/>
              <a:t>Here we show the same effect in a 2D scan by sweeping both the drive detuning and amplitude.</a:t>
            </a:r>
            <a:br>
              <a:rPr lang="en-US" dirty="0"/>
            </a:br>
            <a:br>
              <a:rPr lang="en-US" dirty="0"/>
            </a:br>
            <a:endParaRPr lang="en-US" dirty="0"/>
          </a:p>
          <a:p>
            <a:pPr algn="l" rtl="0"/>
            <a:endParaRPr lang="en-IL" dirty="0"/>
          </a:p>
          <a:p>
            <a:pPr algn="l" rtl="0"/>
            <a:r>
              <a:rPr lang="en-IL" dirty="0"/>
              <a:t>At high amplitudes, the linewidth increases linearly due to power broadening.</a:t>
            </a:r>
            <a:endParaRPr lang="en-US" dirty="0"/>
          </a:p>
          <a:p>
            <a:pPr algn="l" rtl="0"/>
            <a:endParaRPr lang="en-IL" dirty="0"/>
          </a:p>
          <a:p>
            <a:pPr algn="l" rtl="0"/>
            <a:r>
              <a:rPr lang="en-IL" dirty="0"/>
              <a:t>At low amplitudes, the linewidth saturates at the (T_2) limit, but the signal becomes weak, reducing the signal-to-noise ratio.</a:t>
            </a:r>
            <a:endParaRPr lang="en-US" dirty="0"/>
          </a:p>
          <a:p>
            <a:pPr algn="l" rtl="0"/>
            <a:endParaRPr lang="en-IL" dirty="0"/>
          </a:p>
          <a:p>
            <a:pPr algn="l" rtl="0"/>
            <a:r>
              <a:rPr lang="en-IL" dirty="0"/>
              <a:t>This highlights the trade-off between spectral resolution and SNR in conventional spectroscopy.</a:t>
            </a:r>
          </a:p>
        </p:txBody>
      </p:sp>
      <p:sp>
        <p:nvSpPr>
          <p:cNvPr id="4" name="Slide Number Placeholder 3">
            <a:extLst>
              <a:ext uri="{FF2B5EF4-FFF2-40B4-BE49-F238E27FC236}">
                <a16:creationId xmlns:a16="http://schemas.microsoft.com/office/drawing/2014/main" id="{3A200700-A875-55B6-2C6A-5C05C1999EA6}"/>
              </a:ext>
            </a:extLst>
          </p:cNvPr>
          <p:cNvSpPr>
            <a:spLocks noGrp="1"/>
          </p:cNvSpPr>
          <p:nvPr>
            <p:ph type="sldNum" sz="quarter" idx="5"/>
          </p:nvPr>
        </p:nvSpPr>
        <p:spPr/>
        <p:txBody>
          <a:bodyPr/>
          <a:lstStyle/>
          <a:p>
            <a:fld id="{F5A1688F-B466-7A4C-8F3E-17D2A85EF135}" type="slidenum">
              <a:rPr lang="he-IL" smtClean="0"/>
              <a:t>5</a:t>
            </a:fld>
            <a:endParaRPr lang="he-IL"/>
          </a:p>
        </p:txBody>
      </p:sp>
    </p:spTree>
    <p:extLst>
      <p:ext uri="{BB962C8B-B14F-4D97-AF65-F5344CB8AC3E}">
        <p14:creationId xmlns:p14="http://schemas.microsoft.com/office/powerpoint/2010/main" val="1550963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IL" dirty="0"/>
              <a:t>Here we plot the frequency resolution, which scales approximately as </a:t>
            </a:r>
            <a:r>
              <a:rPr lang="en-US" dirty="0"/>
              <a:t>1/ FWHM </a:t>
            </a:r>
            <a:r>
              <a:rPr lang="en-IL" dirty="0"/>
              <a:t>As expected, in the low-amplitude limit the linewidth approaches the (T_2)-limited resolution.</a:t>
            </a:r>
            <a:endParaRPr lang="en-US" dirty="0"/>
          </a:p>
        </p:txBody>
      </p:sp>
      <p:sp>
        <p:nvSpPr>
          <p:cNvPr id="4" name="Slide Number Placeholder 3"/>
          <p:cNvSpPr>
            <a:spLocks noGrp="1"/>
          </p:cNvSpPr>
          <p:nvPr>
            <p:ph type="sldNum" sz="quarter" idx="5"/>
          </p:nvPr>
        </p:nvSpPr>
        <p:spPr/>
        <p:txBody>
          <a:bodyPr/>
          <a:lstStyle/>
          <a:p>
            <a:fld id="{F5A1688F-B466-7A4C-8F3E-17D2A85EF135}" type="slidenum">
              <a:rPr lang="he-IL" smtClean="0"/>
              <a:t>6</a:t>
            </a:fld>
            <a:endParaRPr lang="he-IL"/>
          </a:p>
        </p:txBody>
      </p:sp>
    </p:spTree>
    <p:extLst>
      <p:ext uri="{BB962C8B-B14F-4D97-AF65-F5344CB8AC3E}">
        <p14:creationId xmlns:p14="http://schemas.microsoft.com/office/powerpoint/2010/main" val="367954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68E6D-E531-AD4F-092F-E9BBA510F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D4E70-FAB6-448F-57EE-6AED1D5107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BCD62-DEDB-AC82-5AA5-4C77744B15D4}"/>
              </a:ext>
            </a:extLst>
          </p:cNvPr>
          <p:cNvSpPr>
            <a:spLocks noGrp="1"/>
          </p:cNvSpPr>
          <p:nvPr>
            <p:ph type="body" idx="1"/>
          </p:nvPr>
        </p:nvSpPr>
        <p:spPr/>
        <p:txBody>
          <a:bodyPr/>
          <a:lstStyle/>
          <a:p>
            <a:pPr algn="l" rtl="0"/>
            <a:endParaRPr lang="en-IL" dirty="0"/>
          </a:p>
          <a:p>
            <a:pPr algn="l" rtl="0"/>
            <a:r>
              <a:rPr lang="en-IL" dirty="0"/>
              <a:t>On the same plot, we can also show the signal-to-noise ratio. The problem is that resolution improves at low amplitude, while SNR improves at high amplitude.</a:t>
            </a:r>
            <a:endParaRPr lang="en-US" dirty="0"/>
          </a:p>
          <a:p>
            <a:pPr algn="l" rtl="0"/>
            <a:endParaRPr lang="en-IL" dirty="0"/>
          </a:p>
          <a:p>
            <a:pPr algn="l"/>
            <a:endParaRPr lang="en-IL" dirty="0"/>
          </a:p>
        </p:txBody>
      </p:sp>
      <p:sp>
        <p:nvSpPr>
          <p:cNvPr id="4" name="Slide Number Placeholder 3">
            <a:extLst>
              <a:ext uri="{FF2B5EF4-FFF2-40B4-BE49-F238E27FC236}">
                <a16:creationId xmlns:a16="http://schemas.microsoft.com/office/drawing/2014/main" id="{4E903C11-DBD0-4AE1-0F59-D79EC9BB88A8}"/>
              </a:ext>
            </a:extLst>
          </p:cNvPr>
          <p:cNvSpPr>
            <a:spLocks noGrp="1"/>
          </p:cNvSpPr>
          <p:nvPr>
            <p:ph type="sldNum" sz="quarter" idx="5"/>
          </p:nvPr>
        </p:nvSpPr>
        <p:spPr/>
        <p:txBody>
          <a:bodyPr/>
          <a:lstStyle/>
          <a:p>
            <a:fld id="{F5A1688F-B466-7A4C-8F3E-17D2A85EF135}" type="slidenum">
              <a:rPr lang="he-IL" smtClean="0"/>
              <a:t>7</a:t>
            </a:fld>
            <a:endParaRPr lang="he-IL"/>
          </a:p>
        </p:txBody>
      </p:sp>
    </p:spTree>
    <p:extLst>
      <p:ext uri="{BB962C8B-B14F-4D97-AF65-F5344CB8AC3E}">
        <p14:creationId xmlns:p14="http://schemas.microsoft.com/office/powerpoint/2010/main" val="1639621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54D0D-DC7D-4693-32FD-30CAE6922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9EFAB-D916-7B43-E515-41499538C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634BD-83AB-6DCF-0B63-091389E96310}"/>
              </a:ext>
            </a:extLst>
          </p:cNvPr>
          <p:cNvSpPr>
            <a:spLocks noGrp="1"/>
          </p:cNvSpPr>
          <p:nvPr>
            <p:ph type="body" idx="1"/>
          </p:nvPr>
        </p:nvSpPr>
        <p:spPr/>
        <p:txBody>
          <a:bodyPr/>
          <a:lstStyle/>
          <a:p>
            <a:pPr algn="l" rtl="0"/>
            <a:r>
              <a:rPr lang="en-IL" dirty="0"/>
              <a:t>Therefore, the amplitude range where both resolution and SNR are good is very narrow. This makes conventional spectroscopy fragile and often requires repeated scans to find the optimal amplitude.</a:t>
            </a:r>
          </a:p>
        </p:txBody>
      </p:sp>
      <p:sp>
        <p:nvSpPr>
          <p:cNvPr id="4" name="Slide Number Placeholder 3">
            <a:extLst>
              <a:ext uri="{FF2B5EF4-FFF2-40B4-BE49-F238E27FC236}">
                <a16:creationId xmlns:a16="http://schemas.microsoft.com/office/drawing/2014/main" id="{885E975D-C464-190D-72CC-E9698983B8E3}"/>
              </a:ext>
            </a:extLst>
          </p:cNvPr>
          <p:cNvSpPr>
            <a:spLocks noGrp="1"/>
          </p:cNvSpPr>
          <p:nvPr>
            <p:ph type="sldNum" sz="quarter" idx="5"/>
          </p:nvPr>
        </p:nvSpPr>
        <p:spPr/>
        <p:txBody>
          <a:bodyPr/>
          <a:lstStyle/>
          <a:p>
            <a:fld id="{F5A1688F-B466-7A4C-8F3E-17D2A85EF135}" type="slidenum">
              <a:rPr lang="he-IL" smtClean="0"/>
              <a:t>8</a:t>
            </a:fld>
            <a:endParaRPr lang="he-IL"/>
          </a:p>
        </p:txBody>
      </p:sp>
    </p:spTree>
    <p:extLst>
      <p:ext uri="{BB962C8B-B14F-4D97-AF65-F5344CB8AC3E}">
        <p14:creationId xmlns:p14="http://schemas.microsoft.com/office/powerpoint/2010/main" val="830619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E617C-262C-B40D-306D-9985FA37C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04813-1834-158E-A364-DE0872D85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6D83F-0621-D448-CB1E-53284BC51DA8}"/>
              </a:ext>
            </a:extLst>
          </p:cNvPr>
          <p:cNvSpPr>
            <a:spLocks noGrp="1"/>
          </p:cNvSpPr>
          <p:nvPr>
            <p:ph type="body" idx="1"/>
          </p:nvPr>
        </p:nvSpPr>
        <p:spPr/>
        <p:txBody>
          <a:bodyPr/>
          <a:lstStyle/>
          <a:p>
            <a:pPr algn="l" rtl="0"/>
            <a:endParaRPr lang="en-US" dirty="0"/>
          </a:p>
          <a:p>
            <a:pPr algn="l" rtl="0"/>
            <a:r>
              <a:rPr lang="en-IL" dirty="0"/>
              <a:t>To overcome power broadening, we explore a different pulse shape instead of the conventional square pulse.</a:t>
            </a:r>
            <a:endParaRPr lang="en-US" dirty="0"/>
          </a:p>
          <a:p>
            <a:pPr algn="l" rtl="0"/>
            <a:endParaRPr lang="en-IL" dirty="0"/>
          </a:p>
          <a:p>
            <a:pPr algn="l" rtl="0"/>
            <a:r>
              <a:rPr lang="en-IL" dirty="0"/>
              <a:t>Previous work by </a:t>
            </a:r>
            <a:r>
              <a:rPr lang="en-IL" b="1" dirty="0"/>
              <a:t>Mihov and Vitanov</a:t>
            </a:r>
            <a:r>
              <a:rPr lang="en-IL" dirty="0"/>
              <a:t> showed that </a:t>
            </a:r>
            <a:r>
              <a:rPr lang="en-IL" b="1" dirty="0"/>
              <a:t>root-Lorentzian pulses</a:t>
            </a:r>
            <a:r>
              <a:rPr lang="en-IL" dirty="0"/>
              <a:t> can exhibit </a:t>
            </a:r>
            <a:r>
              <a:rPr lang="en-IL" b="1" dirty="0"/>
              <a:t>power narrowing</a:t>
            </a:r>
            <a:r>
              <a:rPr lang="en-IL" dirty="0"/>
              <a:t>, where the resonance becomes </a:t>
            </a:r>
            <a:r>
              <a:rPr lang="en-IL" i="1" dirty="0"/>
              <a:t>narrower</a:t>
            </a:r>
            <a:r>
              <a:rPr lang="en-IL" dirty="0"/>
              <a:t> rather than broader as the drive amplitude increases. This </a:t>
            </a:r>
            <a:r>
              <a:rPr lang="en-IL" dirty="0" err="1"/>
              <a:t>behavior</a:t>
            </a:r>
            <a:r>
              <a:rPr lang="en-IL" dirty="0"/>
              <a:t> is related to the pulse's adiabatic properties.</a:t>
            </a:r>
            <a:endParaRPr lang="en-US" dirty="0"/>
          </a:p>
          <a:p>
            <a:pPr algn="l" rtl="0"/>
            <a:endParaRPr lang="en-IL" dirty="0"/>
          </a:p>
          <a:p>
            <a:pPr algn="l" rtl="0"/>
            <a:r>
              <a:rPr lang="en-IL" dirty="0"/>
              <a:t>However, Lorentzian pulses are theoretically infinite in time, so in practice they must be truncated. In addition, the previous work focused on relatively short pulses and therefore did not reach the ultra-high-resolution regime.</a:t>
            </a:r>
            <a:endParaRPr lang="en-US" dirty="0"/>
          </a:p>
          <a:p>
            <a:pPr algn="l" rtl="0"/>
            <a:endParaRPr lang="en-IL" dirty="0"/>
          </a:p>
          <a:p>
            <a:pPr algn="l" rtl="0"/>
            <a:r>
              <a:rPr lang="en-IL" dirty="0"/>
              <a:t>Our approach has two key innovations. First, we use </a:t>
            </a:r>
            <a:r>
              <a:rPr lang="en-IL" b="1" dirty="0"/>
              <a:t>long-duration root-Lorentzian pulses</a:t>
            </a:r>
            <a:r>
              <a:rPr lang="en-IL" dirty="0"/>
              <a:t>, allowing us to approach the coherence limit. Second, we introduce an </a:t>
            </a:r>
            <a:r>
              <a:rPr lang="en-IL" b="1" dirty="0"/>
              <a:t>echo-root-Lorentzian</a:t>
            </a:r>
            <a:r>
              <a:rPr lang="en-IL" dirty="0"/>
              <a:t> by changing the sign of the pulse exactly at its midpoint.</a:t>
            </a:r>
            <a:endParaRPr lang="en-US" dirty="0"/>
          </a:p>
          <a:p>
            <a:pPr algn="l" rtl="0"/>
            <a:endParaRPr lang="en-IL" dirty="0"/>
          </a:p>
          <a:p>
            <a:pPr algn="l" rtl="0"/>
            <a:r>
              <a:rPr lang="en-IL" dirty="0"/>
              <a:t>This phase reversal acts like a </a:t>
            </a:r>
            <a:r>
              <a:rPr lang="en-IL" b="1" dirty="0" err="1"/>
              <a:t>Loschmidt</a:t>
            </a:r>
            <a:r>
              <a:rPr lang="en-IL" b="1" dirty="0"/>
              <a:t> echo</a:t>
            </a:r>
            <a:r>
              <a:rPr lang="en-IL" dirty="0"/>
              <a:t>: it suppresses coherent oscillations and creates a spectral null at the drive frequency, while preserving the narrow resonance. As we'll see in the next slides, this dramatically improves the robustness of spectroscopy.</a:t>
            </a:r>
          </a:p>
        </p:txBody>
      </p:sp>
      <p:sp>
        <p:nvSpPr>
          <p:cNvPr id="4" name="Slide Number Placeholder 3">
            <a:extLst>
              <a:ext uri="{FF2B5EF4-FFF2-40B4-BE49-F238E27FC236}">
                <a16:creationId xmlns:a16="http://schemas.microsoft.com/office/drawing/2014/main" id="{CFF19FA1-4633-426A-EE70-153EFD50620F}"/>
              </a:ext>
            </a:extLst>
          </p:cNvPr>
          <p:cNvSpPr>
            <a:spLocks noGrp="1"/>
          </p:cNvSpPr>
          <p:nvPr>
            <p:ph type="sldNum" sz="quarter" idx="5"/>
          </p:nvPr>
        </p:nvSpPr>
        <p:spPr/>
        <p:txBody>
          <a:bodyPr/>
          <a:lstStyle/>
          <a:p>
            <a:fld id="{F5A1688F-B466-7A4C-8F3E-17D2A85EF135}" type="slidenum">
              <a:rPr lang="he-IL" smtClean="0"/>
              <a:t>9</a:t>
            </a:fld>
            <a:endParaRPr lang="he-IL"/>
          </a:p>
        </p:txBody>
      </p:sp>
    </p:spTree>
    <p:extLst>
      <p:ext uri="{BB962C8B-B14F-4D97-AF65-F5344CB8AC3E}">
        <p14:creationId xmlns:p14="http://schemas.microsoft.com/office/powerpoint/2010/main" val="2067776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IL" dirty="0"/>
              <a:t>Let us start by examining the root-Lorentzian pulse. First, we compare its spectrum with that of the conventional square pulse over the same frequency range.</a:t>
            </a:r>
            <a:endParaRPr lang="en-US" dirty="0"/>
          </a:p>
          <a:p>
            <a:pPr algn="l" rtl="0"/>
            <a:endParaRPr lang="en-IL" dirty="0"/>
          </a:p>
          <a:p>
            <a:pPr algn="l" rtl="0"/>
            <a:r>
              <a:rPr lang="en-IL" dirty="0"/>
              <a:t>At first glance, the root-Lorentzian already produces a much narrower resonance while maintaining a strong excitation probability.</a:t>
            </a:r>
            <a:endParaRPr lang="en-US" dirty="0"/>
          </a:p>
        </p:txBody>
      </p:sp>
      <p:sp>
        <p:nvSpPr>
          <p:cNvPr id="4" name="Slide Number Placeholder 3"/>
          <p:cNvSpPr>
            <a:spLocks noGrp="1"/>
          </p:cNvSpPr>
          <p:nvPr>
            <p:ph type="sldNum" sz="quarter" idx="5"/>
          </p:nvPr>
        </p:nvSpPr>
        <p:spPr/>
        <p:txBody>
          <a:bodyPr/>
          <a:lstStyle/>
          <a:p>
            <a:fld id="{F5A1688F-B466-7A4C-8F3E-17D2A85EF135}" type="slidenum">
              <a:rPr lang="he-IL" smtClean="0"/>
              <a:t>10</a:t>
            </a:fld>
            <a:endParaRPr lang="he-IL"/>
          </a:p>
        </p:txBody>
      </p:sp>
    </p:spTree>
    <p:extLst>
      <p:ext uri="{BB962C8B-B14F-4D97-AF65-F5344CB8AC3E}">
        <p14:creationId xmlns:p14="http://schemas.microsoft.com/office/powerpoint/2010/main" val="2641294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IL" dirty="0"/>
          </a:p>
          <a:p>
            <a:pPr algn="l" rtl="0"/>
            <a:r>
              <a:rPr lang="en-IL" dirty="0"/>
              <a:t>If we now zoom into a 1 MHz frequency span, the difference becomes even more apparent. We see that the root-Lorentzian generates an extremely narrow resonance, but it also exhibits pronounced oscillatory side lobes.</a:t>
            </a:r>
          </a:p>
        </p:txBody>
      </p:sp>
      <p:sp>
        <p:nvSpPr>
          <p:cNvPr id="4" name="Slide Number Placeholder 3"/>
          <p:cNvSpPr>
            <a:spLocks noGrp="1"/>
          </p:cNvSpPr>
          <p:nvPr>
            <p:ph type="sldNum" sz="quarter" idx="5"/>
          </p:nvPr>
        </p:nvSpPr>
        <p:spPr/>
        <p:txBody>
          <a:bodyPr/>
          <a:lstStyle/>
          <a:p>
            <a:fld id="{F5A1688F-B466-7A4C-8F3E-17D2A85EF135}" type="slidenum">
              <a:rPr lang="he-IL" smtClean="0"/>
              <a:t>11</a:t>
            </a:fld>
            <a:endParaRPr lang="he-IL"/>
          </a:p>
        </p:txBody>
      </p:sp>
    </p:spTree>
    <p:extLst>
      <p:ext uri="{BB962C8B-B14F-4D97-AF65-F5344CB8AC3E}">
        <p14:creationId xmlns:p14="http://schemas.microsoft.com/office/powerpoint/2010/main" val="2380129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7EC21-0C01-44C9-022C-29771E099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9B8CB-3728-D201-335A-0EAA6BDEF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478C0-3C83-1387-B1DF-9186849A6D5F}"/>
              </a:ext>
            </a:extLst>
          </p:cNvPr>
          <p:cNvSpPr>
            <a:spLocks noGrp="1"/>
          </p:cNvSpPr>
          <p:nvPr>
            <p:ph type="body" idx="1"/>
          </p:nvPr>
        </p:nvSpPr>
        <p:spPr/>
        <p:txBody>
          <a:bodyPr/>
          <a:lstStyle/>
          <a:p>
            <a:pPr algn="l" rtl="0"/>
            <a:r>
              <a:rPr lang="en-US" dirty="0" err="1"/>
              <a:t>Latly</a:t>
            </a:r>
            <a:r>
              <a:rPr lang="en-US" dirty="0"/>
              <a:t>  there is </a:t>
            </a:r>
            <a:r>
              <a:rPr lang="en-US" dirty="0" err="1"/>
              <a:t>intersrit</a:t>
            </a:r>
            <a:r>
              <a:rPr lang="en-US" dirty="0"/>
              <a:t> in types of pulse </a:t>
            </a:r>
            <a:r>
              <a:rPr lang="en-US" dirty="0" err="1"/>
              <a:t>sthat</a:t>
            </a:r>
            <a:r>
              <a:rPr lang="en-US" dirty="0"/>
              <a:t> generate </a:t>
            </a:r>
            <a:r>
              <a:rPr lang="en-US" dirty="0" err="1"/>
              <a:t>pwower</a:t>
            </a:r>
            <a:r>
              <a:rPr lang="en-US" dirty="0"/>
              <a:t> </a:t>
            </a:r>
            <a:r>
              <a:rPr lang="en-US" dirty="0" err="1"/>
              <a:t>narrwogn</a:t>
            </a:r>
            <a:r>
              <a:rPr lang="en-US" dirty="0"/>
              <a:t> </a:t>
            </a:r>
            <a:r>
              <a:rPr lang="en-US" dirty="0" err="1"/>
              <a:t>whaich</a:t>
            </a:r>
            <a:r>
              <a:rPr lang="en-US" dirty="0"/>
              <a:t> is the opposite </a:t>
            </a:r>
            <a:r>
              <a:rPr lang="en-US" dirty="0" err="1"/>
              <a:t>intersing</a:t>
            </a:r>
            <a:r>
              <a:rPr lang="en-US" dirty="0"/>
              <a:t> </a:t>
            </a:r>
            <a:r>
              <a:rPr lang="en-US" dirty="0" err="1"/>
              <a:t>phinmona</a:t>
            </a:r>
            <a:r>
              <a:rPr lang="en-US" dirty="0"/>
              <a:t>. Due to </a:t>
            </a:r>
            <a:r>
              <a:rPr lang="en-US" dirty="0" err="1"/>
              <a:t>intersitng</a:t>
            </a:r>
            <a:r>
              <a:rPr lang="en-US" dirty="0"/>
              <a:t> </a:t>
            </a:r>
            <a:r>
              <a:rPr lang="en-US" dirty="0" err="1"/>
              <a:t>adioabatic</a:t>
            </a:r>
            <a:r>
              <a:rPr lang="en-US" dirty="0"/>
              <a:t> property</a:t>
            </a:r>
            <a:br>
              <a:rPr lang="en-US" dirty="0"/>
            </a:br>
            <a:br>
              <a:rPr lang="en-US" dirty="0"/>
            </a:br>
            <a:r>
              <a:rPr lang="en-US" dirty="0" err="1"/>
              <a:t>imprt</a:t>
            </a:r>
            <a:r>
              <a:rPr lang="en-US" dirty="0"/>
              <a:t> to ad the </a:t>
            </a:r>
            <a:r>
              <a:rPr lang="en-US" dirty="0" err="1"/>
              <a:t>thses</a:t>
            </a:r>
            <a:r>
              <a:rPr lang="en-US" dirty="0"/>
              <a:t> pulse are </a:t>
            </a:r>
            <a:r>
              <a:rPr lang="en-US" dirty="0" err="1"/>
              <a:t>infint</a:t>
            </a:r>
            <a:r>
              <a:rPr lang="en-US" dirty="0"/>
              <a:t> and hence need to be </a:t>
            </a:r>
            <a:r>
              <a:rPr lang="en-US" dirty="0" err="1"/>
              <a:t>cutted</a:t>
            </a:r>
            <a:br>
              <a:rPr lang="en-US" dirty="0"/>
            </a:br>
            <a:br>
              <a:rPr lang="en-US" dirty="0"/>
            </a:br>
            <a:r>
              <a:rPr lang="en-US" dirty="0"/>
              <a:t>A paper by </a:t>
            </a:r>
            <a:r>
              <a:rPr lang="en-IL" sz="1200" dirty="0"/>
              <a:t>Mihov</a:t>
            </a:r>
            <a:r>
              <a:rPr lang="en-US" sz="1200" dirty="0"/>
              <a:t> and Vitanov shown that the power </a:t>
            </a:r>
            <a:r>
              <a:rPr lang="en-US" sz="1200" dirty="0" err="1"/>
              <a:t>narrwojng</a:t>
            </a:r>
            <a:r>
              <a:rPr lang="en-US" sz="1200" dirty="0"/>
              <a:t> effect on </a:t>
            </a:r>
            <a:r>
              <a:rPr lang="en-US" sz="1200" dirty="0" err="1"/>
              <a:t>quboits</a:t>
            </a:r>
            <a:r>
              <a:rPr lang="en-US" sz="1200" dirty="0"/>
              <a:t> but for short pulses.</a:t>
            </a:r>
            <a:br>
              <a:rPr lang="en-US" sz="1200" dirty="0"/>
            </a:br>
            <a:br>
              <a:rPr lang="en-US" sz="1200" dirty="0"/>
            </a:br>
            <a:br>
              <a:rPr lang="en-US" sz="1200" dirty="0"/>
            </a:br>
            <a:r>
              <a:rPr lang="en-US" sz="1200" dirty="0"/>
              <a:t>They uses the </a:t>
            </a:r>
            <a:r>
              <a:rPr lang="en-US" sz="1200" dirty="0" err="1"/>
              <a:t>lornetizn</a:t>
            </a:r>
            <a:r>
              <a:rPr lang="en-US" sz="1200" dirty="0"/>
              <a:t> as pulse </a:t>
            </a:r>
            <a:br>
              <a:rPr lang="en-US" sz="1200" dirty="0"/>
            </a:br>
            <a:br>
              <a:rPr lang="en-US" sz="1200" dirty="0"/>
            </a:br>
            <a:br>
              <a:rPr lang="en-US" sz="1200" dirty="0"/>
            </a:br>
            <a:r>
              <a:rPr lang="en-US" sz="1200" dirty="0"/>
              <a:t> And </a:t>
            </a:r>
            <a:r>
              <a:rPr lang="en-US" sz="1200" dirty="0" err="1"/>
              <a:t>hemse</a:t>
            </a:r>
            <a:r>
              <a:rPr lang="en-US" sz="1200" dirty="0"/>
              <a:t> not </a:t>
            </a:r>
            <a:r>
              <a:rPr lang="en-US" sz="1200" dirty="0" err="1"/>
              <a:t>entring</a:t>
            </a:r>
            <a:r>
              <a:rPr lang="en-US" sz="1200" dirty="0"/>
              <a:t> the ultra high </a:t>
            </a:r>
            <a:r>
              <a:rPr lang="en-US" sz="1200" dirty="0" err="1"/>
              <a:t>rsultiomn</a:t>
            </a:r>
            <a:r>
              <a:rPr lang="en-US" sz="1200" dirty="0"/>
              <a:t>. Our novelty is first </a:t>
            </a:r>
            <a:r>
              <a:rPr lang="en-US" sz="1200" dirty="0" err="1"/>
              <a:t>incraes</a:t>
            </a:r>
            <a:r>
              <a:rPr lang="en-US" sz="1200" dirty="0"/>
              <a:t> the pulse length and also</a:t>
            </a:r>
            <a:br>
              <a:rPr lang="en-US" dirty="0"/>
            </a:br>
            <a:br>
              <a:rPr lang="en-US" dirty="0"/>
            </a:br>
            <a:r>
              <a:rPr lang="en-IL" dirty="0"/>
              <a:t>To overcome the power broadening, we explore an alternative pulse shape instead of the conventional square pulse.</a:t>
            </a:r>
            <a:endParaRPr lang="en-US" dirty="0"/>
          </a:p>
          <a:p>
            <a:pPr algn="l" rtl="0"/>
            <a:endParaRPr lang="en-IL" dirty="0"/>
          </a:p>
          <a:p>
            <a:pPr algn="l" rtl="0"/>
            <a:r>
              <a:rPr lang="en-IL" dirty="0"/>
              <a:t>We focus on the </a:t>
            </a:r>
            <a:r>
              <a:rPr lang="en-IL" b="1" dirty="0"/>
              <a:t>root Lorentzian pulse</a:t>
            </a:r>
            <a:r>
              <a:rPr lang="en-IL" dirty="0"/>
              <a:t>, shown here. Previous work has shown that Lorentzian pulses can exhibit </a:t>
            </a:r>
            <a:r>
              <a:rPr lang="en-IL" b="1" dirty="0"/>
              <a:t>power narrowing</a:t>
            </a:r>
            <a:r>
              <a:rPr lang="en-IL" dirty="0"/>
              <a:t>, meaning that under the right conditions the resonance can become narrower rather than broader as the drive strength increases.</a:t>
            </a:r>
            <a:endParaRPr lang="en-US" dirty="0"/>
          </a:p>
          <a:p>
            <a:pPr algn="l" rtl="0"/>
            <a:endParaRPr lang="en-IL" dirty="0"/>
          </a:p>
          <a:p>
            <a:pPr algn="l" rtl="0"/>
            <a:r>
              <a:rPr lang="en-IL" dirty="0"/>
              <a:t>Our main contribution is introducing an </a:t>
            </a:r>
            <a:r>
              <a:rPr lang="en-IL" b="1" dirty="0"/>
              <a:t>echo version</a:t>
            </a:r>
            <a:r>
              <a:rPr lang="en-IL" dirty="0"/>
              <a:t> of this pulse. The pulse envelope remains the same, but its sign changes exactly at the </a:t>
            </a:r>
            <a:r>
              <a:rPr lang="en-IL" dirty="0" err="1"/>
              <a:t>center</a:t>
            </a:r>
            <a:r>
              <a:rPr lang="en-IL" dirty="0"/>
              <a:t>, corresponding to a π phase flip during the pulse.</a:t>
            </a:r>
          </a:p>
          <a:p>
            <a:pPr algn="l" rtl="0"/>
            <a:r>
              <a:rPr lang="en-IL" dirty="0"/>
              <a:t>This simple modification turns out to significantly improve the spectroscopy performance, as I'll show in the following results.</a:t>
            </a:r>
          </a:p>
          <a:p>
            <a:pPr algn="l" rtl="0"/>
            <a:endParaRPr lang="en-IL" dirty="0"/>
          </a:p>
        </p:txBody>
      </p:sp>
      <p:sp>
        <p:nvSpPr>
          <p:cNvPr id="4" name="Slide Number Placeholder 3">
            <a:extLst>
              <a:ext uri="{FF2B5EF4-FFF2-40B4-BE49-F238E27FC236}">
                <a16:creationId xmlns:a16="http://schemas.microsoft.com/office/drawing/2014/main" id="{97E804A4-8478-A163-2220-E80BDA3E1AA3}"/>
              </a:ext>
            </a:extLst>
          </p:cNvPr>
          <p:cNvSpPr>
            <a:spLocks noGrp="1"/>
          </p:cNvSpPr>
          <p:nvPr>
            <p:ph type="sldNum" sz="quarter" idx="5"/>
          </p:nvPr>
        </p:nvSpPr>
        <p:spPr/>
        <p:txBody>
          <a:bodyPr/>
          <a:lstStyle/>
          <a:p>
            <a:fld id="{F5A1688F-B466-7A4C-8F3E-17D2A85EF135}" type="slidenum">
              <a:rPr lang="he-IL" smtClean="0"/>
              <a:t>12</a:t>
            </a:fld>
            <a:endParaRPr lang="he-IL"/>
          </a:p>
        </p:txBody>
      </p:sp>
    </p:spTree>
    <p:extLst>
      <p:ext uri="{BB962C8B-B14F-4D97-AF65-F5344CB8AC3E}">
        <p14:creationId xmlns:p14="http://schemas.microsoft.com/office/powerpoint/2010/main" val="1526522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F5A1688F-B466-7A4C-8F3E-17D2A85EF135}" type="slidenum">
              <a:rPr lang="he-IL" smtClean="0"/>
              <a:t>14</a:t>
            </a:fld>
            <a:endParaRPr lang="he-IL"/>
          </a:p>
        </p:txBody>
      </p:sp>
    </p:spTree>
    <p:extLst>
      <p:ext uri="{BB962C8B-B14F-4D97-AF65-F5344CB8AC3E}">
        <p14:creationId xmlns:p14="http://schemas.microsoft.com/office/powerpoint/2010/main" val="3572456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E64C2-8424-DDE7-439D-0A2DC3736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51E54-ACF5-693A-77A2-27785E8E2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35914-B19A-D407-4BF1-032AAC3750F6}"/>
              </a:ext>
            </a:extLst>
          </p:cNvPr>
          <p:cNvSpPr>
            <a:spLocks noGrp="1"/>
          </p:cNvSpPr>
          <p:nvPr>
            <p:ph type="body" idx="1"/>
          </p:nvPr>
        </p:nvSpPr>
        <p:spPr/>
        <p:txBody>
          <a:bodyPr/>
          <a:lstStyle/>
          <a:p>
            <a:pPr algn="l" rtl="0"/>
            <a:r>
              <a:rPr lang="en-IL" dirty="0"/>
              <a:t>Here I repeated the same scan for the </a:t>
            </a:r>
            <a:r>
              <a:rPr lang="en-IL" b="1" dirty="0"/>
              <a:t>regular Lorentzian pulse</a:t>
            </a:r>
            <a:r>
              <a:rPr lang="en-IL" dirty="0"/>
              <a:t>.</a:t>
            </a:r>
            <a:endParaRPr lang="en-US" dirty="0"/>
          </a:p>
          <a:p>
            <a:pPr algn="l" rtl="0"/>
            <a:endParaRPr lang="en-IL" dirty="0"/>
          </a:p>
          <a:p>
            <a:pPr algn="l" rtl="0"/>
            <a:r>
              <a:rPr lang="en-IL" dirty="0"/>
              <a:t>Unlike the echo pulse, the linewidth increases much earlier with drive amplitude and shows oscillatory regions due to the pulse dynamics. The optimal region is therefore much smaller and more sensitive to the choice of cutoff.</a:t>
            </a:r>
            <a:endParaRPr lang="en-US" dirty="0"/>
          </a:p>
          <a:p>
            <a:pPr algn="l" rtl="0"/>
            <a:endParaRPr lang="en-IL" dirty="0"/>
          </a:p>
          <a:p>
            <a:pPr algn="l" rtl="0"/>
            <a:r>
              <a:rPr lang="en-IL" b="1" dirty="0"/>
              <a:t>The takeaway is that the standard Lorentzian is much less robust, requiring careful tuning of both amplitude and cutoff to maintain a narrow linewidth and good signal.</a:t>
            </a:r>
            <a:endParaRPr lang="en-IL" dirty="0"/>
          </a:p>
          <a:p>
            <a:pPr algn="l" rtl="0"/>
            <a:endParaRPr lang="en-IL" dirty="0"/>
          </a:p>
        </p:txBody>
      </p:sp>
      <p:sp>
        <p:nvSpPr>
          <p:cNvPr id="4" name="Slide Number Placeholder 3">
            <a:extLst>
              <a:ext uri="{FF2B5EF4-FFF2-40B4-BE49-F238E27FC236}">
                <a16:creationId xmlns:a16="http://schemas.microsoft.com/office/drawing/2014/main" id="{6EAC8E5D-EA76-033E-DC61-BDE45EB0CD6F}"/>
              </a:ext>
            </a:extLst>
          </p:cNvPr>
          <p:cNvSpPr>
            <a:spLocks noGrp="1"/>
          </p:cNvSpPr>
          <p:nvPr>
            <p:ph type="sldNum" sz="quarter" idx="5"/>
          </p:nvPr>
        </p:nvSpPr>
        <p:spPr/>
        <p:txBody>
          <a:bodyPr/>
          <a:lstStyle/>
          <a:p>
            <a:fld id="{F5A1688F-B466-7A4C-8F3E-17D2A85EF135}" type="slidenum">
              <a:rPr lang="he-IL" smtClean="0"/>
              <a:t>15</a:t>
            </a:fld>
            <a:endParaRPr lang="he-IL"/>
          </a:p>
        </p:txBody>
      </p:sp>
    </p:spTree>
    <p:extLst>
      <p:ext uri="{BB962C8B-B14F-4D97-AF65-F5344CB8AC3E}">
        <p14:creationId xmlns:p14="http://schemas.microsoft.com/office/powerpoint/2010/main" val="2916053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35242-B1AE-8E5A-26AB-AD4CD3351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FED5B-419E-9C69-474E-372C0F23A202}"/>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FD777404-4B3C-422E-0936-E1DBB8BF1D9E}"/>
                  </a:ext>
                </a:extLst>
              </p:cNvPr>
              <p:cNvSpPr>
                <a:spLocks noGrp="1"/>
              </p:cNvSpPr>
              <p:nvPr>
                <p:ph type="body" idx="1"/>
              </p:nvPr>
            </p:nvSpPr>
            <p:spPr/>
            <p:txBody>
              <a:bodyPr/>
              <a:lstStyle/>
              <a:p>
                <a:pPr algn="l" rtl="0"/>
                <a:endParaRPr lang="en-US" dirty="0"/>
              </a:p>
              <a:p>
                <a:pPr algn="l" rtl="0"/>
                <a:endParaRPr lang="en-US" dirty="0"/>
              </a:p>
              <a:p>
                <a:pPr algn="l" rtl="0"/>
                <a:r>
                  <a:rPr lang="en-IL" dirty="0"/>
                  <a:t>Here I scanned the </a:t>
                </a:r>
                <a:r>
                  <a:rPr lang="en-IL" b="1" dirty="0"/>
                  <a:t>drive amplitude</a:t>
                </a:r>
                <a:r>
                  <a:rPr lang="en-IL" dirty="0"/>
                  <a:t> and the </a:t>
                </a:r>
                <a:r>
                  <a:rPr lang="en-IL" b="1" dirty="0"/>
                  <a:t>cutoff</a:t>
                </a:r>
                <a:r>
                  <a:rPr lang="en-IL" dirty="0"/>
                  <a:t> of the echo-Lorentzian pulse.</a:t>
                </a:r>
                <a:endParaRPr lang="en-US" dirty="0"/>
              </a:p>
              <a:p>
                <a:pPr algn="l" rtl="0"/>
                <a:endParaRPr lang="en-IL" dirty="0"/>
              </a:p>
              <a:p>
                <a:pPr algn="l" rtl="0"/>
                <a:r>
                  <a:rPr lang="en-IL" dirty="0"/>
                  <a:t>The left panel shows the linewidth normalized to the </a:t>
                </a:r>
                <a14:m>
                  <m:oMath xmlns:m="http://schemas.openxmlformats.org/officeDocument/2006/math">
                    <m:sSub>
                      <m:sSubPr>
                        <m:ctrlPr>
                          <a:rPr lang="en-IL" sz="1200" kern="1200">
                            <a:solidFill>
                              <a:schemeClr val="tx1"/>
                            </a:solidFill>
                            <a:latin typeface="+mn-lt"/>
                            <a:ea typeface="+mn-ea"/>
                            <a:cs typeface="+mn-cs"/>
                          </a:rPr>
                        </m:ctrlPr>
                      </m:sSubPr>
                      <m:e>
                        <m:r>
                          <a:rPr lang="en-IL" sz="1200" i="1" kern="1200">
                            <a:solidFill>
                              <a:schemeClr val="tx1"/>
                            </a:solidFill>
                            <a:latin typeface="+mn-lt"/>
                            <a:ea typeface="+mn-ea"/>
                            <a:cs typeface="+mn-cs"/>
                          </a:rPr>
                          <m:t>𝑇</m:t>
                        </m:r>
                      </m:e>
                      <m:sub>
                        <m:r>
                          <a:rPr lang="en-IL" sz="1200" i="0" kern="1200">
                            <a:solidFill>
                              <a:schemeClr val="tx1"/>
                            </a:solidFill>
                            <a:latin typeface="+mn-lt"/>
                            <a:ea typeface="+mn-ea"/>
                            <a:cs typeface="+mn-cs"/>
                          </a:rPr>
                          <m:t>2</m:t>
                        </m:r>
                      </m:sub>
                    </m:sSub>
                  </m:oMath>
                </a14:m>
                <a:r>
                  <a:rPr lang="en-IL" b="1" dirty="0"/>
                  <a:t>limit</a:t>
                </a:r>
                <a:r>
                  <a:rPr lang="en-IL" dirty="0"/>
                  <a:t>. For low and moderate amplitudes, the linewidth stays close to the </a:t>
                </a:r>
                <a14:m>
                  <m:oMath xmlns:m="http://schemas.openxmlformats.org/officeDocument/2006/math">
                    <m:sSub>
                      <m:sSubPr>
                        <m:ctrlPr>
                          <a:rPr lang="en-IL" sz="1200" kern="1200">
                            <a:solidFill>
                              <a:schemeClr val="tx1"/>
                            </a:solidFill>
                            <a:latin typeface="+mn-lt"/>
                            <a:ea typeface="+mn-ea"/>
                            <a:cs typeface="+mn-cs"/>
                          </a:rPr>
                        </m:ctrlPr>
                      </m:sSubPr>
                      <m:e>
                        <m:r>
                          <a:rPr lang="en-IL" sz="1200" i="1" kern="1200">
                            <a:solidFill>
                              <a:schemeClr val="tx1"/>
                            </a:solidFill>
                            <a:latin typeface="+mn-lt"/>
                            <a:ea typeface="+mn-ea"/>
                            <a:cs typeface="+mn-cs"/>
                          </a:rPr>
                          <m:t>𝑇</m:t>
                        </m:r>
                      </m:e>
                      <m:sub>
                        <m:r>
                          <a:rPr lang="en-IL" sz="1200" i="0" kern="1200">
                            <a:solidFill>
                              <a:schemeClr val="tx1"/>
                            </a:solidFill>
                            <a:latin typeface="+mn-lt"/>
                            <a:ea typeface="+mn-ea"/>
                            <a:cs typeface="+mn-cs"/>
                          </a:rPr>
                          <m:t>2</m:t>
                        </m:r>
                      </m:sub>
                    </m:sSub>
                  </m:oMath>
                </a14:m>
                <a:r>
                  <a:rPr lang="en-IL" dirty="0"/>
                  <a:t>limit over a wide range of cutoffs. At higher amplitudes, power broadening appears, but increasing the cutoff pushes this transition to higher powers.</a:t>
                </a:r>
                <a:endParaRPr lang="en-US" dirty="0"/>
              </a:p>
              <a:p>
                <a:pPr algn="l" rtl="0"/>
                <a:endParaRPr lang="en-IL" dirty="0"/>
              </a:p>
              <a:p>
                <a:pPr algn="l" rtl="0"/>
                <a:r>
                  <a:rPr lang="en-IL" dirty="0"/>
                  <a:t>The right panel includes the signal. The diagonal band marks the optimal operating region, where we achieve both </a:t>
                </a:r>
                <a:r>
                  <a:rPr lang="en-IL" b="1" dirty="0"/>
                  <a:t>near-</a:t>
                </a:r>
                <a14:m>
                  <m:oMath xmlns:m="http://schemas.openxmlformats.org/officeDocument/2006/math">
                    <m:sSub>
                      <m:sSubPr>
                        <m:ctrlPr>
                          <a:rPr lang="en-IL" sz="1200" kern="1200">
                            <a:solidFill>
                              <a:schemeClr val="tx1"/>
                            </a:solidFill>
                            <a:latin typeface="+mn-lt"/>
                            <a:ea typeface="+mn-ea"/>
                            <a:cs typeface="+mn-cs"/>
                          </a:rPr>
                        </m:ctrlPr>
                      </m:sSubPr>
                      <m:e>
                        <m:r>
                          <a:rPr lang="en-IL" sz="1200" i="1" kern="1200">
                            <a:solidFill>
                              <a:schemeClr val="tx1"/>
                            </a:solidFill>
                            <a:latin typeface="+mn-lt"/>
                            <a:ea typeface="+mn-ea"/>
                            <a:cs typeface="+mn-cs"/>
                          </a:rPr>
                          <m:t>𝑇</m:t>
                        </m:r>
                      </m:e>
                      <m:sub>
                        <m:r>
                          <a:rPr lang="en-IL" sz="1200" i="0" kern="1200">
                            <a:solidFill>
                              <a:schemeClr val="tx1"/>
                            </a:solidFill>
                            <a:latin typeface="+mn-lt"/>
                            <a:ea typeface="+mn-ea"/>
                            <a:cs typeface="+mn-cs"/>
                          </a:rPr>
                          <m:t>2</m:t>
                        </m:r>
                      </m:sub>
                    </m:sSub>
                  </m:oMath>
                </a14:m>
                <a:r>
                  <a:rPr lang="en-IL" b="1" dirty="0"/>
                  <a:t>-limited resolution</a:t>
                </a:r>
                <a:r>
                  <a:rPr lang="en-IL" dirty="0"/>
                  <a:t> and </a:t>
                </a:r>
                <a:r>
                  <a:rPr lang="en-IL" b="1" dirty="0"/>
                  <a:t>strong signal</a:t>
                </a:r>
                <a:r>
                  <a:rPr lang="en-IL" dirty="0"/>
                  <a:t>.</a:t>
                </a:r>
                <a:endParaRPr lang="en-US" dirty="0"/>
              </a:p>
              <a:p>
                <a:pPr algn="l" rtl="0"/>
                <a:endParaRPr lang="en-IL" dirty="0"/>
              </a:p>
              <a:p>
                <a:pPr algn="l" rtl="0"/>
                <a:r>
                  <a:rPr lang="en-IL" b="1" dirty="0"/>
                  <a:t>The takeaway is that the cutoff is an important optimization parameter, allowing us to use higher drive powers without sacrificing spectral resolution.</a:t>
                </a:r>
                <a:endParaRPr lang="en-IL" dirty="0"/>
              </a:p>
              <a:p>
                <a:pPr algn="l" rtl="0"/>
                <a:endParaRPr lang="en-IL" dirty="0"/>
              </a:p>
            </p:txBody>
          </p:sp>
        </mc:Choice>
        <mc:Fallback>
          <p:sp>
            <p:nvSpPr>
              <p:cNvPr id="3" name="Notes Placeholder 2">
                <a:extLst>
                  <a:ext uri="{FF2B5EF4-FFF2-40B4-BE49-F238E27FC236}">
                    <a16:creationId xmlns:a16="http://schemas.microsoft.com/office/drawing/2014/main" id="{FD777404-4B3C-422E-0936-E1DBB8BF1D9E}"/>
                  </a:ext>
                </a:extLst>
              </p:cNvPr>
              <p:cNvSpPr>
                <a:spLocks noGrp="1"/>
              </p:cNvSpPr>
              <p:nvPr>
                <p:ph type="body" idx="1"/>
              </p:nvPr>
            </p:nvSpPr>
            <p:spPr/>
            <p:txBody>
              <a:bodyPr/>
              <a:lstStyle/>
              <a:p>
                <a:pPr algn="l" rtl="0"/>
                <a:endParaRPr lang="en-US" dirty="0"/>
              </a:p>
              <a:p>
                <a:pPr algn="l" rtl="0"/>
                <a:endParaRPr lang="en-US" dirty="0"/>
              </a:p>
              <a:p>
                <a:pPr algn="l" rtl="0"/>
                <a:r>
                  <a:rPr lang="en-IL" dirty="0"/>
                  <a:t>Here I scanned the </a:t>
                </a:r>
                <a:r>
                  <a:rPr lang="en-IL" b="1" dirty="0"/>
                  <a:t>drive amplitude</a:t>
                </a:r>
                <a:r>
                  <a:rPr lang="en-IL" dirty="0"/>
                  <a:t> and the </a:t>
                </a:r>
                <a:r>
                  <a:rPr lang="en-IL" b="1" dirty="0"/>
                  <a:t>cutoff</a:t>
                </a:r>
                <a:r>
                  <a:rPr lang="en-IL" dirty="0"/>
                  <a:t> of the echo-Lorentzian pulse.</a:t>
                </a:r>
                <a:endParaRPr lang="en-US" dirty="0"/>
              </a:p>
              <a:p>
                <a:pPr algn="l" rtl="0"/>
                <a:endParaRPr lang="en-IL" dirty="0"/>
              </a:p>
              <a:p>
                <a:pPr algn="l" rtl="0"/>
                <a:r>
                  <a:rPr lang="en-IL" dirty="0"/>
                  <a:t>The left panel shows the linewidth normalized to the </a:t>
                </a:r>
                <a:r>
                  <a:rPr lang="en-IL" sz="1200" i="0" kern="1200">
                    <a:solidFill>
                      <a:schemeClr val="tx1"/>
                    </a:solidFill>
                    <a:latin typeface="+mn-lt"/>
                    <a:ea typeface="+mn-ea"/>
                    <a:cs typeface="+mn-cs"/>
                  </a:rPr>
                  <a:t>𝑇_2</a:t>
                </a:r>
                <a:r>
                  <a:rPr lang="en-IL" b="1" dirty="0"/>
                  <a:t>limit</a:t>
                </a:r>
                <a:r>
                  <a:rPr lang="en-IL" dirty="0"/>
                  <a:t>. For low and moderate amplitudes, the linewidth stays close to the </a:t>
                </a:r>
                <a:r>
                  <a:rPr lang="en-IL" sz="1200" i="0" kern="1200">
                    <a:solidFill>
                      <a:schemeClr val="tx1"/>
                    </a:solidFill>
                    <a:latin typeface="+mn-lt"/>
                    <a:ea typeface="+mn-ea"/>
                    <a:cs typeface="+mn-cs"/>
                  </a:rPr>
                  <a:t>𝑇_2</a:t>
                </a:r>
                <a:r>
                  <a:rPr lang="en-IL" dirty="0"/>
                  <a:t>limit over a wide range of cutoffs. At higher amplitudes, power broadening appears, but increasing the cutoff pushes this transition to higher powers.</a:t>
                </a:r>
                <a:endParaRPr lang="en-US" dirty="0"/>
              </a:p>
              <a:p>
                <a:pPr algn="l" rtl="0"/>
                <a:endParaRPr lang="en-IL" dirty="0"/>
              </a:p>
              <a:p>
                <a:pPr algn="l" rtl="0"/>
                <a:r>
                  <a:rPr lang="en-IL" dirty="0"/>
                  <a:t>The right panel includes the signal. The diagonal band marks the optimal operating region, where we achieve both </a:t>
                </a:r>
                <a:r>
                  <a:rPr lang="en-IL" b="1" dirty="0"/>
                  <a:t>near-</a:t>
                </a:r>
                <a:r>
                  <a:rPr lang="en-IL" sz="1200" i="0" kern="1200">
                    <a:solidFill>
                      <a:schemeClr val="tx1"/>
                    </a:solidFill>
                    <a:latin typeface="+mn-lt"/>
                    <a:ea typeface="+mn-ea"/>
                    <a:cs typeface="+mn-cs"/>
                  </a:rPr>
                  <a:t>𝑇_2</a:t>
                </a:r>
                <a:r>
                  <a:rPr lang="en-IL" b="1" dirty="0"/>
                  <a:t>-limited resolution</a:t>
                </a:r>
                <a:r>
                  <a:rPr lang="en-IL" dirty="0"/>
                  <a:t> and </a:t>
                </a:r>
                <a:r>
                  <a:rPr lang="en-IL" b="1" dirty="0"/>
                  <a:t>strong signal</a:t>
                </a:r>
                <a:r>
                  <a:rPr lang="en-IL" dirty="0"/>
                  <a:t>.</a:t>
                </a:r>
                <a:endParaRPr lang="en-US" dirty="0"/>
              </a:p>
              <a:p>
                <a:pPr algn="l" rtl="0"/>
                <a:endParaRPr lang="en-IL" dirty="0"/>
              </a:p>
              <a:p>
                <a:pPr algn="l" rtl="0"/>
                <a:r>
                  <a:rPr lang="en-IL" b="1" dirty="0"/>
                  <a:t>The takeaway is that the cutoff is an important optimization parameter, allowing us to use higher drive powers without sacrificing spectral resolution.</a:t>
                </a:r>
                <a:endParaRPr lang="en-IL" dirty="0"/>
              </a:p>
              <a:p>
                <a:pPr algn="l" rtl="0"/>
                <a:endParaRPr lang="en-IL" dirty="0"/>
              </a:p>
            </p:txBody>
          </p:sp>
        </mc:Fallback>
      </mc:AlternateContent>
      <p:sp>
        <p:nvSpPr>
          <p:cNvPr id="4" name="Slide Number Placeholder 3">
            <a:extLst>
              <a:ext uri="{FF2B5EF4-FFF2-40B4-BE49-F238E27FC236}">
                <a16:creationId xmlns:a16="http://schemas.microsoft.com/office/drawing/2014/main" id="{30CE6B82-1C9A-3148-1217-914B954BD5D8}"/>
              </a:ext>
            </a:extLst>
          </p:cNvPr>
          <p:cNvSpPr>
            <a:spLocks noGrp="1"/>
          </p:cNvSpPr>
          <p:nvPr>
            <p:ph type="sldNum" sz="quarter" idx="5"/>
          </p:nvPr>
        </p:nvSpPr>
        <p:spPr/>
        <p:txBody>
          <a:bodyPr/>
          <a:lstStyle/>
          <a:p>
            <a:fld id="{F5A1688F-B466-7A4C-8F3E-17D2A85EF135}" type="slidenum">
              <a:rPr lang="he-IL" smtClean="0"/>
              <a:t>16</a:t>
            </a:fld>
            <a:endParaRPr lang="he-IL"/>
          </a:p>
        </p:txBody>
      </p:sp>
    </p:spTree>
    <p:extLst>
      <p:ext uri="{BB962C8B-B14F-4D97-AF65-F5344CB8AC3E}">
        <p14:creationId xmlns:p14="http://schemas.microsoft.com/office/powerpoint/2010/main" val="4237891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F5A1688F-B466-7A4C-8F3E-17D2A85EF135}" type="slidenum">
              <a:rPr lang="he-IL" smtClean="0"/>
              <a:t>17</a:t>
            </a:fld>
            <a:endParaRPr lang="he-IL"/>
          </a:p>
        </p:txBody>
      </p:sp>
    </p:spTree>
    <p:extLst>
      <p:ext uri="{BB962C8B-B14F-4D97-AF65-F5344CB8AC3E}">
        <p14:creationId xmlns:p14="http://schemas.microsoft.com/office/powerpoint/2010/main" val="600157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E9DB4-D02B-F37D-400C-3A456E046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93510-D2DC-CEF2-8948-4DD573225A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9A308-39D2-415B-8F6C-5B4AF8A10352}"/>
              </a:ext>
            </a:extLst>
          </p:cNvPr>
          <p:cNvSpPr>
            <a:spLocks noGrp="1"/>
          </p:cNvSpPr>
          <p:nvPr>
            <p:ph type="body" idx="1"/>
          </p:nvPr>
        </p:nvSpPr>
        <p:spPr/>
        <p:txBody>
          <a:bodyPr/>
          <a:lstStyle/>
          <a:p>
            <a:pPr marL="0" algn="l" defTabSz="914400" rtl="0" eaLnBrk="1" latinLnBrk="0" hangingPunct="1"/>
            <a:endParaRPr lang="en-IL" dirty="0"/>
          </a:p>
        </p:txBody>
      </p:sp>
      <p:sp>
        <p:nvSpPr>
          <p:cNvPr id="4" name="Slide Number Placeholder 3">
            <a:extLst>
              <a:ext uri="{FF2B5EF4-FFF2-40B4-BE49-F238E27FC236}">
                <a16:creationId xmlns:a16="http://schemas.microsoft.com/office/drawing/2014/main" id="{EDBF8A3A-5894-2CB7-1120-2A5BB9F75253}"/>
              </a:ext>
            </a:extLst>
          </p:cNvPr>
          <p:cNvSpPr>
            <a:spLocks noGrp="1"/>
          </p:cNvSpPr>
          <p:nvPr>
            <p:ph type="sldNum" sz="quarter" idx="5"/>
          </p:nvPr>
        </p:nvSpPr>
        <p:spPr/>
        <p:txBody>
          <a:bodyPr/>
          <a:lstStyle/>
          <a:p>
            <a:fld id="{F5A1688F-B466-7A4C-8F3E-17D2A85EF135}" type="slidenum">
              <a:rPr lang="he-IL" smtClean="0"/>
              <a:t>18</a:t>
            </a:fld>
            <a:endParaRPr lang="he-IL"/>
          </a:p>
        </p:txBody>
      </p:sp>
    </p:spTree>
    <p:extLst>
      <p:ext uri="{BB962C8B-B14F-4D97-AF65-F5344CB8AC3E}">
        <p14:creationId xmlns:p14="http://schemas.microsoft.com/office/powerpoint/2010/main" val="1358946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7633A-4C51-3621-3480-4C20362E1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8B83D-D8D6-23F1-2DB0-4D9304B9C0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D9121-F938-A52B-4444-ECA30C15AFE2}"/>
              </a:ext>
            </a:extLst>
          </p:cNvPr>
          <p:cNvSpPr>
            <a:spLocks noGrp="1"/>
          </p:cNvSpPr>
          <p:nvPr>
            <p:ph type="body" idx="1"/>
          </p:nvPr>
        </p:nvSpPr>
        <p:spPr/>
        <p:txBody>
          <a:bodyPr/>
          <a:lstStyle/>
          <a:p>
            <a:pPr marL="0" algn="l" defTabSz="914400" rtl="0" eaLnBrk="1" latinLnBrk="0" hangingPunct="1"/>
            <a:endParaRPr lang="en-IL" dirty="0"/>
          </a:p>
        </p:txBody>
      </p:sp>
      <p:sp>
        <p:nvSpPr>
          <p:cNvPr id="4" name="Slide Number Placeholder 3">
            <a:extLst>
              <a:ext uri="{FF2B5EF4-FFF2-40B4-BE49-F238E27FC236}">
                <a16:creationId xmlns:a16="http://schemas.microsoft.com/office/drawing/2014/main" id="{CB7E752F-2CE6-F56B-208F-FA5E70AF430D}"/>
              </a:ext>
            </a:extLst>
          </p:cNvPr>
          <p:cNvSpPr>
            <a:spLocks noGrp="1"/>
          </p:cNvSpPr>
          <p:nvPr>
            <p:ph type="sldNum" sz="quarter" idx="5"/>
          </p:nvPr>
        </p:nvSpPr>
        <p:spPr/>
        <p:txBody>
          <a:bodyPr/>
          <a:lstStyle/>
          <a:p>
            <a:fld id="{F5A1688F-B466-7A4C-8F3E-17D2A85EF135}" type="slidenum">
              <a:rPr lang="he-IL" smtClean="0"/>
              <a:t>19</a:t>
            </a:fld>
            <a:endParaRPr lang="he-IL"/>
          </a:p>
        </p:txBody>
      </p:sp>
    </p:spTree>
    <p:extLst>
      <p:ext uri="{BB962C8B-B14F-4D97-AF65-F5344CB8AC3E}">
        <p14:creationId xmlns:p14="http://schemas.microsoft.com/office/powerpoint/2010/main" val="25004236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שקופית כותרת">
    <p:bg>
      <p:bgPr>
        <a:blipFill>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163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68753D6-1B0E-1004-2F2C-1DEEA389171C}"/>
              </a:ext>
            </a:extLst>
          </p:cNvPr>
          <p:cNvSpPr>
            <a:spLocks noGrp="1"/>
          </p:cNvSpPr>
          <p:nvPr>
            <p:ph type="title"/>
          </p:nvPr>
        </p:nvSpPr>
        <p:spPr>
          <a:xfrm>
            <a:off x="838200" y="365125"/>
            <a:ext cx="10515600" cy="1325563"/>
          </a:xfrm>
          <a:prstGeom prst="rect">
            <a:avLst/>
          </a:prstGeom>
        </p:spPr>
        <p:txBody>
          <a:bodyPr/>
          <a:lstStyle/>
          <a:p>
            <a:r>
              <a:rPr lang="he-IL">
                <a:latin typeface="Sana"/>
                <a:ea typeface="Sana"/>
                <a:cs typeface="Sana"/>
              </a:rPr>
              <a:t>לחץ כדי לערוך סגנון כותרת של תבנית בסיס</a:t>
            </a:r>
          </a:p>
        </p:txBody>
      </p:sp>
      <p:sp>
        <p:nvSpPr>
          <p:cNvPr id="3" name="מציין מיקום תוכן 2">
            <a:extLst>
              <a:ext uri="{FF2B5EF4-FFF2-40B4-BE49-F238E27FC236}">
                <a16:creationId xmlns:a16="http://schemas.microsoft.com/office/drawing/2014/main" id="{1178F318-3E84-99FC-E8E1-54DF95CD513E}"/>
              </a:ext>
            </a:extLst>
          </p:cNvPr>
          <p:cNvSpPr>
            <a:spLocks noGrp="1"/>
          </p:cNvSpPr>
          <p:nvPr>
            <p:ph idx="1"/>
          </p:nvPr>
        </p:nvSpPr>
        <p:spPr>
          <a:xfrm>
            <a:off x="838200" y="1825625"/>
            <a:ext cx="10515600" cy="4351338"/>
          </a:xfrm>
          <a:prstGeom prst="rect">
            <a:avLst/>
          </a:prstGeom>
        </p:spPr>
        <p:txBody>
          <a:bodyPr/>
          <a:lstStyle/>
          <a:p>
            <a:pPr lvl="0"/>
            <a:r>
              <a:rPr lang="he-IL">
                <a:latin typeface="Sana"/>
                <a:ea typeface="Sana"/>
                <a:cs typeface="Sana"/>
              </a:rPr>
              <a:t>לחץ כדי לערוך סגנונות טקסט של תבנית בסיס</a:t>
            </a:r>
          </a:p>
          <a:p>
            <a:pPr lvl="1"/>
            <a:r>
              <a:rPr lang="he-IL">
                <a:latin typeface="Sana"/>
                <a:ea typeface="Sana"/>
                <a:cs typeface="Sana"/>
              </a:rPr>
              <a:t>רמה שנייה</a:t>
            </a:r>
          </a:p>
          <a:p>
            <a:pPr lvl="2"/>
            <a:r>
              <a:rPr lang="he-IL">
                <a:latin typeface="Sana"/>
                <a:ea typeface="Sana"/>
                <a:cs typeface="Sana"/>
              </a:rPr>
              <a:t>רמה שלישית</a:t>
            </a:r>
          </a:p>
          <a:p>
            <a:pPr lvl="3"/>
            <a:r>
              <a:rPr lang="he-IL">
                <a:latin typeface="Sana"/>
                <a:ea typeface="Sana"/>
                <a:cs typeface="Sana"/>
              </a:rPr>
              <a:t>רמה רביעית</a:t>
            </a:r>
          </a:p>
          <a:p>
            <a:pPr lvl="4"/>
            <a:r>
              <a:rPr lang="he-IL">
                <a:latin typeface="Sana"/>
                <a:ea typeface="Sana"/>
                <a:cs typeface="Sana"/>
              </a:rPr>
              <a:t>רמה חמישית</a:t>
            </a:r>
          </a:p>
        </p:txBody>
      </p:sp>
      <p:sp>
        <p:nvSpPr>
          <p:cNvPr id="4" name="מציין מיקום של תאריך 3">
            <a:extLst>
              <a:ext uri="{FF2B5EF4-FFF2-40B4-BE49-F238E27FC236}">
                <a16:creationId xmlns:a16="http://schemas.microsoft.com/office/drawing/2014/main" id="{8BBCD96D-9E02-F4A6-5EBB-54401FD79B24}"/>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5" name="מציין מיקום של כותרת תחתונה 4">
            <a:extLst>
              <a:ext uri="{FF2B5EF4-FFF2-40B4-BE49-F238E27FC236}">
                <a16:creationId xmlns:a16="http://schemas.microsoft.com/office/drawing/2014/main" id="{D23CC80A-DF4A-25ED-C652-6D62CA5411D7}"/>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6" name="מציין מיקום של מספר שקופית 5">
            <a:extLst>
              <a:ext uri="{FF2B5EF4-FFF2-40B4-BE49-F238E27FC236}">
                <a16:creationId xmlns:a16="http://schemas.microsoft.com/office/drawing/2014/main" id="{8F7D0188-E4DB-F040-83BF-6E84FF95CA70}"/>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3537415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53ABFC8-E225-B0C8-EF66-76BF0653B736}"/>
              </a:ext>
            </a:extLst>
          </p:cNvPr>
          <p:cNvSpPr>
            <a:spLocks noGrp="1"/>
          </p:cNvSpPr>
          <p:nvPr>
            <p:ph type="title"/>
          </p:nvPr>
        </p:nvSpPr>
        <p:spPr>
          <a:xfrm>
            <a:off x="831850" y="1709738"/>
            <a:ext cx="10515600" cy="2852737"/>
          </a:xfrm>
          <a:prstGeom prst="rect">
            <a:avLst/>
          </a:prstGeom>
        </p:spPr>
        <p:txBody>
          <a:bodyPr anchor="b"/>
          <a:lstStyle>
            <a:lvl1pPr>
              <a:defRPr sz="6000">
                <a:latin typeface="Sana"/>
                <a:ea typeface="Sana"/>
                <a:cs typeface="Sana"/>
              </a:defRPr>
            </a:lvl1pPr>
          </a:lstStyle>
          <a:p>
            <a:r>
              <a:rPr lang="he-IL">
                <a:latin typeface="Sana"/>
                <a:ea typeface="Sana"/>
                <a:cs typeface="Sana"/>
              </a:rPr>
              <a:t>לחץ כדי לערוך סגנון כותרת של תבנית בסיס</a:t>
            </a:r>
          </a:p>
        </p:txBody>
      </p:sp>
      <p:sp>
        <p:nvSpPr>
          <p:cNvPr id="3" name="מציין מיקום טקסט 2">
            <a:extLst>
              <a:ext uri="{FF2B5EF4-FFF2-40B4-BE49-F238E27FC236}">
                <a16:creationId xmlns:a16="http://schemas.microsoft.com/office/drawing/2014/main" id="{DAFE45A9-6463-D4D9-47B3-7D2AE0490B15}"/>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latin typeface="Sana"/>
                <a:ea typeface="Sana"/>
                <a:cs typeface="Sana"/>
              </a:defRPr>
            </a:lvl1pPr>
            <a:lvl2pPr marL="457200" indent="0">
              <a:buNone/>
              <a:defRPr sz="2000">
                <a:solidFill>
                  <a:schemeClr val="tx1">
                    <a:tint val="75000"/>
                  </a:schemeClr>
                </a:solidFill>
                <a:latin typeface="Sana"/>
                <a:ea typeface="Sana"/>
                <a:cs typeface="Sana"/>
              </a:defRPr>
            </a:lvl2pPr>
            <a:lvl3pPr marL="914400" indent="0">
              <a:buNone/>
              <a:defRPr sz="1800">
                <a:solidFill>
                  <a:schemeClr val="tx1">
                    <a:tint val="75000"/>
                  </a:schemeClr>
                </a:solidFill>
                <a:latin typeface="Sana"/>
                <a:ea typeface="Sana"/>
                <a:cs typeface="Sana"/>
              </a:defRPr>
            </a:lvl3pPr>
            <a:lvl4pPr marL="1371600" indent="0">
              <a:buNone/>
              <a:defRPr sz="1600">
                <a:solidFill>
                  <a:schemeClr val="tx1">
                    <a:tint val="75000"/>
                  </a:schemeClr>
                </a:solidFill>
                <a:latin typeface="Sana"/>
                <a:ea typeface="Sana"/>
                <a:cs typeface="Sana"/>
              </a:defRPr>
            </a:lvl4pPr>
            <a:lvl5pPr marL="1828800" indent="0">
              <a:buNone/>
              <a:defRPr sz="1600">
                <a:solidFill>
                  <a:schemeClr val="tx1">
                    <a:tint val="75000"/>
                  </a:schemeClr>
                </a:solidFill>
                <a:latin typeface="Sana"/>
                <a:ea typeface="Sana"/>
                <a:cs typeface="Sana"/>
              </a:defRPr>
            </a:lvl5pPr>
            <a:lvl6pPr marL="2286000" indent="0">
              <a:buNone/>
              <a:defRPr sz="1600">
                <a:solidFill>
                  <a:schemeClr val="tx1">
                    <a:tint val="75000"/>
                  </a:schemeClr>
                </a:solidFill>
                <a:latin typeface="Sana"/>
                <a:ea typeface="Sana"/>
                <a:cs typeface="Sana"/>
              </a:defRPr>
            </a:lvl6pPr>
            <a:lvl7pPr marL="2743200" indent="0">
              <a:buNone/>
              <a:defRPr sz="1600">
                <a:solidFill>
                  <a:schemeClr val="tx1">
                    <a:tint val="75000"/>
                  </a:schemeClr>
                </a:solidFill>
                <a:latin typeface="Sana"/>
                <a:ea typeface="Sana"/>
                <a:cs typeface="Sana"/>
              </a:defRPr>
            </a:lvl7pPr>
            <a:lvl8pPr marL="3200400" indent="0">
              <a:buNone/>
              <a:defRPr sz="1600">
                <a:solidFill>
                  <a:schemeClr val="tx1">
                    <a:tint val="75000"/>
                  </a:schemeClr>
                </a:solidFill>
                <a:latin typeface="Sana"/>
                <a:ea typeface="Sana"/>
                <a:cs typeface="Sana"/>
              </a:defRPr>
            </a:lvl8pPr>
            <a:lvl9pPr marL="3657600" indent="0">
              <a:buNone/>
              <a:defRPr sz="1600">
                <a:solidFill>
                  <a:schemeClr val="tx1">
                    <a:tint val="75000"/>
                  </a:schemeClr>
                </a:solidFill>
                <a:latin typeface="Sana"/>
                <a:ea typeface="Sana"/>
                <a:cs typeface="Sana"/>
              </a:defRPr>
            </a:lvl9pPr>
          </a:lstStyle>
          <a:p>
            <a:pPr lvl="0"/>
            <a:r>
              <a:rPr lang="he-IL">
                <a:latin typeface="Sana"/>
                <a:ea typeface="Sana"/>
                <a:cs typeface="Sana"/>
              </a:rPr>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ECAB8D42-B2A2-C09D-83D1-B0DD0048B3A2}"/>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5" name="מציין מיקום של כותרת תחתונה 4">
            <a:extLst>
              <a:ext uri="{FF2B5EF4-FFF2-40B4-BE49-F238E27FC236}">
                <a16:creationId xmlns:a16="http://schemas.microsoft.com/office/drawing/2014/main" id="{DB4D21C5-E032-8C9D-6BCA-6416C0B70551}"/>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6" name="מציין מיקום של מספר שקופית 5">
            <a:extLst>
              <a:ext uri="{FF2B5EF4-FFF2-40B4-BE49-F238E27FC236}">
                <a16:creationId xmlns:a16="http://schemas.microsoft.com/office/drawing/2014/main" id="{4FA036AA-F651-1115-A03E-0C74A888F5A5}"/>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3354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177778F-3514-8B62-CD47-F54A4790292B}"/>
              </a:ext>
            </a:extLst>
          </p:cNvPr>
          <p:cNvSpPr>
            <a:spLocks noGrp="1"/>
          </p:cNvSpPr>
          <p:nvPr>
            <p:ph type="title"/>
          </p:nvPr>
        </p:nvSpPr>
        <p:spPr>
          <a:xfrm>
            <a:off x="838200" y="365125"/>
            <a:ext cx="10515600" cy="1325563"/>
          </a:xfrm>
          <a:prstGeom prst="rect">
            <a:avLst/>
          </a:prstGeom>
        </p:spPr>
        <p:txBody>
          <a:bodyPr/>
          <a:lstStyle/>
          <a:p>
            <a:r>
              <a:rPr lang="he-IL">
                <a:latin typeface="Sana"/>
                <a:ea typeface="Sana"/>
                <a:cs typeface="Sana"/>
              </a:rPr>
              <a:t>לחץ כדי לערוך סגנון כותרת של תבנית בסיס</a:t>
            </a:r>
          </a:p>
        </p:txBody>
      </p:sp>
      <p:sp>
        <p:nvSpPr>
          <p:cNvPr id="3" name="מציין מיקום תוכן 2">
            <a:extLst>
              <a:ext uri="{FF2B5EF4-FFF2-40B4-BE49-F238E27FC236}">
                <a16:creationId xmlns:a16="http://schemas.microsoft.com/office/drawing/2014/main" id="{DE6FE0E2-E5C7-DBAA-673C-3F7957093150}"/>
              </a:ext>
            </a:extLst>
          </p:cNvPr>
          <p:cNvSpPr>
            <a:spLocks noGrp="1"/>
          </p:cNvSpPr>
          <p:nvPr>
            <p:ph sz="half" idx="1"/>
          </p:nvPr>
        </p:nvSpPr>
        <p:spPr>
          <a:xfrm>
            <a:off x="838200" y="1825625"/>
            <a:ext cx="5181600" cy="4351338"/>
          </a:xfrm>
          <a:prstGeom prst="rect">
            <a:avLst/>
          </a:prstGeom>
        </p:spPr>
        <p:txBody>
          <a:bodyPr/>
          <a:lstStyle/>
          <a:p>
            <a:pPr lvl="0"/>
            <a:r>
              <a:rPr lang="he-IL">
                <a:latin typeface="Sana"/>
                <a:ea typeface="Sana"/>
                <a:cs typeface="Sana"/>
              </a:rPr>
              <a:t>לחץ כדי לערוך סגנונות טקסט של תבנית בסיס</a:t>
            </a:r>
          </a:p>
          <a:p>
            <a:pPr lvl="1"/>
            <a:r>
              <a:rPr lang="he-IL">
                <a:latin typeface="Sana"/>
                <a:ea typeface="Sana"/>
                <a:cs typeface="Sana"/>
              </a:rPr>
              <a:t>רמה שנייה</a:t>
            </a:r>
          </a:p>
          <a:p>
            <a:pPr lvl="2"/>
            <a:r>
              <a:rPr lang="he-IL">
                <a:latin typeface="Sana"/>
                <a:ea typeface="Sana"/>
                <a:cs typeface="Sana"/>
              </a:rPr>
              <a:t>רמה שלישית</a:t>
            </a:r>
          </a:p>
          <a:p>
            <a:pPr lvl="3"/>
            <a:r>
              <a:rPr lang="he-IL">
                <a:latin typeface="Sana"/>
                <a:ea typeface="Sana"/>
                <a:cs typeface="Sana"/>
              </a:rPr>
              <a:t>רמה רביעית</a:t>
            </a:r>
          </a:p>
          <a:p>
            <a:pPr lvl="4"/>
            <a:r>
              <a:rPr lang="he-IL">
                <a:latin typeface="Sana"/>
                <a:ea typeface="Sana"/>
                <a:cs typeface="Sana"/>
              </a:rPr>
              <a:t>רמה חמישית</a:t>
            </a:r>
          </a:p>
        </p:txBody>
      </p:sp>
      <p:sp>
        <p:nvSpPr>
          <p:cNvPr id="4" name="מציין מיקום תוכן 3">
            <a:extLst>
              <a:ext uri="{FF2B5EF4-FFF2-40B4-BE49-F238E27FC236}">
                <a16:creationId xmlns:a16="http://schemas.microsoft.com/office/drawing/2014/main" id="{2DE7A7CF-C807-8CDA-C421-368E0DA40510}"/>
              </a:ext>
            </a:extLst>
          </p:cNvPr>
          <p:cNvSpPr>
            <a:spLocks noGrp="1"/>
          </p:cNvSpPr>
          <p:nvPr>
            <p:ph sz="half" idx="2"/>
          </p:nvPr>
        </p:nvSpPr>
        <p:spPr>
          <a:xfrm>
            <a:off x="6172200" y="1825625"/>
            <a:ext cx="5181600" cy="4351338"/>
          </a:xfrm>
          <a:prstGeom prst="rect">
            <a:avLst/>
          </a:prstGeom>
        </p:spPr>
        <p:txBody>
          <a:bodyPr/>
          <a:lstStyle/>
          <a:p>
            <a:pPr lvl="0"/>
            <a:r>
              <a:rPr lang="he-IL">
                <a:latin typeface="Sana"/>
                <a:ea typeface="Sana"/>
                <a:cs typeface="Sana"/>
              </a:rPr>
              <a:t>לחץ כדי לערוך סגנונות טקסט של תבנית בסיס</a:t>
            </a:r>
          </a:p>
          <a:p>
            <a:pPr lvl="1"/>
            <a:r>
              <a:rPr lang="he-IL">
                <a:latin typeface="Sana"/>
                <a:ea typeface="Sana"/>
                <a:cs typeface="Sana"/>
              </a:rPr>
              <a:t>רמה שנייה</a:t>
            </a:r>
          </a:p>
          <a:p>
            <a:pPr lvl="2"/>
            <a:r>
              <a:rPr lang="he-IL">
                <a:latin typeface="Sana"/>
                <a:ea typeface="Sana"/>
                <a:cs typeface="Sana"/>
              </a:rPr>
              <a:t>רמה שלישית</a:t>
            </a:r>
          </a:p>
          <a:p>
            <a:pPr lvl="3"/>
            <a:r>
              <a:rPr lang="he-IL">
                <a:latin typeface="Sana"/>
                <a:ea typeface="Sana"/>
                <a:cs typeface="Sana"/>
              </a:rPr>
              <a:t>רמה רביעית</a:t>
            </a:r>
          </a:p>
          <a:p>
            <a:pPr lvl="4"/>
            <a:r>
              <a:rPr lang="he-IL">
                <a:latin typeface="Sana"/>
                <a:ea typeface="Sana"/>
                <a:cs typeface="Sana"/>
              </a:rPr>
              <a:t>רמה חמישית</a:t>
            </a:r>
          </a:p>
        </p:txBody>
      </p:sp>
      <p:sp>
        <p:nvSpPr>
          <p:cNvPr id="5" name="מציין מיקום של תאריך 4">
            <a:extLst>
              <a:ext uri="{FF2B5EF4-FFF2-40B4-BE49-F238E27FC236}">
                <a16:creationId xmlns:a16="http://schemas.microsoft.com/office/drawing/2014/main" id="{CFC7C671-2DC1-750E-61DD-5AD7482DAA9A}"/>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6" name="מציין מיקום של כותרת תחתונה 5">
            <a:extLst>
              <a:ext uri="{FF2B5EF4-FFF2-40B4-BE49-F238E27FC236}">
                <a16:creationId xmlns:a16="http://schemas.microsoft.com/office/drawing/2014/main" id="{9B641068-0AA2-B8DE-E67B-530B7B369F21}"/>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7" name="מציין מיקום של מספר שקופית 6">
            <a:extLst>
              <a:ext uri="{FF2B5EF4-FFF2-40B4-BE49-F238E27FC236}">
                <a16:creationId xmlns:a16="http://schemas.microsoft.com/office/drawing/2014/main" id="{CACC6C3F-383A-6586-2277-C8AD7C70F7E8}"/>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85000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F953DE-F193-43AF-79A7-6A77B55FE59B}"/>
              </a:ext>
            </a:extLst>
          </p:cNvPr>
          <p:cNvSpPr>
            <a:spLocks noGrp="1"/>
          </p:cNvSpPr>
          <p:nvPr>
            <p:ph type="title"/>
          </p:nvPr>
        </p:nvSpPr>
        <p:spPr>
          <a:xfrm>
            <a:off x="839788" y="365125"/>
            <a:ext cx="10515600" cy="1325563"/>
          </a:xfrm>
          <a:prstGeom prst="rect">
            <a:avLst/>
          </a:prstGeom>
        </p:spPr>
        <p:txBody>
          <a:bodyPr/>
          <a:lstStyle/>
          <a:p>
            <a:r>
              <a:rPr lang="he-IL">
                <a:latin typeface="Sana"/>
                <a:ea typeface="Sana"/>
                <a:cs typeface="Sana"/>
              </a:rPr>
              <a:t>לחץ כדי לערוך סגנון כותרת של תבנית בסיס</a:t>
            </a:r>
          </a:p>
        </p:txBody>
      </p:sp>
      <p:sp>
        <p:nvSpPr>
          <p:cNvPr id="3" name="מציין מיקום טקסט 2">
            <a:extLst>
              <a:ext uri="{FF2B5EF4-FFF2-40B4-BE49-F238E27FC236}">
                <a16:creationId xmlns:a16="http://schemas.microsoft.com/office/drawing/2014/main" id="{14FFC868-6DED-03B8-666A-8F7535FC023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atin typeface="Sana"/>
                <a:ea typeface="Sana"/>
                <a:cs typeface="Sana"/>
              </a:defRPr>
            </a:lvl1pPr>
            <a:lvl2pPr marL="457200" indent="0">
              <a:buNone/>
              <a:defRPr sz="2000" b="1">
                <a:latin typeface="Sana"/>
                <a:ea typeface="Sana"/>
                <a:cs typeface="Sana"/>
              </a:defRPr>
            </a:lvl2pPr>
            <a:lvl3pPr marL="914400" indent="0">
              <a:buNone/>
              <a:defRPr sz="1800" b="1">
                <a:latin typeface="Sana"/>
                <a:ea typeface="Sana"/>
                <a:cs typeface="Sana"/>
              </a:defRPr>
            </a:lvl3pPr>
            <a:lvl4pPr marL="1371600" indent="0">
              <a:buNone/>
              <a:defRPr sz="1600" b="1">
                <a:latin typeface="Sana"/>
                <a:ea typeface="Sana"/>
                <a:cs typeface="Sana"/>
              </a:defRPr>
            </a:lvl4pPr>
            <a:lvl5pPr marL="1828800" indent="0">
              <a:buNone/>
              <a:defRPr sz="1600" b="1">
                <a:latin typeface="Sana"/>
                <a:ea typeface="Sana"/>
                <a:cs typeface="Sana"/>
              </a:defRPr>
            </a:lvl5pPr>
            <a:lvl6pPr marL="2286000" indent="0">
              <a:buNone/>
              <a:defRPr sz="1600" b="1">
                <a:latin typeface="Sana"/>
                <a:ea typeface="Sana"/>
                <a:cs typeface="Sana"/>
              </a:defRPr>
            </a:lvl6pPr>
            <a:lvl7pPr marL="2743200" indent="0">
              <a:buNone/>
              <a:defRPr sz="1600" b="1">
                <a:latin typeface="Sana"/>
                <a:ea typeface="Sana"/>
                <a:cs typeface="Sana"/>
              </a:defRPr>
            </a:lvl7pPr>
            <a:lvl8pPr marL="3200400" indent="0">
              <a:buNone/>
              <a:defRPr sz="1600" b="1">
                <a:latin typeface="Sana"/>
                <a:ea typeface="Sana"/>
                <a:cs typeface="Sana"/>
              </a:defRPr>
            </a:lvl8pPr>
            <a:lvl9pPr marL="3657600" indent="0">
              <a:buNone/>
              <a:defRPr sz="1600" b="1">
                <a:latin typeface="Sana"/>
                <a:ea typeface="Sana"/>
                <a:cs typeface="Sana"/>
              </a:defRPr>
            </a:lvl9pPr>
          </a:lstStyle>
          <a:p>
            <a:pPr lvl="0"/>
            <a:r>
              <a:rPr lang="he-IL">
                <a:latin typeface="Sana"/>
                <a:ea typeface="Sana"/>
                <a:cs typeface="Sana"/>
              </a:rPr>
              <a:t>לחץ כדי לערוך סגנונות טקסט של תבנית בסיס</a:t>
            </a:r>
          </a:p>
        </p:txBody>
      </p:sp>
      <p:sp>
        <p:nvSpPr>
          <p:cNvPr id="4" name="מציין מיקום תוכן 3">
            <a:extLst>
              <a:ext uri="{FF2B5EF4-FFF2-40B4-BE49-F238E27FC236}">
                <a16:creationId xmlns:a16="http://schemas.microsoft.com/office/drawing/2014/main" id="{A926E6DB-98CF-C323-3A7E-1E1D27EF664F}"/>
              </a:ext>
            </a:extLst>
          </p:cNvPr>
          <p:cNvSpPr>
            <a:spLocks noGrp="1"/>
          </p:cNvSpPr>
          <p:nvPr>
            <p:ph sz="half" idx="2"/>
          </p:nvPr>
        </p:nvSpPr>
        <p:spPr>
          <a:xfrm>
            <a:off x="839788" y="2505075"/>
            <a:ext cx="5157787" cy="3684588"/>
          </a:xfrm>
          <a:prstGeom prst="rect">
            <a:avLst/>
          </a:prstGeom>
        </p:spPr>
        <p:txBody>
          <a:bodyPr/>
          <a:lstStyle/>
          <a:p>
            <a:pPr lvl="0"/>
            <a:r>
              <a:rPr lang="he-IL">
                <a:latin typeface="Sana"/>
                <a:ea typeface="Sana"/>
                <a:cs typeface="Sana"/>
              </a:rPr>
              <a:t>לחץ כדי לערוך סגנונות טקסט של תבנית בסיס</a:t>
            </a:r>
          </a:p>
          <a:p>
            <a:pPr lvl="1"/>
            <a:r>
              <a:rPr lang="he-IL">
                <a:latin typeface="Sana"/>
                <a:ea typeface="Sana"/>
                <a:cs typeface="Sana"/>
              </a:rPr>
              <a:t>רמה שנייה</a:t>
            </a:r>
          </a:p>
          <a:p>
            <a:pPr lvl="2"/>
            <a:r>
              <a:rPr lang="he-IL">
                <a:latin typeface="Sana"/>
                <a:ea typeface="Sana"/>
                <a:cs typeface="Sana"/>
              </a:rPr>
              <a:t>רמה שלישית</a:t>
            </a:r>
          </a:p>
          <a:p>
            <a:pPr lvl="3"/>
            <a:r>
              <a:rPr lang="he-IL">
                <a:latin typeface="Sana"/>
                <a:ea typeface="Sana"/>
                <a:cs typeface="Sana"/>
              </a:rPr>
              <a:t>רמה רביעית</a:t>
            </a:r>
          </a:p>
          <a:p>
            <a:pPr lvl="4"/>
            <a:r>
              <a:rPr lang="he-IL">
                <a:latin typeface="Sana"/>
                <a:ea typeface="Sana"/>
                <a:cs typeface="Sana"/>
              </a:rPr>
              <a:t>רמה חמישית</a:t>
            </a:r>
          </a:p>
        </p:txBody>
      </p:sp>
      <p:sp>
        <p:nvSpPr>
          <p:cNvPr id="5" name="מציין מיקום טקסט 4">
            <a:extLst>
              <a:ext uri="{FF2B5EF4-FFF2-40B4-BE49-F238E27FC236}">
                <a16:creationId xmlns:a16="http://schemas.microsoft.com/office/drawing/2014/main" id="{889C3B0A-F270-860C-796C-CFECE2AB187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atin typeface="Sana"/>
                <a:ea typeface="Sana"/>
                <a:cs typeface="Sana"/>
              </a:defRPr>
            </a:lvl1pPr>
            <a:lvl2pPr marL="457200" indent="0">
              <a:buNone/>
              <a:defRPr sz="2000" b="1">
                <a:latin typeface="Sana"/>
                <a:ea typeface="Sana"/>
                <a:cs typeface="Sana"/>
              </a:defRPr>
            </a:lvl2pPr>
            <a:lvl3pPr marL="914400" indent="0">
              <a:buNone/>
              <a:defRPr sz="1800" b="1">
                <a:latin typeface="Sana"/>
                <a:ea typeface="Sana"/>
                <a:cs typeface="Sana"/>
              </a:defRPr>
            </a:lvl3pPr>
            <a:lvl4pPr marL="1371600" indent="0">
              <a:buNone/>
              <a:defRPr sz="1600" b="1">
                <a:latin typeface="Sana"/>
                <a:ea typeface="Sana"/>
                <a:cs typeface="Sana"/>
              </a:defRPr>
            </a:lvl4pPr>
            <a:lvl5pPr marL="1828800" indent="0">
              <a:buNone/>
              <a:defRPr sz="1600" b="1">
                <a:latin typeface="Sana"/>
                <a:ea typeface="Sana"/>
                <a:cs typeface="Sana"/>
              </a:defRPr>
            </a:lvl5pPr>
            <a:lvl6pPr marL="2286000" indent="0">
              <a:buNone/>
              <a:defRPr sz="1600" b="1">
                <a:latin typeface="Sana"/>
                <a:ea typeface="Sana"/>
                <a:cs typeface="Sana"/>
              </a:defRPr>
            </a:lvl6pPr>
            <a:lvl7pPr marL="2743200" indent="0">
              <a:buNone/>
              <a:defRPr sz="1600" b="1">
                <a:latin typeface="Sana"/>
                <a:ea typeface="Sana"/>
                <a:cs typeface="Sana"/>
              </a:defRPr>
            </a:lvl7pPr>
            <a:lvl8pPr marL="3200400" indent="0">
              <a:buNone/>
              <a:defRPr sz="1600" b="1">
                <a:latin typeface="Sana"/>
                <a:ea typeface="Sana"/>
                <a:cs typeface="Sana"/>
              </a:defRPr>
            </a:lvl8pPr>
            <a:lvl9pPr marL="3657600" indent="0">
              <a:buNone/>
              <a:defRPr sz="1600" b="1">
                <a:latin typeface="Sana"/>
                <a:ea typeface="Sana"/>
                <a:cs typeface="Sana"/>
              </a:defRPr>
            </a:lvl9pPr>
          </a:lstStyle>
          <a:p>
            <a:pPr lvl="0"/>
            <a:r>
              <a:rPr lang="he-IL">
                <a:latin typeface="Sana"/>
                <a:ea typeface="Sana"/>
                <a:cs typeface="Sana"/>
              </a:rPr>
              <a:t>לחץ כדי לערוך סגנונות טקסט של תבנית בסיס</a:t>
            </a:r>
          </a:p>
        </p:txBody>
      </p:sp>
      <p:sp>
        <p:nvSpPr>
          <p:cNvPr id="6" name="מציין מיקום תוכן 5">
            <a:extLst>
              <a:ext uri="{FF2B5EF4-FFF2-40B4-BE49-F238E27FC236}">
                <a16:creationId xmlns:a16="http://schemas.microsoft.com/office/drawing/2014/main" id="{BD0D40C7-54A8-0632-E7D2-3B5F7206F8AE}"/>
              </a:ext>
            </a:extLst>
          </p:cNvPr>
          <p:cNvSpPr>
            <a:spLocks noGrp="1"/>
          </p:cNvSpPr>
          <p:nvPr>
            <p:ph sz="quarter" idx="4"/>
          </p:nvPr>
        </p:nvSpPr>
        <p:spPr>
          <a:xfrm>
            <a:off x="6172200" y="2505075"/>
            <a:ext cx="5183188" cy="3684588"/>
          </a:xfrm>
          <a:prstGeom prst="rect">
            <a:avLst/>
          </a:prstGeom>
        </p:spPr>
        <p:txBody>
          <a:bodyPr/>
          <a:lstStyle/>
          <a:p>
            <a:pPr lvl="0"/>
            <a:r>
              <a:rPr lang="he-IL">
                <a:latin typeface="Sana"/>
                <a:ea typeface="Sana"/>
                <a:cs typeface="Sana"/>
              </a:rPr>
              <a:t>לחץ כדי לערוך סגנונות טקסט של תבנית בסיס</a:t>
            </a:r>
          </a:p>
          <a:p>
            <a:pPr lvl="1"/>
            <a:r>
              <a:rPr lang="he-IL">
                <a:latin typeface="Sana"/>
                <a:ea typeface="Sana"/>
                <a:cs typeface="Sana"/>
              </a:rPr>
              <a:t>רמה שנייה</a:t>
            </a:r>
          </a:p>
          <a:p>
            <a:pPr lvl="2"/>
            <a:r>
              <a:rPr lang="he-IL">
                <a:latin typeface="Sana"/>
                <a:ea typeface="Sana"/>
                <a:cs typeface="Sana"/>
              </a:rPr>
              <a:t>רמה שלישית</a:t>
            </a:r>
          </a:p>
          <a:p>
            <a:pPr lvl="3"/>
            <a:r>
              <a:rPr lang="he-IL">
                <a:latin typeface="Sana"/>
                <a:ea typeface="Sana"/>
                <a:cs typeface="Sana"/>
              </a:rPr>
              <a:t>רמה רביעית</a:t>
            </a:r>
          </a:p>
          <a:p>
            <a:pPr lvl="4"/>
            <a:r>
              <a:rPr lang="he-IL">
                <a:latin typeface="Sana"/>
                <a:ea typeface="Sana"/>
                <a:cs typeface="Sana"/>
              </a:rPr>
              <a:t>רמה חמישית</a:t>
            </a:r>
          </a:p>
        </p:txBody>
      </p:sp>
      <p:sp>
        <p:nvSpPr>
          <p:cNvPr id="7" name="מציין מיקום של תאריך 6">
            <a:extLst>
              <a:ext uri="{FF2B5EF4-FFF2-40B4-BE49-F238E27FC236}">
                <a16:creationId xmlns:a16="http://schemas.microsoft.com/office/drawing/2014/main" id="{53E8ADAF-FC55-143F-E726-A508EDC4D806}"/>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8" name="מציין מיקום של כותרת תחתונה 7">
            <a:extLst>
              <a:ext uri="{FF2B5EF4-FFF2-40B4-BE49-F238E27FC236}">
                <a16:creationId xmlns:a16="http://schemas.microsoft.com/office/drawing/2014/main" id="{72F84F34-106D-1D89-1D71-157CD9054D9B}"/>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9" name="מציין מיקום של מספר שקופית 8">
            <a:extLst>
              <a:ext uri="{FF2B5EF4-FFF2-40B4-BE49-F238E27FC236}">
                <a16:creationId xmlns:a16="http://schemas.microsoft.com/office/drawing/2014/main" id="{89BD0B4A-261E-E4D8-3943-46BBED978892}"/>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2517905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3D988DE-7DCD-91DF-554B-BBF31C8BFCFC}"/>
              </a:ext>
            </a:extLst>
          </p:cNvPr>
          <p:cNvSpPr>
            <a:spLocks noGrp="1"/>
          </p:cNvSpPr>
          <p:nvPr>
            <p:ph type="title"/>
          </p:nvPr>
        </p:nvSpPr>
        <p:spPr>
          <a:xfrm>
            <a:off x="838200" y="365125"/>
            <a:ext cx="10515600" cy="1325563"/>
          </a:xfrm>
          <a:prstGeom prst="rect">
            <a:avLst/>
          </a:prstGeom>
        </p:spPr>
        <p:txBody>
          <a:bodyPr/>
          <a:lstStyle/>
          <a:p>
            <a:r>
              <a:rPr lang="he-IL">
                <a:latin typeface="Sana"/>
                <a:ea typeface="Sana"/>
                <a:cs typeface="Sana"/>
              </a:rPr>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DAF5A715-B5C6-C5FE-003E-A56D97C9B87C}"/>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4" name="מציין מיקום של כותרת תחתונה 3">
            <a:extLst>
              <a:ext uri="{FF2B5EF4-FFF2-40B4-BE49-F238E27FC236}">
                <a16:creationId xmlns:a16="http://schemas.microsoft.com/office/drawing/2014/main" id="{96255737-166D-5D1A-E241-95FA34A7223B}"/>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5" name="מציין מיקום של מספר שקופית 4">
            <a:extLst>
              <a:ext uri="{FF2B5EF4-FFF2-40B4-BE49-F238E27FC236}">
                <a16:creationId xmlns:a16="http://schemas.microsoft.com/office/drawing/2014/main" id="{DBF190F3-17A6-C4FD-3EF2-D57350549D85}"/>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4056074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E4EB8F73-41E4-D908-A69B-56115AFB5527}"/>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3" name="מציין מיקום של כותרת תחתונה 2">
            <a:extLst>
              <a:ext uri="{FF2B5EF4-FFF2-40B4-BE49-F238E27FC236}">
                <a16:creationId xmlns:a16="http://schemas.microsoft.com/office/drawing/2014/main" id="{D4CAB73B-37DB-CEAE-8F67-35CFB2CFD408}"/>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4" name="מציין מיקום של מספר שקופית 3">
            <a:extLst>
              <a:ext uri="{FF2B5EF4-FFF2-40B4-BE49-F238E27FC236}">
                <a16:creationId xmlns:a16="http://schemas.microsoft.com/office/drawing/2014/main" id="{DB20946A-4C47-F763-8604-8BEA2743E856}"/>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110772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E85F59A-ED93-2690-7261-9EDAE908B560}"/>
              </a:ext>
            </a:extLst>
          </p:cNvPr>
          <p:cNvSpPr>
            <a:spLocks noGrp="1"/>
          </p:cNvSpPr>
          <p:nvPr>
            <p:ph type="title"/>
          </p:nvPr>
        </p:nvSpPr>
        <p:spPr>
          <a:xfrm>
            <a:off x="839788" y="457200"/>
            <a:ext cx="3932237" cy="1600200"/>
          </a:xfrm>
          <a:prstGeom prst="rect">
            <a:avLst/>
          </a:prstGeom>
        </p:spPr>
        <p:txBody>
          <a:bodyPr anchor="b"/>
          <a:lstStyle>
            <a:lvl1pPr>
              <a:defRPr sz="3200">
                <a:latin typeface="Sana"/>
                <a:ea typeface="Sana"/>
                <a:cs typeface="Sana"/>
              </a:defRPr>
            </a:lvl1pPr>
          </a:lstStyle>
          <a:p>
            <a:r>
              <a:rPr lang="he-IL">
                <a:latin typeface="Sana"/>
                <a:ea typeface="Sana"/>
                <a:cs typeface="Sana"/>
              </a:rPr>
              <a:t>לחץ כדי לערוך סגנון כותרת של תבנית בסיס</a:t>
            </a:r>
          </a:p>
        </p:txBody>
      </p:sp>
      <p:sp>
        <p:nvSpPr>
          <p:cNvPr id="3" name="מציין מיקום תוכן 2">
            <a:extLst>
              <a:ext uri="{FF2B5EF4-FFF2-40B4-BE49-F238E27FC236}">
                <a16:creationId xmlns:a16="http://schemas.microsoft.com/office/drawing/2014/main" id="{BAB72F4E-0555-8D47-CE47-C7130DAE3CDE}"/>
              </a:ext>
            </a:extLst>
          </p:cNvPr>
          <p:cNvSpPr>
            <a:spLocks noGrp="1"/>
          </p:cNvSpPr>
          <p:nvPr>
            <p:ph idx="1"/>
          </p:nvPr>
        </p:nvSpPr>
        <p:spPr>
          <a:xfrm>
            <a:off x="5183188" y="987425"/>
            <a:ext cx="6172200" cy="4873625"/>
          </a:xfrm>
          <a:prstGeom prst="rect">
            <a:avLst/>
          </a:prstGeom>
        </p:spPr>
        <p:txBody>
          <a:bodyPr/>
          <a:lstStyle>
            <a:lvl1pPr>
              <a:defRPr sz="3200">
                <a:latin typeface="Sana"/>
                <a:ea typeface="Sana"/>
                <a:cs typeface="Sana"/>
              </a:defRPr>
            </a:lvl1pPr>
            <a:lvl2pPr>
              <a:defRPr sz="2800">
                <a:latin typeface="Sana"/>
                <a:ea typeface="Sana"/>
                <a:cs typeface="Sana"/>
              </a:defRPr>
            </a:lvl2pPr>
            <a:lvl3pPr>
              <a:defRPr sz="2400">
                <a:latin typeface="Sana"/>
                <a:ea typeface="Sana"/>
                <a:cs typeface="Sana"/>
              </a:defRPr>
            </a:lvl3pPr>
            <a:lvl4pPr>
              <a:defRPr sz="2000">
                <a:latin typeface="Sana"/>
                <a:ea typeface="Sana"/>
                <a:cs typeface="Sana"/>
              </a:defRPr>
            </a:lvl4pPr>
            <a:lvl5pPr>
              <a:defRPr sz="2000">
                <a:latin typeface="Sana"/>
                <a:ea typeface="Sana"/>
                <a:cs typeface="Sana"/>
              </a:defRPr>
            </a:lvl5pPr>
            <a:lvl6pPr>
              <a:defRPr sz="2000">
                <a:latin typeface="Sana"/>
                <a:ea typeface="Sana"/>
                <a:cs typeface="Sana"/>
              </a:defRPr>
            </a:lvl6pPr>
            <a:lvl7pPr>
              <a:defRPr sz="2000">
                <a:latin typeface="Sana"/>
                <a:ea typeface="Sana"/>
                <a:cs typeface="Sana"/>
              </a:defRPr>
            </a:lvl7pPr>
            <a:lvl8pPr>
              <a:defRPr sz="2000">
                <a:latin typeface="Sana"/>
                <a:ea typeface="Sana"/>
                <a:cs typeface="Sana"/>
              </a:defRPr>
            </a:lvl8pPr>
            <a:lvl9pPr>
              <a:defRPr sz="2000">
                <a:latin typeface="Sana"/>
                <a:ea typeface="Sana"/>
                <a:cs typeface="Sana"/>
              </a:defRPr>
            </a:lvl9pPr>
          </a:lstStyle>
          <a:p>
            <a:pPr lvl="0"/>
            <a:r>
              <a:rPr lang="he-IL">
                <a:latin typeface="Sana"/>
                <a:ea typeface="Sana"/>
                <a:cs typeface="Sana"/>
              </a:rPr>
              <a:t>לחץ כדי לערוך סגנונות טקסט של תבנית בסיס</a:t>
            </a:r>
          </a:p>
          <a:p>
            <a:pPr lvl="1"/>
            <a:r>
              <a:rPr lang="he-IL">
                <a:latin typeface="Sana"/>
                <a:ea typeface="Sana"/>
                <a:cs typeface="Sana"/>
              </a:rPr>
              <a:t>רמה שנייה</a:t>
            </a:r>
          </a:p>
          <a:p>
            <a:pPr lvl="2"/>
            <a:r>
              <a:rPr lang="he-IL">
                <a:latin typeface="Sana"/>
                <a:ea typeface="Sana"/>
                <a:cs typeface="Sana"/>
              </a:rPr>
              <a:t>רמה שלישית</a:t>
            </a:r>
          </a:p>
          <a:p>
            <a:pPr lvl="3"/>
            <a:r>
              <a:rPr lang="he-IL">
                <a:latin typeface="Sana"/>
                <a:ea typeface="Sana"/>
                <a:cs typeface="Sana"/>
              </a:rPr>
              <a:t>רמה רביעית</a:t>
            </a:r>
          </a:p>
          <a:p>
            <a:pPr lvl="4"/>
            <a:r>
              <a:rPr lang="he-IL">
                <a:latin typeface="Sana"/>
                <a:ea typeface="Sana"/>
                <a:cs typeface="Sana"/>
              </a:rPr>
              <a:t>רמה חמישית</a:t>
            </a:r>
          </a:p>
        </p:txBody>
      </p:sp>
      <p:sp>
        <p:nvSpPr>
          <p:cNvPr id="4" name="מציין מיקום טקסט 3">
            <a:extLst>
              <a:ext uri="{FF2B5EF4-FFF2-40B4-BE49-F238E27FC236}">
                <a16:creationId xmlns:a16="http://schemas.microsoft.com/office/drawing/2014/main" id="{F3A6A26C-8EA5-DE17-D755-B66869AC9E9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atin typeface="Sana"/>
                <a:ea typeface="Sana"/>
                <a:cs typeface="Sana"/>
              </a:defRPr>
            </a:lvl1pPr>
            <a:lvl2pPr marL="457200" indent="0">
              <a:buNone/>
              <a:defRPr sz="1400">
                <a:latin typeface="Sana"/>
                <a:ea typeface="Sana"/>
                <a:cs typeface="Sana"/>
              </a:defRPr>
            </a:lvl2pPr>
            <a:lvl3pPr marL="914400" indent="0">
              <a:buNone/>
              <a:defRPr sz="1200">
                <a:latin typeface="Sana"/>
                <a:ea typeface="Sana"/>
                <a:cs typeface="Sana"/>
              </a:defRPr>
            </a:lvl3pPr>
            <a:lvl4pPr marL="1371600" indent="0">
              <a:buNone/>
              <a:defRPr sz="1000">
                <a:latin typeface="Sana"/>
                <a:ea typeface="Sana"/>
                <a:cs typeface="Sana"/>
              </a:defRPr>
            </a:lvl4pPr>
            <a:lvl5pPr marL="1828800" indent="0">
              <a:buNone/>
              <a:defRPr sz="1000">
                <a:latin typeface="Sana"/>
                <a:ea typeface="Sana"/>
                <a:cs typeface="Sana"/>
              </a:defRPr>
            </a:lvl5pPr>
            <a:lvl6pPr marL="2286000" indent="0">
              <a:buNone/>
              <a:defRPr sz="1000">
                <a:latin typeface="Sana"/>
                <a:ea typeface="Sana"/>
                <a:cs typeface="Sana"/>
              </a:defRPr>
            </a:lvl6pPr>
            <a:lvl7pPr marL="2743200" indent="0">
              <a:buNone/>
              <a:defRPr sz="1000">
                <a:latin typeface="Sana"/>
                <a:ea typeface="Sana"/>
                <a:cs typeface="Sana"/>
              </a:defRPr>
            </a:lvl7pPr>
            <a:lvl8pPr marL="3200400" indent="0">
              <a:buNone/>
              <a:defRPr sz="1000">
                <a:latin typeface="Sana"/>
                <a:ea typeface="Sana"/>
                <a:cs typeface="Sana"/>
              </a:defRPr>
            </a:lvl8pPr>
            <a:lvl9pPr marL="3657600" indent="0">
              <a:buNone/>
              <a:defRPr sz="1000">
                <a:latin typeface="Sana"/>
                <a:ea typeface="Sana"/>
                <a:cs typeface="Sana"/>
              </a:defRPr>
            </a:lvl9pPr>
          </a:lstStyle>
          <a:p>
            <a:pPr lvl="0"/>
            <a:r>
              <a:rPr lang="he-IL">
                <a:latin typeface="Sana"/>
                <a:ea typeface="Sana"/>
                <a:cs typeface="Sana"/>
              </a:rPr>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CF2158F9-8361-BEA8-8E32-268BA0338723}"/>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6" name="מציין מיקום של כותרת תחתונה 5">
            <a:extLst>
              <a:ext uri="{FF2B5EF4-FFF2-40B4-BE49-F238E27FC236}">
                <a16:creationId xmlns:a16="http://schemas.microsoft.com/office/drawing/2014/main" id="{33F28B89-BE54-D19C-0394-E389DF7E6DB5}"/>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7" name="מציין מיקום של מספר שקופית 6">
            <a:extLst>
              <a:ext uri="{FF2B5EF4-FFF2-40B4-BE49-F238E27FC236}">
                <a16:creationId xmlns:a16="http://schemas.microsoft.com/office/drawing/2014/main" id="{BBE51B01-3E4E-6150-A275-F17014A3F23B}"/>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2994689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103815F-D255-FD10-42EA-7FB863927E3B}"/>
              </a:ext>
            </a:extLst>
          </p:cNvPr>
          <p:cNvSpPr>
            <a:spLocks noGrp="1"/>
          </p:cNvSpPr>
          <p:nvPr>
            <p:ph type="title"/>
          </p:nvPr>
        </p:nvSpPr>
        <p:spPr>
          <a:xfrm>
            <a:off x="839788" y="457200"/>
            <a:ext cx="3932237" cy="1600200"/>
          </a:xfrm>
          <a:prstGeom prst="rect">
            <a:avLst/>
          </a:prstGeom>
        </p:spPr>
        <p:txBody>
          <a:bodyPr anchor="b"/>
          <a:lstStyle>
            <a:lvl1pPr>
              <a:defRPr sz="3200">
                <a:latin typeface="Sana"/>
                <a:ea typeface="Sana"/>
                <a:cs typeface="Sana"/>
              </a:defRPr>
            </a:lvl1pPr>
          </a:lstStyle>
          <a:p>
            <a:r>
              <a:rPr lang="he-IL">
                <a:latin typeface="Sana"/>
                <a:ea typeface="Sana"/>
                <a:cs typeface="Sana"/>
              </a:rPr>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71DE86FC-CCB1-E112-F0BB-83EACB15501B}"/>
              </a:ext>
            </a:extLst>
          </p:cNvPr>
          <p:cNvSpPr>
            <a:spLocks noGrp="1"/>
          </p:cNvSpPr>
          <p:nvPr>
            <p:ph type="pic" idx="1"/>
          </p:nvPr>
        </p:nvSpPr>
        <p:spPr>
          <a:xfrm>
            <a:off x="5183188" y="987425"/>
            <a:ext cx="6172200" cy="4873625"/>
          </a:xfrm>
          <a:prstGeom prst="rect">
            <a:avLst/>
          </a:prstGeom>
        </p:spPr>
        <p:txBody>
          <a:bodyPr/>
          <a:lstStyle>
            <a:lvl1pPr marL="0" indent="0">
              <a:buNone/>
              <a:defRPr sz="3200">
                <a:latin typeface="Sana"/>
                <a:ea typeface="Sana"/>
                <a:cs typeface="Sana"/>
              </a:defRPr>
            </a:lvl1pPr>
            <a:lvl2pPr marL="457200" indent="0">
              <a:buNone/>
              <a:defRPr sz="2800">
                <a:latin typeface="Sana"/>
                <a:ea typeface="Sana"/>
                <a:cs typeface="Sana"/>
              </a:defRPr>
            </a:lvl2pPr>
            <a:lvl3pPr marL="914400" indent="0">
              <a:buNone/>
              <a:defRPr sz="2400">
                <a:latin typeface="Sana"/>
                <a:ea typeface="Sana"/>
                <a:cs typeface="Sana"/>
              </a:defRPr>
            </a:lvl3pPr>
            <a:lvl4pPr marL="1371600" indent="0">
              <a:buNone/>
              <a:defRPr sz="2000">
                <a:latin typeface="Sana"/>
                <a:ea typeface="Sana"/>
                <a:cs typeface="Sana"/>
              </a:defRPr>
            </a:lvl4pPr>
            <a:lvl5pPr marL="1828800" indent="0">
              <a:buNone/>
              <a:defRPr sz="2000">
                <a:latin typeface="Sana"/>
                <a:ea typeface="Sana"/>
                <a:cs typeface="Sana"/>
              </a:defRPr>
            </a:lvl5pPr>
            <a:lvl6pPr marL="2286000" indent="0">
              <a:buNone/>
              <a:defRPr sz="2000">
                <a:latin typeface="Sana"/>
                <a:ea typeface="Sana"/>
                <a:cs typeface="Sana"/>
              </a:defRPr>
            </a:lvl6pPr>
            <a:lvl7pPr marL="2743200" indent="0">
              <a:buNone/>
              <a:defRPr sz="2000">
                <a:latin typeface="Sana"/>
                <a:ea typeface="Sana"/>
                <a:cs typeface="Sana"/>
              </a:defRPr>
            </a:lvl7pPr>
            <a:lvl8pPr marL="3200400" indent="0">
              <a:buNone/>
              <a:defRPr sz="2000">
                <a:latin typeface="Sana"/>
                <a:ea typeface="Sana"/>
                <a:cs typeface="Sana"/>
              </a:defRPr>
            </a:lvl8pPr>
            <a:lvl9pPr marL="3657600" indent="0">
              <a:buNone/>
              <a:defRPr sz="2000">
                <a:latin typeface="Sana"/>
                <a:ea typeface="Sana"/>
                <a:cs typeface="Sana"/>
              </a:defRPr>
            </a:lvl9pPr>
          </a:lstStyle>
          <a:p>
            <a:endParaRPr lang="he-IL">
              <a:latin typeface="Sana"/>
              <a:ea typeface="Sana"/>
              <a:cs typeface="Sana"/>
            </a:endParaRPr>
          </a:p>
        </p:txBody>
      </p:sp>
      <p:sp>
        <p:nvSpPr>
          <p:cNvPr id="4" name="מציין מיקום טקסט 3">
            <a:extLst>
              <a:ext uri="{FF2B5EF4-FFF2-40B4-BE49-F238E27FC236}">
                <a16:creationId xmlns:a16="http://schemas.microsoft.com/office/drawing/2014/main" id="{B4C0D41D-F975-905A-56D2-46593B887B1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atin typeface="Sana"/>
                <a:ea typeface="Sana"/>
                <a:cs typeface="Sana"/>
              </a:defRPr>
            </a:lvl1pPr>
            <a:lvl2pPr marL="457200" indent="0">
              <a:buNone/>
              <a:defRPr sz="1400">
                <a:latin typeface="Sana"/>
                <a:ea typeface="Sana"/>
                <a:cs typeface="Sana"/>
              </a:defRPr>
            </a:lvl2pPr>
            <a:lvl3pPr marL="914400" indent="0">
              <a:buNone/>
              <a:defRPr sz="1200">
                <a:latin typeface="Sana"/>
                <a:ea typeface="Sana"/>
                <a:cs typeface="Sana"/>
              </a:defRPr>
            </a:lvl3pPr>
            <a:lvl4pPr marL="1371600" indent="0">
              <a:buNone/>
              <a:defRPr sz="1000">
                <a:latin typeface="Sana"/>
                <a:ea typeface="Sana"/>
                <a:cs typeface="Sana"/>
              </a:defRPr>
            </a:lvl4pPr>
            <a:lvl5pPr marL="1828800" indent="0">
              <a:buNone/>
              <a:defRPr sz="1000">
                <a:latin typeface="Sana"/>
                <a:ea typeface="Sana"/>
                <a:cs typeface="Sana"/>
              </a:defRPr>
            </a:lvl5pPr>
            <a:lvl6pPr marL="2286000" indent="0">
              <a:buNone/>
              <a:defRPr sz="1000">
                <a:latin typeface="Sana"/>
                <a:ea typeface="Sana"/>
                <a:cs typeface="Sana"/>
              </a:defRPr>
            </a:lvl6pPr>
            <a:lvl7pPr marL="2743200" indent="0">
              <a:buNone/>
              <a:defRPr sz="1000">
                <a:latin typeface="Sana"/>
                <a:ea typeface="Sana"/>
                <a:cs typeface="Sana"/>
              </a:defRPr>
            </a:lvl7pPr>
            <a:lvl8pPr marL="3200400" indent="0">
              <a:buNone/>
              <a:defRPr sz="1000">
                <a:latin typeface="Sana"/>
                <a:ea typeface="Sana"/>
                <a:cs typeface="Sana"/>
              </a:defRPr>
            </a:lvl8pPr>
            <a:lvl9pPr marL="3657600" indent="0">
              <a:buNone/>
              <a:defRPr sz="1000">
                <a:latin typeface="Sana"/>
                <a:ea typeface="Sana"/>
                <a:cs typeface="Sana"/>
              </a:defRPr>
            </a:lvl9pPr>
          </a:lstStyle>
          <a:p>
            <a:pPr lvl="0"/>
            <a:r>
              <a:rPr lang="he-IL">
                <a:latin typeface="Sana"/>
                <a:ea typeface="Sana"/>
                <a:cs typeface="Sana"/>
              </a:rPr>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74FA7CC0-DF5F-F8E0-0164-DDD3F5520B0E}"/>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6" name="מציין מיקום של כותרת תחתונה 5">
            <a:extLst>
              <a:ext uri="{FF2B5EF4-FFF2-40B4-BE49-F238E27FC236}">
                <a16:creationId xmlns:a16="http://schemas.microsoft.com/office/drawing/2014/main" id="{8CBEB0EB-12C9-E699-D627-6B07FA565175}"/>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7" name="מציין מיקום של מספר שקופית 6">
            <a:extLst>
              <a:ext uri="{FF2B5EF4-FFF2-40B4-BE49-F238E27FC236}">
                <a16:creationId xmlns:a16="http://schemas.microsoft.com/office/drawing/2014/main" id="{AF8D0CEB-FCC8-D5E6-E2CC-BF63508C682A}"/>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1055016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61D7769-F31C-ECFE-C7B2-94BB6353B7E0}"/>
              </a:ext>
            </a:extLst>
          </p:cNvPr>
          <p:cNvSpPr>
            <a:spLocks noGrp="1"/>
          </p:cNvSpPr>
          <p:nvPr>
            <p:ph type="title"/>
          </p:nvPr>
        </p:nvSpPr>
        <p:spPr>
          <a:xfrm>
            <a:off x="838200" y="365125"/>
            <a:ext cx="10515600" cy="1325563"/>
          </a:xfrm>
          <a:prstGeom prst="rect">
            <a:avLst/>
          </a:prstGeom>
        </p:spPr>
        <p:txBody>
          <a:bodyPr/>
          <a:lstStyle/>
          <a:p>
            <a:r>
              <a:rPr lang="he-IL">
                <a:latin typeface="Sana"/>
                <a:ea typeface="Sana"/>
                <a:cs typeface="Sana"/>
              </a:rPr>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D8D90E4-0EB0-F2E3-7FAE-3DB7F3E520B2}"/>
              </a:ext>
            </a:extLst>
          </p:cNvPr>
          <p:cNvSpPr>
            <a:spLocks noGrp="1"/>
          </p:cNvSpPr>
          <p:nvPr>
            <p:ph type="body" orient="vert" idx="1"/>
          </p:nvPr>
        </p:nvSpPr>
        <p:spPr>
          <a:xfrm>
            <a:off x="838200" y="1825625"/>
            <a:ext cx="10515600" cy="4351338"/>
          </a:xfrm>
          <a:prstGeom prst="rect">
            <a:avLst/>
          </a:prstGeom>
        </p:spPr>
        <p:txBody>
          <a:bodyPr vert="eaVert"/>
          <a:lstStyle/>
          <a:p>
            <a:pPr lvl="0"/>
            <a:r>
              <a:rPr lang="he-IL">
                <a:latin typeface="Sana"/>
                <a:ea typeface="Sana"/>
                <a:cs typeface="Sana"/>
              </a:rPr>
              <a:t>לחץ כדי לערוך סגנונות טקסט של תבנית בסיס</a:t>
            </a:r>
          </a:p>
          <a:p>
            <a:pPr lvl="1"/>
            <a:r>
              <a:rPr lang="he-IL">
                <a:latin typeface="Sana"/>
                <a:ea typeface="Sana"/>
                <a:cs typeface="Sana"/>
              </a:rPr>
              <a:t>רמה שנייה</a:t>
            </a:r>
          </a:p>
          <a:p>
            <a:pPr lvl="2"/>
            <a:r>
              <a:rPr lang="he-IL">
                <a:latin typeface="Sana"/>
                <a:ea typeface="Sana"/>
                <a:cs typeface="Sana"/>
              </a:rPr>
              <a:t>רמה שלישית</a:t>
            </a:r>
          </a:p>
          <a:p>
            <a:pPr lvl="3"/>
            <a:r>
              <a:rPr lang="he-IL">
                <a:latin typeface="Sana"/>
                <a:ea typeface="Sana"/>
                <a:cs typeface="Sana"/>
              </a:rPr>
              <a:t>רמה רביעית</a:t>
            </a:r>
          </a:p>
          <a:p>
            <a:pPr lvl="4"/>
            <a:r>
              <a:rPr lang="he-IL">
                <a:latin typeface="Sana"/>
                <a:ea typeface="Sana"/>
                <a:cs typeface="Sana"/>
              </a:rPr>
              <a:t>רמה חמישית</a:t>
            </a:r>
          </a:p>
        </p:txBody>
      </p:sp>
      <p:sp>
        <p:nvSpPr>
          <p:cNvPr id="4" name="מציין מיקום של תאריך 3">
            <a:extLst>
              <a:ext uri="{FF2B5EF4-FFF2-40B4-BE49-F238E27FC236}">
                <a16:creationId xmlns:a16="http://schemas.microsoft.com/office/drawing/2014/main" id="{71508503-ACBA-389D-9BBE-2643E6C83B11}"/>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5" name="מציין מיקום של כותרת תחתונה 4">
            <a:extLst>
              <a:ext uri="{FF2B5EF4-FFF2-40B4-BE49-F238E27FC236}">
                <a16:creationId xmlns:a16="http://schemas.microsoft.com/office/drawing/2014/main" id="{45FC6617-3F90-863F-9275-57ADA200CACC}"/>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6" name="מציין מיקום של מספר שקופית 5">
            <a:extLst>
              <a:ext uri="{FF2B5EF4-FFF2-40B4-BE49-F238E27FC236}">
                <a16:creationId xmlns:a16="http://schemas.microsoft.com/office/drawing/2014/main" id="{EB4124FC-9994-2D63-1093-E8EF16D975C4}"/>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1770090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EBD873D3-05FC-5DF0-43AF-37D7836618D6}"/>
              </a:ext>
            </a:extLst>
          </p:cNvPr>
          <p:cNvSpPr>
            <a:spLocks noGrp="1"/>
          </p:cNvSpPr>
          <p:nvPr>
            <p:ph type="title" orient="vert"/>
          </p:nvPr>
        </p:nvSpPr>
        <p:spPr>
          <a:xfrm>
            <a:off x="8724900" y="365125"/>
            <a:ext cx="2628900" cy="5811838"/>
          </a:xfrm>
          <a:prstGeom prst="rect">
            <a:avLst/>
          </a:prstGeom>
        </p:spPr>
        <p:txBody>
          <a:bodyPr vert="eaVert"/>
          <a:lstStyle/>
          <a:p>
            <a:r>
              <a:rPr lang="he-IL">
                <a:latin typeface="Sana"/>
                <a:ea typeface="Sana"/>
                <a:cs typeface="Sana"/>
              </a:rPr>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3CFA436F-3157-7C1A-E45A-2B6D30B0330D}"/>
              </a:ext>
            </a:extLst>
          </p:cNvPr>
          <p:cNvSpPr>
            <a:spLocks noGrp="1"/>
          </p:cNvSpPr>
          <p:nvPr>
            <p:ph type="body" orient="vert" idx="1"/>
          </p:nvPr>
        </p:nvSpPr>
        <p:spPr>
          <a:xfrm>
            <a:off x="838200" y="365125"/>
            <a:ext cx="7734300" cy="5811838"/>
          </a:xfrm>
          <a:prstGeom prst="rect">
            <a:avLst/>
          </a:prstGeom>
        </p:spPr>
        <p:txBody>
          <a:bodyPr vert="eaVert"/>
          <a:lstStyle/>
          <a:p>
            <a:pPr lvl="0"/>
            <a:r>
              <a:rPr lang="he-IL">
                <a:latin typeface="Sana"/>
                <a:ea typeface="Sana"/>
                <a:cs typeface="Sana"/>
              </a:rPr>
              <a:t>לחץ כדי לערוך סגנונות טקסט של תבנית בסיס</a:t>
            </a:r>
          </a:p>
          <a:p>
            <a:pPr lvl="1"/>
            <a:r>
              <a:rPr lang="he-IL">
                <a:latin typeface="Sana"/>
                <a:ea typeface="Sana"/>
                <a:cs typeface="Sana"/>
              </a:rPr>
              <a:t>רמה שנייה</a:t>
            </a:r>
          </a:p>
          <a:p>
            <a:pPr lvl="2"/>
            <a:r>
              <a:rPr lang="he-IL">
                <a:latin typeface="Sana"/>
                <a:ea typeface="Sana"/>
                <a:cs typeface="Sana"/>
              </a:rPr>
              <a:t>רמה שלישית</a:t>
            </a:r>
          </a:p>
          <a:p>
            <a:pPr lvl="3"/>
            <a:r>
              <a:rPr lang="he-IL">
                <a:latin typeface="Sana"/>
                <a:ea typeface="Sana"/>
                <a:cs typeface="Sana"/>
              </a:rPr>
              <a:t>רמה רביעית</a:t>
            </a:r>
          </a:p>
          <a:p>
            <a:pPr lvl="4"/>
            <a:r>
              <a:rPr lang="he-IL">
                <a:latin typeface="Sana"/>
                <a:ea typeface="Sana"/>
                <a:cs typeface="Sana"/>
              </a:rPr>
              <a:t>רמה חמישית</a:t>
            </a:r>
          </a:p>
        </p:txBody>
      </p:sp>
      <p:sp>
        <p:nvSpPr>
          <p:cNvPr id="4" name="מציין מיקום של תאריך 3">
            <a:extLst>
              <a:ext uri="{FF2B5EF4-FFF2-40B4-BE49-F238E27FC236}">
                <a16:creationId xmlns:a16="http://schemas.microsoft.com/office/drawing/2014/main" id="{667C9AC3-2B25-6F67-C6F0-8F7DE72F0044}"/>
              </a:ext>
            </a:extLst>
          </p:cNvPr>
          <p:cNvSpPr>
            <a:spLocks noGrp="1"/>
          </p:cNvSpPr>
          <p:nvPr>
            <p:ph type="dt" sz="half" idx="10"/>
          </p:nvPr>
        </p:nvSpPr>
        <p:spPr>
          <a:xfrm>
            <a:off x="8610600" y="6356350"/>
            <a:ext cx="2743200" cy="365125"/>
          </a:xfrm>
          <a:prstGeom prst="rect">
            <a:avLst/>
          </a:prstGeom>
        </p:spPr>
        <p:txBody>
          <a:bodyPr/>
          <a:lstStyle/>
          <a:p>
            <a:endParaRPr lang="he-IL">
              <a:latin typeface="Sana"/>
              <a:ea typeface="Sana"/>
              <a:cs typeface="Sana"/>
            </a:endParaRPr>
          </a:p>
        </p:txBody>
      </p:sp>
      <p:sp>
        <p:nvSpPr>
          <p:cNvPr id="5" name="מציין מיקום של כותרת תחתונה 4">
            <a:extLst>
              <a:ext uri="{FF2B5EF4-FFF2-40B4-BE49-F238E27FC236}">
                <a16:creationId xmlns:a16="http://schemas.microsoft.com/office/drawing/2014/main" id="{6E9EE2E3-6B1B-D5AC-9B62-84D70F51A234}"/>
              </a:ext>
            </a:extLst>
          </p:cNvPr>
          <p:cNvSpPr>
            <a:spLocks noGrp="1"/>
          </p:cNvSpPr>
          <p:nvPr>
            <p:ph type="ftr" sz="quarter" idx="11"/>
          </p:nvPr>
        </p:nvSpPr>
        <p:spPr>
          <a:xfrm>
            <a:off x="4038600" y="6356350"/>
            <a:ext cx="4114800" cy="365125"/>
          </a:xfrm>
          <a:prstGeom prst="rect">
            <a:avLst/>
          </a:prstGeom>
        </p:spPr>
        <p:txBody>
          <a:bodyPr/>
          <a:lstStyle/>
          <a:p>
            <a:endParaRPr lang="he-IL">
              <a:latin typeface="Sana"/>
              <a:ea typeface="Sana"/>
              <a:cs typeface="Sana"/>
            </a:endParaRPr>
          </a:p>
        </p:txBody>
      </p:sp>
      <p:sp>
        <p:nvSpPr>
          <p:cNvPr id="6" name="מציין מיקום של מספר שקופית 5">
            <a:extLst>
              <a:ext uri="{FF2B5EF4-FFF2-40B4-BE49-F238E27FC236}">
                <a16:creationId xmlns:a16="http://schemas.microsoft.com/office/drawing/2014/main" id="{BA2251D9-210E-31DA-5D59-10E6113BAF53}"/>
              </a:ext>
            </a:extLst>
          </p:cNvPr>
          <p:cNvSpPr>
            <a:spLocks noGrp="1"/>
          </p:cNvSpPr>
          <p:nvPr>
            <p:ph type="sldNum" sz="quarter" idx="12"/>
          </p:nvPr>
        </p:nvSpPr>
        <p:spPr>
          <a:xfrm>
            <a:off x="838200" y="6356350"/>
            <a:ext cx="2743200" cy="365125"/>
          </a:xfrm>
          <a:prstGeom prst="rect">
            <a:avLst/>
          </a:prstGeom>
        </p:spPr>
        <p:txBody>
          <a:bodyPr/>
          <a:lstStyle/>
          <a:p>
            <a:fld id="{568DA4E4-3E41-344B-B43F-2407D46CD701}" type="slidenum">
              <a:rPr lang="he-IL" smtClean="0">
                <a:latin typeface="Sana"/>
                <a:ea typeface="Sana"/>
                <a:cs typeface="Sana"/>
              </a:rPr>
              <a:t>‹#›</a:t>
            </a:fld>
            <a:endParaRPr lang="he-IL">
              <a:latin typeface="Sana"/>
              <a:ea typeface="Sana"/>
              <a:cs typeface="Sana"/>
            </a:endParaRPr>
          </a:p>
        </p:txBody>
      </p:sp>
    </p:spTree>
    <p:extLst>
      <p:ext uri="{BB962C8B-B14F-4D97-AF65-F5344CB8AC3E}">
        <p14:creationId xmlns:p14="http://schemas.microsoft.com/office/powerpoint/2010/main" val="1187313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0896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r" defTabSz="914400" rtl="1" eaLnBrk="1" latinLnBrk="0" hangingPunct="1">
        <a:lnSpc>
          <a:spcPct val="90000"/>
        </a:lnSpc>
        <a:spcBef>
          <a:spcPct val="0"/>
        </a:spcBef>
        <a:buNone/>
        <a:defRPr sz="4400" kern="1200">
          <a:solidFill>
            <a:schemeClr val="tx1"/>
          </a:solidFill>
          <a:latin typeface="Sana"/>
          <a:ea typeface="Sana"/>
          <a:cs typeface="Sana"/>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ana"/>
          <a:ea typeface="Sana"/>
          <a:cs typeface="Sana"/>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ana"/>
          <a:ea typeface="Sana"/>
          <a:cs typeface="Sana"/>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ana"/>
          <a:ea typeface="Sana"/>
          <a:cs typeface="Sana"/>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na"/>
          <a:ea typeface="Sana"/>
          <a:cs typeface="Sana"/>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na"/>
          <a:ea typeface="Sana"/>
          <a:cs typeface="Sana"/>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na"/>
          <a:ea typeface="Sana"/>
          <a:cs typeface="Sana"/>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na"/>
          <a:ea typeface="Sana"/>
          <a:cs typeface="Sana"/>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na"/>
          <a:ea typeface="Sana"/>
          <a:cs typeface="Sana"/>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ana"/>
          <a:ea typeface="Sana"/>
          <a:cs typeface="Sana"/>
        </a:defRPr>
      </a:lvl9pPr>
    </p:bodyStyle>
    <p:otherStyle>
      <a:defPPr>
        <a:defRPr lang="he-IL">
          <a:latin typeface="Sana"/>
          <a:ea typeface="Sana"/>
          <a:cs typeface="Sana"/>
        </a:defRPr>
      </a:defPPr>
      <a:lvl1pPr marL="0" algn="r" defTabSz="914400" rtl="1" eaLnBrk="1" latinLnBrk="0" hangingPunct="1">
        <a:defRPr sz="1800" kern="1200">
          <a:solidFill>
            <a:schemeClr val="tx1"/>
          </a:solidFill>
          <a:latin typeface="Sana"/>
          <a:ea typeface="Sana"/>
          <a:cs typeface="Sana"/>
        </a:defRPr>
      </a:lvl1pPr>
      <a:lvl2pPr marL="457200" algn="r" defTabSz="914400" rtl="1" eaLnBrk="1" latinLnBrk="0" hangingPunct="1">
        <a:defRPr sz="1800" kern="1200">
          <a:solidFill>
            <a:schemeClr val="tx1"/>
          </a:solidFill>
          <a:latin typeface="Sana"/>
          <a:ea typeface="Sana"/>
          <a:cs typeface="Sana"/>
        </a:defRPr>
      </a:lvl2pPr>
      <a:lvl3pPr marL="914400" algn="r" defTabSz="914400" rtl="1" eaLnBrk="1" latinLnBrk="0" hangingPunct="1">
        <a:defRPr sz="1800" kern="1200">
          <a:solidFill>
            <a:schemeClr val="tx1"/>
          </a:solidFill>
          <a:latin typeface="Sana"/>
          <a:ea typeface="Sana"/>
          <a:cs typeface="Sana"/>
        </a:defRPr>
      </a:lvl3pPr>
      <a:lvl4pPr marL="1371600" algn="r" defTabSz="914400" rtl="1" eaLnBrk="1" latinLnBrk="0" hangingPunct="1">
        <a:defRPr sz="1800" kern="1200">
          <a:solidFill>
            <a:schemeClr val="tx1"/>
          </a:solidFill>
          <a:latin typeface="Sana"/>
          <a:ea typeface="Sana"/>
          <a:cs typeface="Sana"/>
        </a:defRPr>
      </a:lvl4pPr>
      <a:lvl5pPr marL="1828800" algn="r" defTabSz="914400" rtl="1" eaLnBrk="1" latinLnBrk="0" hangingPunct="1">
        <a:defRPr sz="1800" kern="1200">
          <a:solidFill>
            <a:schemeClr val="tx1"/>
          </a:solidFill>
          <a:latin typeface="Sana"/>
          <a:ea typeface="Sana"/>
          <a:cs typeface="Sana"/>
        </a:defRPr>
      </a:lvl5pPr>
      <a:lvl6pPr marL="2286000" algn="r" defTabSz="914400" rtl="1" eaLnBrk="1" latinLnBrk="0" hangingPunct="1">
        <a:defRPr sz="1800" kern="1200">
          <a:solidFill>
            <a:schemeClr val="tx1"/>
          </a:solidFill>
          <a:latin typeface="Sana"/>
          <a:ea typeface="Sana"/>
          <a:cs typeface="Sana"/>
        </a:defRPr>
      </a:lvl6pPr>
      <a:lvl7pPr marL="2743200" algn="r" defTabSz="914400" rtl="1" eaLnBrk="1" latinLnBrk="0" hangingPunct="1">
        <a:defRPr sz="1800" kern="1200">
          <a:solidFill>
            <a:schemeClr val="tx1"/>
          </a:solidFill>
          <a:latin typeface="Sana"/>
          <a:ea typeface="Sana"/>
          <a:cs typeface="Sana"/>
        </a:defRPr>
      </a:lvl7pPr>
      <a:lvl8pPr marL="3200400" algn="r" defTabSz="914400" rtl="1" eaLnBrk="1" latinLnBrk="0" hangingPunct="1">
        <a:defRPr sz="1800" kern="1200">
          <a:solidFill>
            <a:schemeClr val="tx1"/>
          </a:solidFill>
          <a:latin typeface="Sana"/>
          <a:ea typeface="Sana"/>
          <a:cs typeface="Sana"/>
        </a:defRPr>
      </a:lvl8pPr>
      <a:lvl9pPr marL="3657600" algn="r" defTabSz="914400" rtl="1" eaLnBrk="1" latinLnBrk="0" hangingPunct="1">
        <a:defRPr sz="1800" kern="1200">
          <a:solidFill>
            <a:schemeClr val="tx1"/>
          </a:solidFill>
          <a:latin typeface="Sana"/>
          <a:ea typeface="Sana"/>
          <a:cs typeface="San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jp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0.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jpeg"/></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תיבת טקסט 6">
            <a:extLst>
              <a:ext uri="{FF2B5EF4-FFF2-40B4-BE49-F238E27FC236}">
                <a16:creationId xmlns:a16="http://schemas.microsoft.com/office/drawing/2014/main" id="{D3897F28-82C4-700E-3A6B-72FDBE1E7469}"/>
              </a:ext>
            </a:extLst>
          </p:cNvPr>
          <p:cNvSpPr txBox="1"/>
          <p:nvPr/>
        </p:nvSpPr>
        <p:spPr>
          <a:xfrm>
            <a:off x="660848" y="1890117"/>
            <a:ext cx="5803014" cy="1569660"/>
          </a:xfrm>
          <a:prstGeom prst="rect">
            <a:avLst/>
          </a:prstGeom>
          <a:noFill/>
        </p:spPr>
        <p:txBody>
          <a:bodyPr wrap="square">
            <a:spAutoFit/>
          </a:bodyPr>
          <a:lstStyle/>
          <a:p>
            <a:pPr algn="ctr" rtl="0"/>
            <a:r>
              <a:rPr lang="en-US" sz="3200" b="1" dirty="0">
                <a:solidFill>
                  <a:schemeClr val="accent4">
                    <a:lumMod val="75000"/>
                  </a:schemeClr>
                </a:solidFill>
                <a:latin typeface="Sana"/>
                <a:ea typeface="Sana"/>
                <a:cs typeface="Sana"/>
              </a:rPr>
              <a:t>Amplitude-Robust Qubit Spectroscopy Using Echo-Root-Lorentzian Pulse Shapes</a:t>
            </a:r>
            <a:endParaRPr lang="he-IL" sz="3000" b="1" dirty="0">
              <a:solidFill>
                <a:srgbClr val="177987"/>
              </a:solidFill>
              <a:latin typeface="Sana"/>
              <a:cs typeface="Sana"/>
            </a:endParaRPr>
          </a:p>
        </p:txBody>
      </p:sp>
      <p:sp>
        <p:nvSpPr>
          <p:cNvPr id="3" name="תיבת טקסט 7">
            <a:extLst>
              <a:ext uri="{FF2B5EF4-FFF2-40B4-BE49-F238E27FC236}">
                <a16:creationId xmlns:a16="http://schemas.microsoft.com/office/drawing/2014/main" id="{3957DA1D-1993-9CEC-E7D0-9AFA177F4D36}"/>
              </a:ext>
            </a:extLst>
          </p:cNvPr>
          <p:cNvSpPr txBox="1"/>
          <p:nvPr/>
        </p:nvSpPr>
        <p:spPr>
          <a:xfrm>
            <a:off x="1294748" y="3548907"/>
            <a:ext cx="4535214" cy="800219"/>
          </a:xfrm>
          <a:prstGeom prst="rect">
            <a:avLst/>
          </a:prstGeom>
          <a:noFill/>
        </p:spPr>
        <p:txBody>
          <a:bodyPr wrap="square">
            <a:spAutoFit/>
          </a:bodyPr>
          <a:lstStyle/>
          <a:p>
            <a:pPr algn="ctr" rtl="0"/>
            <a:endParaRPr lang="en-US" sz="1600" dirty="0">
              <a:latin typeface="Sana"/>
              <a:ea typeface="Sana"/>
              <a:cs typeface="Sana"/>
            </a:endParaRPr>
          </a:p>
          <a:p>
            <a:pPr algn="ctr" rtl="0"/>
            <a:r>
              <a:rPr lang="en-US" sz="1500" dirty="0">
                <a:solidFill>
                  <a:srgbClr val="177987"/>
                </a:solidFill>
                <a:latin typeface="Sana"/>
                <a:cs typeface="Sana"/>
              </a:rPr>
              <a:t>Asaf Solonnikov | Nadav Katz</a:t>
            </a:r>
            <a:br>
              <a:rPr lang="en-US" sz="1500" dirty="0">
                <a:solidFill>
                  <a:srgbClr val="177987"/>
                </a:solidFill>
                <a:latin typeface="Sana"/>
                <a:cs typeface="Sana"/>
              </a:rPr>
            </a:br>
            <a:r>
              <a:rPr lang="en-US" sz="1500" dirty="0">
                <a:solidFill>
                  <a:srgbClr val="177987"/>
                </a:solidFill>
                <a:latin typeface="Sana"/>
                <a:cs typeface="Sana"/>
              </a:rPr>
              <a:t>	</a:t>
            </a:r>
            <a:endParaRPr lang="he-IL" sz="1500" dirty="0">
              <a:solidFill>
                <a:srgbClr val="177987"/>
              </a:solidFill>
              <a:latin typeface="Sana"/>
              <a:cs typeface="Sana"/>
            </a:endParaRPr>
          </a:p>
        </p:txBody>
      </p:sp>
      <p:pic>
        <p:nvPicPr>
          <p:cNvPr id="6" name="Picture 5" descr="A black text on a white background&#10;&#10;AI-generated content may be incorrect.">
            <a:extLst>
              <a:ext uri="{FF2B5EF4-FFF2-40B4-BE49-F238E27FC236}">
                <a16:creationId xmlns:a16="http://schemas.microsoft.com/office/drawing/2014/main" id="{7E78D37C-003A-46A5-1213-DB1797F5673C}"/>
              </a:ext>
            </a:extLst>
          </p:cNvPr>
          <p:cNvPicPr>
            <a:picLocks noChangeAspect="1"/>
          </p:cNvPicPr>
          <p:nvPr/>
        </p:nvPicPr>
        <p:blipFill>
          <a:blip r:embed="rId4"/>
          <a:stretch>
            <a:fillRect/>
          </a:stretch>
        </p:blipFill>
        <p:spPr>
          <a:xfrm>
            <a:off x="2128344" y="5238476"/>
            <a:ext cx="1996535" cy="682452"/>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DEDAA9CB-7A26-38E4-DB13-4087FD12BC23}"/>
              </a:ext>
            </a:extLst>
          </p:cNvPr>
          <p:cNvPicPr>
            <a:picLocks noChangeAspect="1"/>
          </p:cNvPicPr>
          <p:nvPr/>
        </p:nvPicPr>
        <p:blipFill>
          <a:blip r:embed="rId5"/>
          <a:stretch>
            <a:fillRect/>
          </a:stretch>
        </p:blipFill>
        <p:spPr>
          <a:xfrm>
            <a:off x="7809554" y="5278853"/>
            <a:ext cx="1918200" cy="642075"/>
          </a:xfrm>
          <a:prstGeom prst="rect">
            <a:avLst/>
          </a:prstGeom>
        </p:spPr>
      </p:pic>
      <p:pic>
        <p:nvPicPr>
          <p:cNvPr id="5" name="Picture 4" descr="A line drawing of a function&#10;&#10;AI-generated content may be incorrect.">
            <a:extLst>
              <a:ext uri="{FF2B5EF4-FFF2-40B4-BE49-F238E27FC236}">
                <a16:creationId xmlns:a16="http://schemas.microsoft.com/office/drawing/2014/main" id="{8CDB489F-0991-F1E8-F2CF-7BFF6100D82B}"/>
              </a:ext>
            </a:extLst>
          </p:cNvPr>
          <p:cNvPicPr>
            <a:picLocks noChangeAspect="1"/>
          </p:cNvPicPr>
          <p:nvPr/>
        </p:nvPicPr>
        <p:blipFill>
          <a:blip r:embed="rId6"/>
          <a:stretch>
            <a:fillRect/>
          </a:stretch>
        </p:blipFill>
        <p:spPr>
          <a:xfrm>
            <a:off x="6463862" y="1899085"/>
            <a:ext cx="5467244" cy="3059830"/>
          </a:xfrm>
          <a:prstGeom prst="rect">
            <a:avLst/>
          </a:prstGeom>
        </p:spPr>
      </p:pic>
    </p:spTree>
    <p:extLst>
      <p:ext uri="{BB962C8B-B14F-4D97-AF65-F5344CB8AC3E}">
        <p14:creationId xmlns:p14="http://schemas.microsoft.com/office/powerpoint/2010/main" val="1590786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B05A73D-9096-5AC2-8F39-483446B57CFC}"/>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ED1AE327-2BA0-6555-B70C-2214EAB01FBB}"/>
              </a:ext>
            </a:extLst>
          </p:cNvPr>
          <p:cNvSpPr txBox="1"/>
          <p:nvPr/>
        </p:nvSpPr>
        <p:spPr>
          <a:xfrm>
            <a:off x="473413" y="489015"/>
            <a:ext cx="10205097" cy="1538883"/>
          </a:xfrm>
          <a:prstGeom prst="rect">
            <a:avLst/>
          </a:prstGeom>
          <a:noFill/>
        </p:spPr>
        <p:txBody>
          <a:bodyPr wrap="square">
            <a:spAutoFit/>
          </a:bodyPr>
          <a:lstStyle/>
          <a:p>
            <a:pPr algn="l" rtl="0"/>
            <a:r>
              <a:rPr lang="en-IL" sz="3200" b="1" dirty="0"/>
              <a:t>Spectroscopy for Precision Characterization of Two-Level Systems</a:t>
            </a:r>
            <a:endParaRPr lang="en-IL" sz="3200" dirty="0"/>
          </a:p>
          <a:p>
            <a:pPr algn="l" rtl="0"/>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1F647F3F-322B-6390-5E88-38A2B579EC4E}"/>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987A46AF-5B67-6069-AFE9-47819481964A}"/>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sp>
        <p:nvSpPr>
          <p:cNvPr id="20" name="TextBox 19">
            <a:extLst>
              <a:ext uri="{FF2B5EF4-FFF2-40B4-BE49-F238E27FC236}">
                <a16:creationId xmlns:a16="http://schemas.microsoft.com/office/drawing/2014/main" id="{F115389A-B32B-1931-12EE-DCC20FE1F69B}"/>
              </a:ext>
            </a:extLst>
          </p:cNvPr>
          <p:cNvSpPr txBox="1"/>
          <p:nvPr/>
        </p:nvSpPr>
        <p:spPr>
          <a:xfrm>
            <a:off x="2661522" y="3933591"/>
            <a:ext cx="6660041" cy="240065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rtl="0"/>
            <a:r>
              <a:rPr lang="en-IL" sz="2400" b="1" dirty="0"/>
              <a:t>Common goal</a:t>
            </a:r>
            <a:endParaRPr lang="en-US" sz="2400" b="1" dirty="0"/>
          </a:p>
          <a:p>
            <a:pPr algn="ctr" rtl="0"/>
            <a:r>
              <a:rPr lang="en-IL" dirty="0"/>
              <a:t>Determine the transition frequency</a:t>
            </a:r>
            <a:endParaRPr lang="en-US" dirty="0"/>
          </a:p>
          <a:p>
            <a:pPr algn="ctr" rtl="0"/>
            <a:endParaRPr lang="en-US" dirty="0"/>
          </a:p>
          <a:p>
            <a:pPr algn="ctr" rtl="0"/>
            <a:r>
              <a:rPr lang="en-IL" dirty="0"/>
              <a:t>with the highest possible precision</a:t>
            </a:r>
            <a:r>
              <a:rPr lang="en-US" dirty="0"/>
              <a:t> </a:t>
            </a:r>
            <a:r>
              <a:rPr lang="en-US" dirty="0">
                <a:solidFill>
                  <a:srgbClr val="0070C0"/>
                </a:solidFill>
              </a:rPr>
              <a:t>efficiently</a:t>
            </a:r>
          </a:p>
          <a:p>
            <a:pPr algn="ctr" rtl="0"/>
            <a:endParaRPr lang="en-US" dirty="0"/>
          </a:p>
          <a:p>
            <a:pPr algn="ctr" rtl="0"/>
            <a:endParaRPr lang="en-US" dirty="0"/>
          </a:p>
          <a:p>
            <a:pPr algn="ctr" rtl="0"/>
            <a:r>
              <a:rPr lang="en-IL" b="1" dirty="0"/>
              <a:t>Spectroscopy = frequency metrology</a:t>
            </a:r>
            <a:endParaRPr lang="en-IL" dirty="0"/>
          </a:p>
          <a:p>
            <a:pPr algn="ctr" rtl="0"/>
            <a:endParaRPr lang="en-IL" dirty="0"/>
          </a:p>
        </p:txBody>
      </p:sp>
      <p:pic>
        <p:nvPicPr>
          <p:cNvPr id="26" name="Picture 25">
            <a:extLst>
              <a:ext uri="{FF2B5EF4-FFF2-40B4-BE49-F238E27FC236}">
                <a16:creationId xmlns:a16="http://schemas.microsoft.com/office/drawing/2014/main" id="{ACC674DE-3995-4CBF-BBB8-FAB74D4DB142}"/>
              </a:ext>
            </a:extLst>
          </p:cNvPr>
          <p:cNvPicPr>
            <a:picLocks noChangeAspect="1"/>
          </p:cNvPicPr>
          <p:nvPr/>
        </p:nvPicPr>
        <p:blipFill>
          <a:blip r:embed="rId4"/>
          <a:stretch>
            <a:fillRect/>
          </a:stretch>
        </p:blipFill>
        <p:spPr>
          <a:xfrm>
            <a:off x="2182090" y="1569477"/>
            <a:ext cx="1342714" cy="2036135"/>
          </a:xfrm>
          <a:prstGeom prst="rect">
            <a:avLst/>
          </a:prstGeom>
        </p:spPr>
      </p:pic>
      <p:sp>
        <p:nvSpPr>
          <p:cNvPr id="28" name="TextBox 27">
            <a:extLst>
              <a:ext uri="{FF2B5EF4-FFF2-40B4-BE49-F238E27FC236}">
                <a16:creationId xmlns:a16="http://schemas.microsoft.com/office/drawing/2014/main" id="{A4C4E3C8-8E80-E4CB-594F-6D664A24CC0B}"/>
              </a:ext>
            </a:extLst>
          </p:cNvPr>
          <p:cNvSpPr txBox="1"/>
          <p:nvPr/>
        </p:nvSpPr>
        <p:spPr>
          <a:xfrm>
            <a:off x="5991543" y="1851286"/>
            <a:ext cx="5727044" cy="1754326"/>
          </a:xfrm>
          <a:prstGeom prst="rect">
            <a:avLst/>
          </a:prstGeom>
          <a:noFill/>
        </p:spPr>
        <p:txBody>
          <a:bodyPr wrap="square">
            <a:spAutoFit/>
          </a:bodyPr>
          <a:lstStyle/>
          <a:p>
            <a:pPr algn="l" rtl="0">
              <a:buNone/>
            </a:pPr>
            <a:r>
              <a:rPr lang="en-IL" b="1" dirty="0"/>
              <a:t>Two-level systems appear in many physical platforms</a:t>
            </a:r>
            <a:endParaRPr lang="en-IL" dirty="0"/>
          </a:p>
          <a:p>
            <a:pPr algn="l" rtl="0">
              <a:buFont typeface="Arial" panose="020B0604020202020204" pitchFamily="34" charset="0"/>
              <a:buChar char="•"/>
            </a:pPr>
            <a:r>
              <a:rPr lang="en-IL" dirty="0"/>
              <a:t>Atomic transitions </a:t>
            </a:r>
          </a:p>
          <a:p>
            <a:pPr algn="l" rtl="0">
              <a:buFont typeface="Arial" panose="020B0604020202020204" pitchFamily="34" charset="0"/>
              <a:buChar char="•"/>
            </a:pPr>
            <a:r>
              <a:rPr lang="en-IL" dirty="0"/>
              <a:t>Electron and nuclear spins </a:t>
            </a:r>
          </a:p>
          <a:p>
            <a:pPr algn="l" rtl="0">
              <a:buFont typeface="Arial" panose="020B0604020202020204" pitchFamily="34" charset="0"/>
              <a:buChar char="•"/>
            </a:pPr>
            <a:r>
              <a:rPr lang="en-IL" dirty="0"/>
              <a:t>NV </a:t>
            </a:r>
            <a:r>
              <a:rPr lang="en-IL" dirty="0" err="1"/>
              <a:t>centers</a:t>
            </a:r>
            <a:r>
              <a:rPr lang="en-IL" dirty="0"/>
              <a:t> </a:t>
            </a:r>
          </a:p>
          <a:p>
            <a:pPr algn="l" rtl="0">
              <a:buFont typeface="Arial" panose="020B0604020202020204" pitchFamily="34" charset="0"/>
              <a:buChar char="•"/>
            </a:pPr>
            <a:r>
              <a:rPr lang="en-IL" dirty="0"/>
              <a:t>Quantum dots </a:t>
            </a:r>
          </a:p>
          <a:p>
            <a:pPr algn="l" rtl="0">
              <a:buFont typeface="Arial" panose="020B0604020202020204" pitchFamily="34" charset="0"/>
              <a:buChar char="•"/>
            </a:pPr>
            <a:r>
              <a:rPr lang="en-IL" dirty="0"/>
              <a:t>Superconducting qubits</a:t>
            </a:r>
          </a:p>
        </p:txBody>
      </p:sp>
      <p:pic>
        <p:nvPicPr>
          <p:cNvPr id="30" name="Picture 29">
            <a:extLst>
              <a:ext uri="{FF2B5EF4-FFF2-40B4-BE49-F238E27FC236}">
                <a16:creationId xmlns:a16="http://schemas.microsoft.com/office/drawing/2014/main" id="{1EC381EA-4614-E9D9-E440-AA86D6F1F78F}"/>
              </a:ext>
            </a:extLst>
          </p:cNvPr>
          <p:cNvPicPr>
            <a:picLocks noChangeAspect="1"/>
          </p:cNvPicPr>
          <p:nvPr/>
        </p:nvPicPr>
        <p:blipFill>
          <a:blip r:embed="rId5"/>
          <a:stretch>
            <a:fillRect/>
          </a:stretch>
        </p:blipFill>
        <p:spPr>
          <a:xfrm>
            <a:off x="3046182" y="2455833"/>
            <a:ext cx="830244" cy="365021"/>
          </a:xfrm>
          <a:prstGeom prst="rect">
            <a:avLst/>
          </a:prstGeom>
        </p:spPr>
      </p:pic>
      <p:pic>
        <p:nvPicPr>
          <p:cNvPr id="32" name="Picture 31">
            <a:extLst>
              <a:ext uri="{FF2B5EF4-FFF2-40B4-BE49-F238E27FC236}">
                <a16:creationId xmlns:a16="http://schemas.microsoft.com/office/drawing/2014/main" id="{B5CC3E90-EDFA-A8C6-666A-3890304FEAA4}"/>
              </a:ext>
            </a:extLst>
          </p:cNvPr>
          <p:cNvPicPr>
            <a:picLocks noChangeAspect="1"/>
          </p:cNvPicPr>
          <p:nvPr/>
        </p:nvPicPr>
        <p:blipFill>
          <a:blip r:embed="rId6"/>
          <a:stretch>
            <a:fillRect/>
          </a:stretch>
        </p:blipFill>
        <p:spPr>
          <a:xfrm>
            <a:off x="7728868" y="4350848"/>
            <a:ext cx="228317" cy="291301"/>
          </a:xfrm>
          <a:prstGeom prst="rect">
            <a:avLst/>
          </a:prstGeom>
        </p:spPr>
      </p:pic>
    </p:spTree>
    <p:extLst>
      <p:ext uri="{BB962C8B-B14F-4D97-AF65-F5344CB8AC3E}">
        <p14:creationId xmlns:p14="http://schemas.microsoft.com/office/powerpoint/2010/main" val="2730270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DD6CC03-E837-B11F-6638-6B4EC8B8CFC3}"/>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B38E828E-9273-18C7-A165-A55E3B70F78D}"/>
              </a:ext>
            </a:extLst>
          </p:cNvPr>
          <p:cNvSpPr txBox="1"/>
          <p:nvPr/>
        </p:nvSpPr>
        <p:spPr>
          <a:xfrm>
            <a:off x="473413" y="489015"/>
            <a:ext cx="10205097" cy="584775"/>
          </a:xfrm>
          <a:prstGeom prst="rect">
            <a:avLst/>
          </a:prstGeom>
          <a:noFill/>
        </p:spPr>
        <p:txBody>
          <a:bodyPr wrap="square">
            <a:spAutoFit/>
          </a:bodyPr>
          <a:lstStyle/>
          <a:p>
            <a:pPr algn="l" rtl="0"/>
            <a:r>
              <a:rPr lang="en-US" sz="3200" b="1" dirty="0">
                <a:solidFill>
                  <a:srgbClr val="0B1F33"/>
                </a:solidFill>
              </a:rPr>
              <a:t>Superconducting Qubits</a:t>
            </a:r>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15E9D635-A184-9F4E-BCA7-BDB8860CE361}"/>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9C2342FE-DE9C-12AF-E17C-5BF26E7AE3D8}"/>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10" name="Picture 9" descr="A black text with a white background&#10;&#10;AI-generated content may be incorrect.">
            <a:extLst>
              <a:ext uri="{FF2B5EF4-FFF2-40B4-BE49-F238E27FC236}">
                <a16:creationId xmlns:a16="http://schemas.microsoft.com/office/drawing/2014/main" id="{2BF7560A-82E6-9FD8-2AEE-81591D28EE2C}"/>
              </a:ext>
            </a:extLst>
          </p:cNvPr>
          <p:cNvPicPr>
            <a:picLocks noChangeAspect="1"/>
          </p:cNvPicPr>
          <p:nvPr/>
        </p:nvPicPr>
        <p:blipFill>
          <a:blip r:embed="rId4"/>
          <a:stretch>
            <a:fillRect/>
          </a:stretch>
        </p:blipFill>
        <p:spPr>
          <a:xfrm>
            <a:off x="1456674" y="3861371"/>
            <a:ext cx="3109039" cy="683197"/>
          </a:xfrm>
          <a:prstGeom prst="rect">
            <a:avLst/>
          </a:prstGeom>
        </p:spPr>
      </p:pic>
      <p:pic>
        <p:nvPicPr>
          <p:cNvPr id="11" name="Picture 10" descr="A diagram of a mathematical equation&#10;&#10;AI-generated content may be incorrect.">
            <a:extLst>
              <a:ext uri="{FF2B5EF4-FFF2-40B4-BE49-F238E27FC236}">
                <a16:creationId xmlns:a16="http://schemas.microsoft.com/office/drawing/2014/main" id="{4668E1F3-74A5-34BE-E429-24B75E66308D}"/>
              </a:ext>
            </a:extLst>
          </p:cNvPr>
          <p:cNvPicPr>
            <a:picLocks noChangeAspect="1"/>
          </p:cNvPicPr>
          <p:nvPr/>
        </p:nvPicPr>
        <p:blipFill>
          <a:blip r:embed="rId5"/>
          <a:stretch>
            <a:fillRect/>
          </a:stretch>
        </p:blipFill>
        <p:spPr>
          <a:xfrm>
            <a:off x="891988" y="2544156"/>
            <a:ext cx="4238413" cy="1065231"/>
          </a:xfrm>
          <a:prstGeom prst="rect">
            <a:avLst/>
          </a:prstGeom>
        </p:spPr>
      </p:pic>
      <p:pic>
        <p:nvPicPr>
          <p:cNvPr id="8" name="Picture 7">
            <a:extLst>
              <a:ext uri="{FF2B5EF4-FFF2-40B4-BE49-F238E27FC236}">
                <a16:creationId xmlns:a16="http://schemas.microsoft.com/office/drawing/2014/main" id="{F2C75699-5421-12B5-8735-165CEABCA51A}"/>
              </a:ext>
            </a:extLst>
          </p:cNvPr>
          <p:cNvPicPr>
            <a:picLocks noChangeAspect="1"/>
          </p:cNvPicPr>
          <p:nvPr/>
        </p:nvPicPr>
        <p:blipFill>
          <a:blip r:embed="rId6"/>
          <a:stretch>
            <a:fillRect/>
          </a:stretch>
        </p:blipFill>
        <p:spPr>
          <a:xfrm>
            <a:off x="5687878" y="2838957"/>
            <a:ext cx="3045290" cy="2740152"/>
          </a:xfrm>
          <a:prstGeom prst="rect">
            <a:avLst/>
          </a:prstGeom>
        </p:spPr>
      </p:pic>
      <p:pic>
        <p:nvPicPr>
          <p:cNvPr id="1026" name="Picture 2" descr="Transmon - Wikipedia">
            <a:extLst>
              <a:ext uri="{FF2B5EF4-FFF2-40B4-BE49-F238E27FC236}">
                <a16:creationId xmlns:a16="http://schemas.microsoft.com/office/drawing/2014/main" id="{D84FE1B9-3782-B83A-E1C1-724F4BE385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9828" y="2900360"/>
            <a:ext cx="2230184" cy="2263784"/>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46B28D42-C73C-9C6C-D3D3-DF76DE30A345}"/>
              </a:ext>
            </a:extLst>
          </p:cNvPr>
          <p:cNvSpPr txBox="1"/>
          <p:nvPr/>
        </p:nvSpPr>
        <p:spPr>
          <a:xfrm>
            <a:off x="641780" y="1655193"/>
            <a:ext cx="7608237" cy="369332"/>
          </a:xfrm>
          <a:prstGeom prst="rect">
            <a:avLst/>
          </a:prstGeom>
          <a:noFill/>
        </p:spPr>
        <p:txBody>
          <a:bodyPr wrap="none" rtlCol="0">
            <a:spAutoFit/>
          </a:bodyPr>
          <a:lstStyle/>
          <a:p>
            <a:pPr algn="l" rtl="0"/>
            <a:r>
              <a:rPr lang="en-IL" dirty="0"/>
              <a:t>A </a:t>
            </a:r>
            <a:r>
              <a:rPr lang="en-IL" b="1" dirty="0" err="1"/>
              <a:t>transmon</a:t>
            </a:r>
            <a:r>
              <a:rPr lang="en-IL" dirty="0"/>
              <a:t> is a weakly anharmonic oscillator driven by resonant microwaves.</a:t>
            </a:r>
          </a:p>
        </p:txBody>
      </p:sp>
      <p:pic>
        <p:nvPicPr>
          <p:cNvPr id="3" name="Picture 2">
            <a:extLst>
              <a:ext uri="{FF2B5EF4-FFF2-40B4-BE49-F238E27FC236}">
                <a16:creationId xmlns:a16="http://schemas.microsoft.com/office/drawing/2014/main" id="{A8CD520D-8F37-2FC6-645E-DC5395F1D7C6}"/>
              </a:ext>
            </a:extLst>
          </p:cNvPr>
          <p:cNvPicPr>
            <a:picLocks noChangeAspect="1"/>
          </p:cNvPicPr>
          <p:nvPr/>
        </p:nvPicPr>
        <p:blipFill>
          <a:blip r:embed="rId8"/>
          <a:stretch>
            <a:fillRect/>
          </a:stretch>
        </p:blipFill>
        <p:spPr>
          <a:xfrm>
            <a:off x="1671778" y="4654246"/>
            <a:ext cx="3077004" cy="1714739"/>
          </a:xfrm>
          <a:prstGeom prst="rect">
            <a:avLst/>
          </a:prstGeom>
        </p:spPr>
      </p:pic>
    </p:spTree>
    <p:extLst>
      <p:ext uri="{BB962C8B-B14F-4D97-AF65-F5344CB8AC3E}">
        <p14:creationId xmlns:p14="http://schemas.microsoft.com/office/powerpoint/2010/main" val="3048635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4400916-F17C-7E73-53E7-59146B6CE9CA}"/>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A9B6F48A-4F23-8A83-13BF-156E66AFE7D1}"/>
              </a:ext>
            </a:extLst>
          </p:cNvPr>
          <p:cNvSpPr txBox="1"/>
          <p:nvPr/>
        </p:nvSpPr>
        <p:spPr>
          <a:xfrm>
            <a:off x="473413" y="489015"/>
            <a:ext cx="10205097" cy="584775"/>
          </a:xfrm>
          <a:prstGeom prst="rect">
            <a:avLst/>
          </a:prstGeom>
          <a:noFill/>
        </p:spPr>
        <p:txBody>
          <a:bodyPr wrap="square">
            <a:spAutoFit/>
          </a:bodyPr>
          <a:lstStyle/>
          <a:p>
            <a:pPr algn="l" rtl="0"/>
            <a:r>
              <a:rPr lang="en-US" sz="3200" b="1" dirty="0">
                <a:solidFill>
                  <a:srgbClr val="0B1F33"/>
                </a:solidFill>
              </a:rPr>
              <a:t>Motivation: Why Qubit Frequency Calibration Matters</a:t>
            </a:r>
            <a:endParaRPr lang="he-IL" sz="3000" b="1" dirty="0">
              <a:solidFill>
                <a:srgbClr val="177987"/>
              </a:solidFill>
            </a:endParaRPr>
          </a:p>
        </p:txBody>
      </p:sp>
      <p:sp>
        <p:nvSpPr>
          <p:cNvPr id="6" name="TextBox 5">
            <a:extLst>
              <a:ext uri="{FF2B5EF4-FFF2-40B4-BE49-F238E27FC236}">
                <a16:creationId xmlns:a16="http://schemas.microsoft.com/office/drawing/2014/main" id="{9E3A8DAF-4A64-544D-9E05-75712D857A2D}"/>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8D7D812A-52CE-7355-AB4F-1C56AC1DFA1F}"/>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8" name="Picture 7" descr="A math equations with black text&#10;&#10;AI-generated content may be incorrect.">
            <a:extLst>
              <a:ext uri="{FF2B5EF4-FFF2-40B4-BE49-F238E27FC236}">
                <a16:creationId xmlns:a16="http://schemas.microsoft.com/office/drawing/2014/main" id="{1D92B47C-76E9-E030-50B3-2BD8C9C0A000}"/>
              </a:ext>
            </a:extLst>
          </p:cNvPr>
          <p:cNvPicPr>
            <a:picLocks noChangeAspect="1"/>
          </p:cNvPicPr>
          <p:nvPr/>
        </p:nvPicPr>
        <p:blipFill>
          <a:blip r:embed="rId4"/>
          <a:stretch>
            <a:fillRect/>
          </a:stretch>
        </p:blipFill>
        <p:spPr>
          <a:xfrm>
            <a:off x="596170" y="2105739"/>
            <a:ext cx="4145094" cy="910295"/>
          </a:xfrm>
          <a:prstGeom prst="rect">
            <a:avLst/>
          </a:prstGeom>
        </p:spPr>
      </p:pic>
      <p:sp>
        <p:nvSpPr>
          <p:cNvPr id="7" name="TextBox 6">
            <a:extLst>
              <a:ext uri="{FF2B5EF4-FFF2-40B4-BE49-F238E27FC236}">
                <a16:creationId xmlns:a16="http://schemas.microsoft.com/office/drawing/2014/main" id="{BBC24FCA-16FF-B81A-33D4-34DFAA28FDCD}"/>
              </a:ext>
            </a:extLst>
          </p:cNvPr>
          <p:cNvSpPr txBox="1"/>
          <p:nvPr/>
        </p:nvSpPr>
        <p:spPr>
          <a:xfrm>
            <a:off x="596170" y="3261893"/>
            <a:ext cx="4776677" cy="646331"/>
          </a:xfrm>
          <a:prstGeom prst="rect">
            <a:avLst/>
          </a:prstGeom>
          <a:noFill/>
        </p:spPr>
        <p:txBody>
          <a:bodyPr wrap="square">
            <a:spAutoFit/>
          </a:bodyPr>
          <a:lstStyle/>
          <a:p>
            <a:pPr algn="l" rtl="0"/>
            <a:r>
              <a:rPr lang="en-IL" dirty="0"/>
              <a:t>Increasing drive amplitude → ↑ SNR </a:t>
            </a:r>
            <a:endParaRPr lang="en-US" dirty="0"/>
          </a:p>
          <a:p>
            <a:pPr algn="l" rtl="0"/>
            <a:r>
              <a:rPr lang="en-IL" dirty="0"/>
              <a:t>but ↓ frequency resolution</a:t>
            </a:r>
          </a:p>
        </p:txBody>
      </p:sp>
      <p:pic>
        <p:nvPicPr>
          <p:cNvPr id="19" name="Picture 18">
            <a:extLst>
              <a:ext uri="{FF2B5EF4-FFF2-40B4-BE49-F238E27FC236}">
                <a16:creationId xmlns:a16="http://schemas.microsoft.com/office/drawing/2014/main" id="{E0A0276F-EC73-2D8C-633A-75E268229733}"/>
              </a:ext>
            </a:extLst>
          </p:cNvPr>
          <p:cNvPicPr>
            <a:picLocks noChangeAspect="1"/>
          </p:cNvPicPr>
          <p:nvPr/>
        </p:nvPicPr>
        <p:blipFill>
          <a:blip r:embed="rId5"/>
          <a:stretch>
            <a:fillRect/>
          </a:stretch>
        </p:blipFill>
        <p:spPr>
          <a:xfrm>
            <a:off x="5152127" y="1706911"/>
            <a:ext cx="5848691" cy="3444177"/>
          </a:xfrm>
          <a:prstGeom prst="rect">
            <a:avLst/>
          </a:prstGeom>
        </p:spPr>
      </p:pic>
      <p:sp>
        <p:nvSpPr>
          <p:cNvPr id="24" name="TextBox 23">
            <a:extLst>
              <a:ext uri="{FF2B5EF4-FFF2-40B4-BE49-F238E27FC236}">
                <a16:creationId xmlns:a16="http://schemas.microsoft.com/office/drawing/2014/main" id="{D032F1F5-F94C-28EF-FA78-180D9D96328A}"/>
              </a:ext>
            </a:extLst>
          </p:cNvPr>
          <p:cNvSpPr txBox="1"/>
          <p:nvPr/>
        </p:nvSpPr>
        <p:spPr>
          <a:xfrm>
            <a:off x="528152" y="1185745"/>
            <a:ext cx="6060737" cy="646331"/>
          </a:xfrm>
          <a:prstGeom prst="rect">
            <a:avLst/>
          </a:prstGeom>
          <a:noFill/>
        </p:spPr>
        <p:txBody>
          <a:bodyPr wrap="square">
            <a:spAutoFit/>
          </a:bodyPr>
          <a:lstStyle/>
          <a:p>
            <a:pPr algn="l" rtl="0"/>
            <a:r>
              <a:rPr lang="en-IL" dirty="0"/>
              <a:t>High-fidelity quantum gates require an accurate estimate of the qubit transition frequency.</a:t>
            </a:r>
          </a:p>
        </p:txBody>
      </p:sp>
      <p:pic>
        <p:nvPicPr>
          <p:cNvPr id="22" name="Picture 21">
            <a:extLst>
              <a:ext uri="{FF2B5EF4-FFF2-40B4-BE49-F238E27FC236}">
                <a16:creationId xmlns:a16="http://schemas.microsoft.com/office/drawing/2014/main" id="{D34A498A-A589-493C-A837-A473B2CAAFB2}"/>
              </a:ext>
            </a:extLst>
          </p:cNvPr>
          <p:cNvPicPr>
            <a:picLocks noChangeAspect="1"/>
          </p:cNvPicPr>
          <p:nvPr/>
        </p:nvPicPr>
        <p:blipFill>
          <a:blip r:embed="rId6"/>
          <a:stretch>
            <a:fillRect/>
          </a:stretch>
        </p:blipFill>
        <p:spPr>
          <a:xfrm>
            <a:off x="1062497" y="5292510"/>
            <a:ext cx="3581900" cy="1076475"/>
          </a:xfrm>
          <a:prstGeom prst="rect">
            <a:avLst/>
          </a:prstGeom>
        </p:spPr>
      </p:pic>
      <p:sp>
        <p:nvSpPr>
          <p:cNvPr id="25" name="TextBox 24">
            <a:extLst>
              <a:ext uri="{FF2B5EF4-FFF2-40B4-BE49-F238E27FC236}">
                <a16:creationId xmlns:a16="http://schemas.microsoft.com/office/drawing/2014/main" id="{162B9BCA-E80A-2D12-66CD-079AE38FDAE4}"/>
              </a:ext>
            </a:extLst>
          </p:cNvPr>
          <p:cNvSpPr txBox="1"/>
          <p:nvPr/>
        </p:nvSpPr>
        <p:spPr>
          <a:xfrm>
            <a:off x="596170" y="4702002"/>
            <a:ext cx="4776677" cy="369332"/>
          </a:xfrm>
          <a:prstGeom prst="rect">
            <a:avLst/>
          </a:prstGeom>
          <a:noFill/>
        </p:spPr>
        <p:txBody>
          <a:bodyPr wrap="square">
            <a:spAutoFit/>
          </a:bodyPr>
          <a:lstStyle/>
          <a:p>
            <a:pPr algn="l" rtl="0"/>
            <a:r>
              <a:rPr lang="en-US" dirty="0"/>
              <a:t>Bloch equation:</a:t>
            </a:r>
            <a:endParaRPr lang="en-IL" dirty="0"/>
          </a:p>
        </p:txBody>
      </p:sp>
      <p:pic>
        <p:nvPicPr>
          <p:cNvPr id="27" name="Picture 26">
            <a:extLst>
              <a:ext uri="{FF2B5EF4-FFF2-40B4-BE49-F238E27FC236}">
                <a16:creationId xmlns:a16="http://schemas.microsoft.com/office/drawing/2014/main" id="{96259043-D84E-FC91-F6CE-452518A60238}"/>
              </a:ext>
            </a:extLst>
          </p:cNvPr>
          <p:cNvPicPr>
            <a:picLocks noChangeAspect="1"/>
          </p:cNvPicPr>
          <p:nvPr/>
        </p:nvPicPr>
        <p:blipFill>
          <a:blip r:embed="rId7"/>
          <a:stretch>
            <a:fillRect/>
          </a:stretch>
        </p:blipFill>
        <p:spPr>
          <a:xfrm>
            <a:off x="6426041" y="5713384"/>
            <a:ext cx="3046861" cy="779749"/>
          </a:xfrm>
          <a:prstGeom prst="rect">
            <a:avLst/>
          </a:prstGeom>
        </p:spPr>
      </p:pic>
    </p:spTree>
    <p:extLst>
      <p:ext uri="{BB962C8B-B14F-4D97-AF65-F5344CB8AC3E}">
        <p14:creationId xmlns:p14="http://schemas.microsoft.com/office/powerpoint/2010/main" val="3865379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665578F-85B4-AD38-469C-21506BDCBC59}"/>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058B446A-662B-E6DE-0852-6182DCF7A6ED}"/>
              </a:ext>
            </a:extLst>
          </p:cNvPr>
          <p:cNvSpPr txBox="1"/>
          <p:nvPr/>
        </p:nvSpPr>
        <p:spPr>
          <a:xfrm>
            <a:off x="473413" y="489015"/>
            <a:ext cx="10205097" cy="584775"/>
          </a:xfrm>
          <a:prstGeom prst="rect">
            <a:avLst/>
          </a:prstGeom>
          <a:noFill/>
        </p:spPr>
        <p:txBody>
          <a:bodyPr wrap="square">
            <a:spAutoFit/>
          </a:bodyPr>
          <a:lstStyle/>
          <a:p>
            <a:pPr algn="l" rtl="0"/>
            <a:r>
              <a:rPr lang="en-US" sz="3200" b="1" dirty="0"/>
              <a:t>High-Resolution Qubit Spectroscopy Under Strong Driving</a:t>
            </a:r>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9A349B8C-D31D-38C8-48B1-CCA3B8859421}"/>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01DC74A5-A61A-4112-4466-533CB7B10911}"/>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sp>
        <p:nvSpPr>
          <p:cNvPr id="11" name="TextBox 10">
            <a:extLst>
              <a:ext uri="{FF2B5EF4-FFF2-40B4-BE49-F238E27FC236}">
                <a16:creationId xmlns:a16="http://schemas.microsoft.com/office/drawing/2014/main" id="{C52ED953-9E26-E003-887D-C80988971953}"/>
              </a:ext>
            </a:extLst>
          </p:cNvPr>
          <p:cNvSpPr txBox="1"/>
          <p:nvPr/>
        </p:nvSpPr>
        <p:spPr>
          <a:xfrm>
            <a:off x="656561" y="1340738"/>
            <a:ext cx="6097772" cy="1477328"/>
          </a:xfrm>
          <a:prstGeom prst="rect">
            <a:avLst/>
          </a:prstGeom>
          <a:noFill/>
        </p:spPr>
        <p:txBody>
          <a:bodyPr wrap="square">
            <a:spAutoFit/>
          </a:bodyPr>
          <a:lstStyle/>
          <a:p>
            <a:pPr marL="285750" indent="-285750" algn="l" rtl="0">
              <a:buFont typeface="Arial" panose="020B0604020202020204" pitchFamily="34" charset="0"/>
              <a:buChar char="•"/>
            </a:pPr>
            <a:r>
              <a:rPr lang="en-US" dirty="0"/>
              <a:t>We </a:t>
            </a:r>
            <a:r>
              <a:rPr lang="en-US" dirty="0">
                <a:solidFill>
                  <a:srgbClr val="FF0000"/>
                </a:solidFill>
              </a:rPr>
              <a:t>cannot</a:t>
            </a:r>
            <a:r>
              <a:rPr lang="en-US" dirty="0"/>
              <a:t> perform precise frequency estimation when the drive is strong</a:t>
            </a:r>
          </a:p>
          <a:p>
            <a:pPr marL="285750" indent="-285750" algn="l" rtl="0">
              <a:buFont typeface="Arial" panose="020B0604020202020204" pitchFamily="34" charset="0"/>
              <a:buChar char="•"/>
            </a:pPr>
            <a:r>
              <a:rPr lang="en-US" dirty="0"/>
              <a:t>Spectroscopy linewidth is fundamentally </a:t>
            </a:r>
            <a:r>
              <a:rPr lang="en-US" dirty="0">
                <a:solidFill>
                  <a:srgbClr val="FF0000"/>
                </a:solidFill>
              </a:rPr>
              <a:t>limited</a:t>
            </a:r>
            <a:r>
              <a:rPr lang="en-US" dirty="0"/>
              <a:t> by coherence time</a:t>
            </a:r>
            <a:endParaRPr lang="en-IL" dirty="0"/>
          </a:p>
          <a:p>
            <a:pPr algn="l" rtl="0"/>
            <a:endParaRPr lang="en-US" dirty="0"/>
          </a:p>
        </p:txBody>
      </p:sp>
      <p:pic>
        <p:nvPicPr>
          <p:cNvPr id="14" name="Picture 13" descr="A black text with a white background&#10;&#10;AI-generated content may be incorrect.">
            <a:extLst>
              <a:ext uri="{FF2B5EF4-FFF2-40B4-BE49-F238E27FC236}">
                <a16:creationId xmlns:a16="http://schemas.microsoft.com/office/drawing/2014/main" id="{0FB83C41-D4C1-A715-5CB7-EE8DCE182E1E}"/>
              </a:ext>
            </a:extLst>
          </p:cNvPr>
          <p:cNvPicPr>
            <a:picLocks noChangeAspect="1"/>
          </p:cNvPicPr>
          <p:nvPr/>
        </p:nvPicPr>
        <p:blipFill>
          <a:blip r:embed="rId4"/>
          <a:stretch>
            <a:fillRect/>
          </a:stretch>
        </p:blipFill>
        <p:spPr>
          <a:xfrm>
            <a:off x="8150657" y="1073790"/>
            <a:ext cx="2689024" cy="980194"/>
          </a:xfrm>
          <a:prstGeom prst="rect">
            <a:avLst/>
          </a:prstGeom>
        </p:spPr>
      </p:pic>
      <p:pic>
        <p:nvPicPr>
          <p:cNvPr id="16" name="Picture 15">
            <a:extLst>
              <a:ext uri="{FF2B5EF4-FFF2-40B4-BE49-F238E27FC236}">
                <a16:creationId xmlns:a16="http://schemas.microsoft.com/office/drawing/2014/main" id="{B9C039FF-9E8D-2CEF-3DDC-1B3E7F212133}"/>
              </a:ext>
            </a:extLst>
          </p:cNvPr>
          <p:cNvPicPr>
            <a:picLocks noChangeAspect="1"/>
          </p:cNvPicPr>
          <p:nvPr/>
        </p:nvPicPr>
        <p:blipFill>
          <a:blip r:embed="rId5"/>
          <a:stretch>
            <a:fillRect/>
          </a:stretch>
        </p:blipFill>
        <p:spPr>
          <a:xfrm>
            <a:off x="7886435" y="2067324"/>
            <a:ext cx="3426475" cy="554116"/>
          </a:xfrm>
          <a:prstGeom prst="rect">
            <a:avLst/>
          </a:prstGeom>
        </p:spPr>
      </p:pic>
      <p:pic>
        <p:nvPicPr>
          <p:cNvPr id="19" name="Picture 18">
            <a:extLst>
              <a:ext uri="{FF2B5EF4-FFF2-40B4-BE49-F238E27FC236}">
                <a16:creationId xmlns:a16="http://schemas.microsoft.com/office/drawing/2014/main" id="{82A6ADBB-7146-F56E-4110-77A223B8BBC9}"/>
              </a:ext>
            </a:extLst>
          </p:cNvPr>
          <p:cNvPicPr>
            <a:picLocks noChangeAspect="1"/>
          </p:cNvPicPr>
          <p:nvPr/>
        </p:nvPicPr>
        <p:blipFill>
          <a:blip r:embed="rId6"/>
          <a:stretch>
            <a:fillRect/>
          </a:stretch>
        </p:blipFill>
        <p:spPr>
          <a:xfrm>
            <a:off x="2096841" y="2818066"/>
            <a:ext cx="8364078" cy="3399132"/>
          </a:xfrm>
          <a:prstGeom prst="rect">
            <a:avLst/>
          </a:prstGeom>
        </p:spPr>
      </p:pic>
    </p:spTree>
    <p:extLst>
      <p:ext uri="{BB962C8B-B14F-4D97-AF65-F5344CB8AC3E}">
        <p14:creationId xmlns:p14="http://schemas.microsoft.com/office/powerpoint/2010/main" val="1811340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22FBFA1-0D8D-3CF2-7C47-9F3F2941CB33}"/>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84CBF828-3CD4-52AE-F4B7-4C5C1CECD93E}"/>
              </a:ext>
            </a:extLst>
          </p:cNvPr>
          <p:cNvSpPr txBox="1"/>
          <p:nvPr/>
        </p:nvSpPr>
        <p:spPr>
          <a:xfrm>
            <a:off x="473413" y="489015"/>
            <a:ext cx="10205097" cy="1538883"/>
          </a:xfrm>
          <a:prstGeom prst="rect">
            <a:avLst/>
          </a:prstGeom>
          <a:noFill/>
        </p:spPr>
        <p:txBody>
          <a:bodyPr wrap="square">
            <a:spAutoFit/>
          </a:bodyPr>
          <a:lstStyle/>
          <a:p>
            <a:pPr algn="l" rtl="0"/>
            <a:r>
              <a:rPr lang="en-US" sz="3200" b="1" dirty="0">
                <a:solidFill>
                  <a:srgbClr val="0B1F33"/>
                </a:solidFill>
                <a:latin typeface="Sana"/>
                <a:ea typeface="Sana"/>
                <a:cs typeface="Sana"/>
              </a:rPr>
              <a:t>Frequency calibration needs resolution without fragile low-amplitude scans</a:t>
            </a:r>
            <a:endParaRPr lang="en-US" sz="3200" dirty="0">
              <a:latin typeface="Sana"/>
              <a:ea typeface="Sana"/>
              <a:cs typeface="Sana"/>
            </a:endParaRPr>
          </a:p>
          <a:p>
            <a:pPr marL="0" algn="l" defTabSz="914400" rtl="0" eaLnBrk="1" latinLnBrk="0" hangingPunct="1"/>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B4DADED4-E6B8-7AD7-9D2B-E1072FB99F1E}"/>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C6AA06BE-F04A-E04D-7E1C-D207C372A441}"/>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8" name="Content Placeholder 7">
            <a:extLst>
              <a:ext uri="{FF2B5EF4-FFF2-40B4-BE49-F238E27FC236}">
                <a16:creationId xmlns:a16="http://schemas.microsoft.com/office/drawing/2014/main" id="{628B5FA8-5E43-F0AE-46FB-A331425D984C}"/>
              </a:ext>
            </a:extLst>
          </p:cNvPr>
          <p:cNvPicPr>
            <a:picLocks noGrp="1" noChangeAspect="1"/>
          </p:cNvPicPr>
          <p:nvPr>
            <p:ph idx="1"/>
          </p:nvPr>
        </p:nvPicPr>
        <p:blipFill>
          <a:blip r:embed="rId4"/>
          <a:stretch>
            <a:fillRect/>
          </a:stretch>
        </p:blipFill>
        <p:spPr>
          <a:xfrm>
            <a:off x="1945124" y="1849909"/>
            <a:ext cx="7427476" cy="4251969"/>
          </a:xfrm>
          <a:prstGeom prst="rect">
            <a:avLst/>
          </a:prstGeom>
        </p:spPr>
      </p:pic>
    </p:spTree>
    <p:extLst>
      <p:ext uri="{BB962C8B-B14F-4D97-AF65-F5344CB8AC3E}">
        <p14:creationId xmlns:p14="http://schemas.microsoft.com/office/powerpoint/2010/main" val="1690065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8032C83-42A6-914C-3618-4A403310F709}"/>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390C4FCD-B3F6-2C95-A814-D830A45C1F63}"/>
              </a:ext>
            </a:extLst>
          </p:cNvPr>
          <p:cNvSpPr txBox="1"/>
          <p:nvPr/>
        </p:nvSpPr>
        <p:spPr>
          <a:xfrm>
            <a:off x="473413" y="489015"/>
            <a:ext cx="10205097" cy="1538883"/>
          </a:xfrm>
          <a:prstGeom prst="rect">
            <a:avLst/>
          </a:prstGeom>
          <a:noFill/>
        </p:spPr>
        <p:txBody>
          <a:bodyPr wrap="square">
            <a:spAutoFit/>
          </a:bodyPr>
          <a:lstStyle/>
          <a:p>
            <a:pPr algn="l" rtl="0"/>
            <a:r>
              <a:rPr lang="en-US" sz="3200" b="1" dirty="0">
                <a:solidFill>
                  <a:srgbClr val="0B1F33"/>
                </a:solidFill>
                <a:latin typeface="Sana"/>
                <a:ea typeface="Sana"/>
                <a:cs typeface="Sana"/>
              </a:rPr>
              <a:t>Frequency calibration needs resolution without fragile low-amplitude scans</a:t>
            </a:r>
            <a:endParaRPr lang="en-US" sz="3200" dirty="0">
              <a:latin typeface="Sana"/>
              <a:ea typeface="Sana"/>
              <a:cs typeface="Sana"/>
            </a:endParaRPr>
          </a:p>
          <a:p>
            <a:pPr marL="0" algn="l" defTabSz="914400" rtl="0" eaLnBrk="1" latinLnBrk="0" hangingPunct="1"/>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00EA42FE-4783-FBCA-3DB5-778FC695DA7B}"/>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4899A384-DF32-CA01-7C68-5A415AE5C966}"/>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11" name="Picture 10">
            <a:extLst>
              <a:ext uri="{FF2B5EF4-FFF2-40B4-BE49-F238E27FC236}">
                <a16:creationId xmlns:a16="http://schemas.microsoft.com/office/drawing/2014/main" id="{88EE1364-3CAC-2DCE-E3B5-DCFC53D7B950}"/>
              </a:ext>
            </a:extLst>
          </p:cNvPr>
          <p:cNvPicPr>
            <a:picLocks noChangeAspect="1"/>
          </p:cNvPicPr>
          <p:nvPr/>
        </p:nvPicPr>
        <p:blipFill>
          <a:blip r:embed="rId4"/>
          <a:stretch>
            <a:fillRect/>
          </a:stretch>
        </p:blipFill>
        <p:spPr>
          <a:xfrm>
            <a:off x="1945124" y="1875308"/>
            <a:ext cx="7946152" cy="4251969"/>
          </a:xfrm>
          <a:prstGeom prst="rect">
            <a:avLst/>
          </a:prstGeom>
        </p:spPr>
      </p:pic>
    </p:spTree>
    <p:extLst>
      <p:ext uri="{BB962C8B-B14F-4D97-AF65-F5344CB8AC3E}">
        <p14:creationId xmlns:p14="http://schemas.microsoft.com/office/powerpoint/2010/main" val="3088833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677C136-BECA-8A12-1E86-5D85893A13C9}"/>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D1891981-19F4-D096-3F4B-D759EEACCB6A}"/>
              </a:ext>
            </a:extLst>
          </p:cNvPr>
          <p:cNvSpPr txBox="1"/>
          <p:nvPr/>
        </p:nvSpPr>
        <p:spPr>
          <a:xfrm>
            <a:off x="473413" y="489015"/>
            <a:ext cx="10205097" cy="1538883"/>
          </a:xfrm>
          <a:prstGeom prst="rect">
            <a:avLst/>
          </a:prstGeom>
          <a:noFill/>
        </p:spPr>
        <p:txBody>
          <a:bodyPr wrap="square">
            <a:spAutoFit/>
          </a:bodyPr>
          <a:lstStyle/>
          <a:p>
            <a:pPr algn="l" rtl="0"/>
            <a:r>
              <a:rPr lang="en-US" sz="3200" b="1" dirty="0">
                <a:solidFill>
                  <a:srgbClr val="0B1F33"/>
                </a:solidFill>
                <a:latin typeface="Sana"/>
                <a:ea typeface="Sana"/>
                <a:cs typeface="Sana"/>
              </a:rPr>
              <a:t>Frequency calibration needs resolution without fragile low-amplitude scans</a:t>
            </a:r>
            <a:endParaRPr lang="en-US" sz="3200" dirty="0">
              <a:latin typeface="Sana"/>
              <a:ea typeface="Sana"/>
              <a:cs typeface="Sana"/>
            </a:endParaRPr>
          </a:p>
          <a:p>
            <a:pPr marL="0" algn="l" defTabSz="914400" rtl="0" eaLnBrk="1" latinLnBrk="0" hangingPunct="1"/>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5A98093F-FCAF-0FFE-465A-22EF8E62CD19}"/>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253CB4FC-5669-EEA2-63FF-7DB41A5206AD}"/>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15" name="Picture 14">
            <a:extLst>
              <a:ext uri="{FF2B5EF4-FFF2-40B4-BE49-F238E27FC236}">
                <a16:creationId xmlns:a16="http://schemas.microsoft.com/office/drawing/2014/main" id="{CE108A14-038C-36DF-A1E4-551DCD158D11}"/>
              </a:ext>
            </a:extLst>
          </p:cNvPr>
          <p:cNvPicPr>
            <a:picLocks noChangeAspect="1"/>
          </p:cNvPicPr>
          <p:nvPr/>
        </p:nvPicPr>
        <p:blipFill>
          <a:blip r:embed="rId4"/>
          <a:stretch>
            <a:fillRect/>
          </a:stretch>
        </p:blipFill>
        <p:spPr>
          <a:xfrm>
            <a:off x="1945290" y="1876390"/>
            <a:ext cx="7946152" cy="4251969"/>
          </a:xfrm>
          <a:prstGeom prst="rect">
            <a:avLst/>
          </a:prstGeom>
        </p:spPr>
      </p:pic>
    </p:spTree>
    <p:extLst>
      <p:ext uri="{BB962C8B-B14F-4D97-AF65-F5344CB8AC3E}">
        <p14:creationId xmlns:p14="http://schemas.microsoft.com/office/powerpoint/2010/main" val="856948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7DAB775-319E-DADA-56EE-D5464DBFCAB7}"/>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88AFCE87-6F77-00BC-65A5-A6CD36D7A592}"/>
              </a:ext>
            </a:extLst>
          </p:cNvPr>
          <p:cNvSpPr txBox="1"/>
          <p:nvPr/>
        </p:nvSpPr>
        <p:spPr>
          <a:xfrm>
            <a:off x="473413" y="489015"/>
            <a:ext cx="10205097" cy="1046440"/>
          </a:xfrm>
          <a:prstGeom prst="rect">
            <a:avLst/>
          </a:prstGeom>
          <a:noFill/>
        </p:spPr>
        <p:txBody>
          <a:bodyPr wrap="square">
            <a:spAutoFit/>
          </a:bodyPr>
          <a:lstStyle/>
          <a:p>
            <a:pPr algn="l" rtl="0"/>
            <a:r>
              <a:rPr lang="en-US" sz="3200" b="1" dirty="0"/>
              <a:t>Power narrowing </a:t>
            </a:r>
          </a:p>
          <a:p>
            <a:pPr algn="l" rtl="0"/>
            <a:endParaRPr lang="he-IL" sz="3000" b="1" dirty="0">
              <a:solidFill>
                <a:srgbClr val="177987"/>
              </a:solidFill>
            </a:endParaRPr>
          </a:p>
        </p:txBody>
      </p:sp>
      <p:sp>
        <p:nvSpPr>
          <p:cNvPr id="6" name="TextBox 5">
            <a:extLst>
              <a:ext uri="{FF2B5EF4-FFF2-40B4-BE49-F238E27FC236}">
                <a16:creationId xmlns:a16="http://schemas.microsoft.com/office/drawing/2014/main" id="{D5853A44-25E4-A2DE-FD41-F7A487D68664}"/>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EF78C7B3-6088-FE27-7C96-111471B3E98F}"/>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sp>
        <p:nvSpPr>
          <p:cNvPr id="3" name="Content Placeholder 2">
            <a:extLst>
              <a:ext uri="{FF2B5EF4-FFF2-40B4-BE49-F238E27FC236}">
                <a16:creationId xmlns:a16="http://schemas.microsoft.com/office/drawing/2014/main" id="{1AD3818B-07F3-7444-027E-E1AB13982160}"/>
              </a:ext>
            </a:extLst>
          </p:cNvPr>
          <p:cNvSpPr>
            <a:spLocks noGrp="1"/>
          </p:cNvSpPr>
          <p:nvPr>
            <p:ph idx="1"/>
          </p:nvPr>
        </p:nvSpPr>
        <p:spPr>
          <a:xfrm>
            <a:off x="604332" y="1280373"/>
            <a:ext cx="5567916" cy="4641508"/>
          </a:xfrm>
        </p:spPr>
        <p:txBody>
          <a:bodyPr/>
          <a:lstStyle/>
          <a:p>
            <a:pPr algn="l" rtl="0"/>
            <a:r>
              <a:rPr lang="en-US" sz="2400" dirty="0"/>
              <a:t>Ordered </a:t>
            </a:r>
            <a:r>
              <a:rPr lang="en-IL" sz="2400" b="1" dirty="0"/>
              <a:t>Lorentzian</a:t>
            </a:r>
            <a:r>
              <a:rPr lang="en-US" sz="2400" dirty="0"/>
              <a:t> pulse </a:t>
            </a:r>
          </a:p>
          <a:p>
            <a:pPr algn="l" rtl="0"/>
            <a:endParaRPr lang="en-US" sz="2400" dirty="0"/>
          </a:p>
          <a:p>
            <a:pPr algn="l" rtl="0"/>
            <a:endParaRPr lang="en-US" sz="2400" dirty="0"/>
          </a:p>
          <a:p>
            <a:pPr algn="l" rtl="0"/>
            <a:endParaRPr lang="en-US" sz="2400" dirty="0"/>
          </a:p>
          <a:p>
            <a:pPr algn="l" rtl="0"/>
            <a:endParaRPr lang="en-US" sz="2400" dirty="0"/>
          </a:p>
          <a:p>
            <a:pPr algn="l" rtl="0"/>
            <a:r>
              <a:rPr lang="en-IL" sz="2400" dirty="0"/>
              <a:t>We focus on the </a:t>
            </a:r>
            <a:r>
              <a:rPr lang="en-IL" sz="2400" b="1" dirty="0"/>
              <a:t>root Lorentzian pulse</a:t>
            </a:r>
            <a:endParaRPr lang="en-US" sz="2400" b="1" dirty="0"/>
          </a:p>
          <a:p>
            <a:pPr algn="l" rtl="0"/>
            <a:r>
              <a:rPr lang="en-IL" sz="2400" dirty="0">
                <a:solidFill>
                  <a:srgbClr val="0070C0"/>
                </a:solidFill>
              </a:rPr>
              <a:t>Lorentzian pulse shapes can exhibit </a:t>
            </a:r>
            <a:r>
              <a:rPr lang="en-IL" sz="2400" b="1" dirty="0">
                <a:solidFill>
                  <a:srgbClr val="0070C0"/>
                </a:solidFill>
              </a:rPr>
              <a:t>power narrowing</a:t>
            </a:r>
            <a:r>
              <a:rPr lang="en-US" sz="2400" b="1" dirty="0">
                <a:solidFill>
                  <a:srgbClr val="0070C0"/>
                </a:solidFill>
              </a:rPr>
              <a:t>!</a:t>
            </a:r>
          </a:p>
          <a:p>
            <a:pPr algn="l" rtl="0"/>
            <a:endParaRPr lang="en-IL" sz="2400" dirty="0"/>
          </a:p>
        </p:txBody>
      </p:sp>
      <p:pic>
        <p:nvPicPr>
          <p:cNvPr id="14" name="Picture 13">
            <a:extLst>
              <a:ext uri="{FF2B5EF4-FFF2-40B4-BE49-F238E27FC236}">
                <a16:creationId xmlns:a16="http://schemas.microsoft.com/office/drawing/2014/main" id="{77105187-3D8B-FF15-B03B-685E53BDF9B1}"/>
              </a:ext>
            </a:extLst>
          </p:cNvPr>
          <p:cNvPicPr>
            <a:picLocks noChangeAspect="1"/>
          </p:cNvPicPr>
          <p:nvPr/>
        </p:nvPicPr>
        <p:blipFill>
          <a:blip r:embed="rId4"/>
          <a:stretch>
            <a:fillRect/>
          </a:stretch>
        </p:blipFill>
        <p:spPr>
          <a:xfrm>
            <a:off x="2159393" y="1743275"/>
            <a:ext cx="2457793" cy="1486107"/>
          </a:xfrm>
          <a:prstGeom prst="rect">
            <a:avLst/>
          </a:prstGeom>
        </p:spPr>
      </p:pic>
      <p:pic>
        <p:nvPicPr>
          <p:cNvPr id="22" name="Picture 21">
            <a:extLst>
              <a:ext uri="{FF2B5EF4-FFF2-40B4-BE49-F238E27FC236}">
                <a16:creationId xmlns:a16="http://schemas.microsoft.com/office/drawing/2014/main" id="{B4E77978-0082-27D4-DF15-D45AB5C9F87F}"/>
              </a:ext>
            </a:extLst>
          </p:cNvPr>
          <p:cNvPicPr>
            <a:picLocks noChangeAspect="1"/>
          </p:cNvPicPr>
          <p:nvPr/>
        </p:nvPicPr>
        <p:blipFill>
          <a:blip r:embed="rId5"/>
          <a:stretch>
            <a:fillRect/>
          </a:stretch>
        </p:blipFill>
        <p:spPr>
          <a:xfrm>
            <a:off x="5755218" y="3324410"/>
            <a:ext cx="950889" cy="752286"/>
          </a:xfrm>
          <a:prstGeom prst="rect">
            <a:avLst/>
          </a:prstGeom>
        </p:spPr>
      </p:pic>
      <p:sp>
        <p:nvSpPr>
          <p:cNvPr id="28" name="TextBox 27">
            <a:extLst>
              <a:ext uri="{FF2B5EF4-FFF2-40B4-BE49-F238E27FC236}">
                <a16:creationId xmlns:a16="http://schemas.microsoft.com/office/drawing/2014/main" id="{4B27B73E-C148-9BB7-D52F-E5E104567453}"/>
              </a:ext>
            </a:extLst>
          </p:cNvPr>
          <p:cNvSpPr txBox="1"/>
          <p:nvPr/>
        </p:nvSpPr>
        <p:spPr>
          <a:xfrm>
            <a:off x="288683" y="6339138"/>
            <a:ext cx="13346519" cy="307777"/>
          </a:xfrm>
          <a:prstGeom prst="rect">
            <a:avLst/>
          </a:prstGeom>
          <a:noFill/>
        </p:spPr>
        <p:txBody>
          <a:bodyPr wrap="square">
            <a:spAutoFit/>
          </a:bodyPr>
          <a:lstStyle/>
          <a:p>
            <a:pPr algn="l" rtl="0"/>
            <a:r>
              <a:rPr lang="en-IL" sz="1400" dirty="0"/>
              <a:t>Defying Conventional Wisdom in Spectroscopy: Power Narrowing on IBM Quantum Ivo S. Mihov and Nikolay V. Vitanov</a:t>
            </a:r>
            <a:r>
              <a:rPr lang="en-US" sz="1400" dirty="0"/>
              <a:t> 2023</a:t>
            </a:r>
            <a:endParaRPr lang="en-IL" sz="1400" dirty="0"/>
          </a:p>
        </p:txBody>
      </p:sp>
      <p:pic>
        <p:nvPicPr>
          <p:cNvPr id="4" name="Picture 3">
            <a:extLst>
              <a:ext uri="{FF2B5EF4-FFF2-40B4-BE49-F238E27FC236}">
                <a16:creationId xmlns:a16="http://schemas.microsoft.com/office/drawing/2014/main" id="{2503A8CA-13D5-D644-C22D-51BA34C4C80D}"/>
              </a:ext>
            </a:extLst>
          </p:cNvPr>
          <p:cNvPicPr>
            <a:picLocks noChangeAspect="1"/>
          </p:cNvPicPr>
          <p:nvPr/>
        </p:nvPicPr>
        <p:blipFill>
          <a:blip r:embed="rId6"/>
          <a:stretch>
            <a:fillRect/>
          </a:stretch>
        </p:blipFill>
        <p:spPr>
          <a:xfrm>
            <a:off x="7239968" y="957234"/>
            <a:ext cx="3569461" cy="4943532"/>
          </a:xfrm>
          <a:prstGeom prst="rect">
            <a:avLst/>
          </a:prstGeom>
        </p:spPr>
      </p:pic>
    </p:spTree>
    <p:extLst>
      <p:ext uri="{BB962C8B-B14F-4D97-AF65-F5344CB8AC3E}">
        <p14:creationId xmlns:p14="http://schemas.microsoft.com/office/powerpoint/2010/main" val="1471337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A9C3E95-F5DC-81F4-3A94-041161625A6E}"/>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26887019-EBC0-65AF-466C-88357390645B}"/>
              </a:ext>
            </a:extLst>
          </p:cNvPr>
          <p:cNvSpPr txBox="1"/>
          <p:nvPr/>
        </p:nvSpPr>
        <p:spPr>
          <a:xfrm>
            <a:off x="473413" y="489015"/>
            <a:ext cx="10205097" cy="584775"/>
          </a:xfrm>
          <a:prstGeom prst="rect">
            <a:avLst/>
          </a:prstGeom>
          <a:noFill/>
        </p:spPr>
        <p:txBody>
          <a:bodyPr wrap="square">
            <a:spAutoFit/>
          </a:bodyPr>
          <a:lstStyle/>
          <a:p>
            <a:pPr algn="l" rtl="0"/>
            <a:r>
              <a:rPr lang="en-US" sz="3200" b="1" dirty="0">
                <a:solidFill>
                  <a:srgbClr val="177987"/>
                </a:solidFill>
                <a:latin typeface="Sana"/>
                <a:cs typeface="Sana"/>
              </a:rPr>
              <a:t>Root-Lorentzian Pulse Shape</a:t>
            </a:r>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97FD8C7E-34D9-14E8-2076-3D9DE852AD1B}"/>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3BB953F4-9364-824A-E8CE-13965F9EB92E}"/>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3" name="Picture 2">
            <a:extLst>
              <a:ext uri="{FF2B5EF4-FFF2-40B4-BE49-F238E27FC236}">
                <a16:creationId xmlns:a16="http://schemas.microsoft.com/office/drawing/2014/main" id="{9783C358-4310-9DE6-C4E7-7EFB74F4A74A}"/>
              </a:ext>
            </a:extLst>
          </p:cNvPr>
          <p:cNvPicPr>
            <a:picLocks noChangeAspect="1"/>
          </p:cNvPicPr>
          <p:nvPr/>
        </p:nvPicPr>
        <p:blipFill>
          <a:blip r:embed="rId4"/>
          <a:stretch>
            <a:fillRect/>
          </a:stretch>
        </p:blipFill>
        <p:spPr>
          <a:xfrm>
            <a:off x="1496281" y="1746299"/>
            <a:ext cx="9199437" cy="3365402"/>
          </a:xfrm>
          <a:prstGeom prst="rect">
            <a:avLst/>
          </a:prstGeom>
        </p:spPr>
      </p:pic>
      <p:pic>
        <p:nvPicPr>
          <p:cNvPr id="12" name="Picture 11">
            <a:extLst>
              <a:ext uri="{FF2B5EF4-FFF2-40B4-BE49-F238E27FC236}">
                <a16:creationId xmlns:a16="http://schemas.microsoft.com/office/drawing/2014/main" id="{D6B2DFC1-163C-C6AA-C022-F5D41F2F57D9}"/>
              </a:ext>
            </a:extLst>
          </p:cNvPr>
          <p:cNvPicPr>
            <a:picLocks noChangeAspect="1"/>
          </p:cNvPicPr>
          <p:nvPr/>
        </p:nvPicPr>
        <p:blipFill>
          <a:blip r:embed="rId5"/>
          <a:stretch>
            <a:fillRect/>
          </a:stretch>
        </p:blipFill>
        <p:spPr>
          <a:xfrm>
            <a:off x="7606287" y="336036"/>
            <a:ext cx="4055372" cy="1037846"/>
          </a:xfrm>
          <a:prstGeom prst="rect">
            <a:avLst/>
          </a:prstGeom>
        </p:spPr>
      </p:pic>
      <p:sp>
        <p:nvSpPr>
          <p:cNvPr id="14" name="TextBox 13">
            <a:extLst>
              <a:ext uri="{FF2B5EF4-FFF2-40B4-BE49-F238E27FC236}">
                <a16:creationId xmlns:a16="http://schemas.microsoft.com/office/drawing/2014/main" id="{BE45C2BF-EC15-26DA-72BC-4ED57D04AFC3}"/>
              </a:ext>
            </a:extLst>
          </p:cNvPr>
          <p:cNvSpPr txBox="1"/>
          <p:nvPr/>
        </p:nvSpPr>
        <p:spPr>
          <a:xfrm>
            <a:off x="4876799" y="1285927"/>
            <a:ext cx="10205097" cy="369332"/>
          </a:xfrm>
          <a:prstGeom prst="rect">
            <a:avLst/>
          </a:prstGeom>
          <a:noFill/>
        </p:spPr>
        <p:txBody>
          <a:bodyPr wrap="square">
            <a:spAutoFit/>
          </a:bodyPr>
          <a:lstStyle/>
          <a:p>
            <a:pPr algn="l" rtl="0"/>
            <a:r>
              <a:rPr lang="en-US" dirty="0"/>
              <a:t>L = 20 us, cutoff = 0.005</a:t>
            </a:r>
            <a:endParaRPr lang="en-IL" dirty="0"/>
          </a:p>
        </p:txBody>
      </p:sp>
    </p:spTree>
    <p:extLst>
      <p:ext uri="{BB962C8B-B14F-4D97-AF65-F5344CB8AC3E}">
        <p14:creationId xmlns:p14="http://schemas.microsoft.com/office/powerpoint/2010/main" val="3583082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B3CC768-C9B9-DE19-9862-86FB307C263C}"/>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4A8CE3D1-E391-8A24-996E-939A760B1318}"/>
              </a:ext>
            </a:extLst>
          </p:cNvPr>
          <p:cNvSpPr txBox="1"/>
          <p:nvPr/>
        </p:nvSpPr>
        <p:spPr>
          <a:xfrm>
            <a:off x="473413" y="489015"/>
            <a:ext cx="10205097" cy="584775"/>
          </a:xfrm>
          <a:prstGeom prst="rect">
            <a:avLst/>
          </a:prstGeom>
          <a:noFill/>
        </p:spPr>
        <p:txBody>
          <a:bodyPr wrap="square">
            <a:spAutoFit/>
          </a:bodyPr>
          <a:lstStyle/>
          <a:p>
            <a:pPr algn="l" rtl="0"/>
            <a:r>
              <a:rPr lang="en-US" sz="3200" b="1" dirty="0">
                <a:solidFill>
                  <a:srgbClr val="177987"/>
                </a:solidFill>
              </a:rPr>
              <a:t>Root-Lorentzian Pulse Shape</a:t>
            </a:r>
            <a:endParaRPr lang="he-IL" sz="3000" b="1" dirty="0">
              <a:solidFill>
                <a:srgbClr val="177987"/>
              </a:solidFill>
            </a:endParaRPr>
          </a:p>
        </p:txBody>
      </p:sp>
      <p:sp>
        <p:nvSpPr>
          <p:cNvPr id="6" name="TextBox 5">
            <a:extLst>
              <a:ext uri="{FF2B5EF4-FFF2-40B4-BE49-F238E27FC236}">
                <a16:creationId xmlns:a16="http://schemas.microsoft.com/office/drawing/2014/main" id="{46D5A15C-33CD-D90D-5727-4B8FCD53D87F}"/>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4A8ECD7C-FDE8-BDA2-F480-CDB18BB608E9}"/>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3" name="Picture 2">
            <a:extLst>
              <a:ext uri="{FF2B5EF4-FFF2-40B4-BE49-F238E27FC236}">
                <a16:creationId xmlns:a16="http://schemas.microsoft.com/office/drawing/2014/main" id="{22B8BA96-9ABF-05F8-5BE7-30F998545807}"/>
              </a:ext>
            </a:extLst>
          </p:cNvPr>
          <p:cNvPicPr>
            <a:picLocks noChangeAspect="1"/>
          </p:cNvPicPr>
          <p:nvPr/>
        </p:nvPicPr>
        <p:blipFill>
          <a:blip r:embed="rId4"/>
          <a:stretch>
            <a:fillRect/>
          </a:stretch>
        </p:blipFill>
        <p:spPr>
          <a:xfrm>
            <a:off x="1496281" y="1746299"/>
            <a:ext cx="9199437" cy="3365402"/>
          </a:xfrm>
          <a:prstGeom prst="rect">
            <a:avLst/>
          </a:prstGeom>
        </p:spPr>
      </p:pic>
      <p:pic>
        <p:nvPicPr>
          <p:cNvPr id="7" name="Picture 6">
            <a:extLst>
              <a:ext uri="{FF2B5EF4-FFF2-40B4-BE49-F238E27FC236}">
                <a16:creationId xmlns:a16="http://schemas.microsoft.com/office/drawing/2014/main" id="{E22A2E7A-F192-6379-A934-CDE15E160EF1}"/>
              </a:ext>
            </a:extLst>
          </p:cNvPr>
          <p:cNvPicPr>
            <a:picLocks noChangeAspect="1"/>
          </p:cNvPicPr>
          <p:nvPr/>
        </p:nvPicPr>
        <p:blipFill>
          <a:blip r:embed="rId5"/>
          <a:stretch>
            <a:fillRect/>
          </a:stretch>
        </p:blipFill>
        <p:spPr>
          <a:xfrm>
            <a:off x="1496281" y="1733599"/>
            <a:ext cx="9199437" cy="3365402"/>
          </a:xfrm>
          <a:prstGeom prst="rect">
            <a:avLst/>
          </a:prstGeom>
        </p:spPr>
      </p:pic>
      <p:pic>
        <p:nvPicPr>
          <p:cNvPr id="2" name="Picture 1">
            <a:extLst>
              <a:ext uri="{FF2B5EF4-FFF2-40B4-BE49-F238E27FC236}">
                <a16:creationId xmlns:a16="http://schemas.microsoft.com/office/drawing/2014/main" id="{AA3FC286-EC8E-0FE4-5A1E-55851CFB977B}"/>
              </a:ext>
            </a:extLst>
          </p:cNvPr>
          <p:cNvPicPr>
            <a:picLocks noChangeAspect="1"/>
          </p:cNvPicPr>
          <p:nvPr/>
        </p:nvPicPr>
        <p:blipFill>
          <a:blip r:embed="rId6"/>
          <a:stretch>
            <a:fillRect/>
          </a:stretch>
        </p:blipFill>
        <p:spPr>
          <a:xfrm>
            <a:off x="7606287" y="336036"/>
            <a:ext cx="4055372" cy="1037846"/>
          </a:xfrm>
          <a:prstGeom prst="rect">
            <a:avLst/>
          </a:prstGeom>
        </p:spPr>
      </p:pic>
      <p:sp>
        <p:nvSpPr>
          <p:cNvPr id="4" name="TextBox 3">
            <a:extLst>
              <a:ext uri="{FF2B5EF4-FFF2-40B4-BE49-F238E27FC236}">
                <a16:creationId xmlns:a16="http://schemas.microsoft.com/office/drawing/2014/main" id="{5F040E0D-31B4-8EF2-DCCB-6E1FD1FB4C6D}"/>
              </a:ext>
            </a:extLst>
          </p:cNvPr>
          <p:cNvSpPr txBox="1"/>
          <p:nvPr/>
        </p:nvSpPr>
        <p:spPr>
          <a:xfrm>
            <a:off x="4876799" y="1285927"/>
            <a:ext cx="10205097" cy="369332"/>
          </a:xfrm>
          <a:prstGeom prst="rect">
            <a:avLst/>
          </a:prstGeom>
          <a:noFill/>
        </p:spPr>
        <p:txBody>
          <a:bodyPr wrap="square">
            <a:spAutoFit/>
          </a:bodyPr>
          <a:lstStyle/>
          <a:p>
            <a:pPr algn="l" rtl="0"/>
            <a:r>
              <a:rPr lang="en-US" dirty="0"/>
              <a:t>L = 20 us, cutoff = 0.005</a:t>
            </a:r>
            <a:endParaRPr lang="en-IL" dirty="0"/>
          </a:p>
        </p:txBody>
      </p:sp>
    </p:spTree>
    <p:extLst>
      <p:ext uri="{BB962C8B-B14F-4D97-AF65-F5344CB8AC3E}">
        <p14:creationId xmlns:p14="http://schemas.microsoft.com/office/powerpoint/2010/main" val="2758952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C326B79-0E09-AC92-7470-5AA6EB1EFDD6}"/>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007080CE-EDB8-4238-713C-3DAE9EBDD3B8}"/>
              </a:ext>
            </a:extLst>
          </p:cNvPr>
          <p:cNvSpPr txBox="1"/>
          <p:nvPr/>
        </p:nvSpPr>
        <p:spPr>
          <a:xfrm>
            <a:off x="473413" y="489015"/>
            <a:ext cx="10205097" cy="584775"/>
          </a:xfrm>
          <a:prstGeom prst="rect">
            <a:avLst/>
          </a:prstGeom>
          <a:noFill/>
        </p:spPr>
        <p:txBody>
          <a:bodyPr wrap="square">
            <a:spAutoFit/>
          </a:bodyPr>
          <a:lstStyle/>
          <a:p>
            <a:pPr algn="l" rtl="0"/>
            <a:r>
              <a:rPr lang="en-US" sz="3200" b="1" dirty="0"/>
              <a:t>E</a:t>
            </a:r>
            <a:r>
              <a:rPr lang="en-IL" sz="3200" b="1" dirty="0" err="1"/>
              <a:t>cho</a:t>
            </a:r>
            <a:r>
              <a:rPr lang="en-US" sz="3200" b="1" dirty="0"/>
              <a:t>-R</a:t>
            </a:r>
            <a:r>
              <a:rPr lang="en-IL" sz="3200" b="1" dirty="0" err="1"/>
              <a:t>oot</a:t>
            </a:r>
            <a:r>
              <a:rPr lang="en-US" sz="3200" b="1" dirty="0"/>
              <a:t>-</a:t>
            </a:r>
            <a:r>
              <a:rPr lang="en-IL" sz="3200" b="1" dirty="0"/>
              <a:t>Lorentzian</a:t>
            </a:r>
            <a:endParaRPr lang="he-IL" sz="3000" b="1" dirty="0">
              <a:solidFill>
                <a:srgbClr val="177987"/>
              </a:solidFill>
            </a:endParaRPr>
          </a:p>
        </p:txBody>
      </p:sp>
      <p:sp>
        <p:nvSpPr>
          <p:cNvPr id="6" name="TextBox 5">
            <a:extLst>
              <a:ext uri="{FF2B5EF4-FFF2-40B4-BE49-F238E27FC236}">
                <a16:creationId xmlns:a16="http://schemas.microsoft.com/office/drawing/2014/main" id="{C58FCAB4-515F-EB2A-F24C-8A0E3FB39310}"/>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CDC36B74-89F2-4890-318C-2A4E0BC2EBEC}"/>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sp>
        <p:nvSpPr>
          <p:cNvPr id="3" name="Content Placeholder 2">
            <a:extLst>
              <a:ext uri="{FF2B5EF4-FFF2-40B4-BE49-F238E27FC236}">
                <a16:creationId xmlns:a16="http://schemas.microsoft.com/office/drawing/2014/main" id="{657DAB30-129E-04B3-101D-7B8C458242B3}"/>
              </a:ext>
            </a:extLst>
          </p:cNvPr>
          <p:cNvSpPr>
            <a:spLocks noGrp="1"/>
          </p:cNvSpPr>
          <p:nvPr>
            <p:ph idx="1"/>
          </p:nvPr>
        </p:nvSpPr>
        <p:spPr>
          <a:xfrm>
            <a:off x="604332" y="1280373"/>
            <a:ext cx="5567916" cy="4641508"/>
          </a:xfrm>
        </p:spPr>
        <p:txBody>
          <a:bodyPr/>
          <a:lstStyle/>
          <a:p>
            <a:pPr algn="l" rtl="0"/>
            <a:endParaRPr lang="en-US" sz="2400" dirty="0"/>
          </a:p>
          <a:p>
            <a:pPr algn="l" rtl="0"/>
            <a:r>
              <a:rPr lang="en-IL" sz="2400" dirty="0"/>
              <a:t>We introduce an </a:t>
            </a:r>
            <a:r>
              <a:rPr lang="en-IL" sz="2400" b="1" dirty="0"/>
              <a:t>echo</a:t>
            </a:r>
            <a:r>
              <a:rPr lang="en-US" sz="2400" b="1" dirty="0"/>
              <a:t>-</a:t>
            </a:r>
            <a:r>
              <a:rPr lang="en-IL" sz="2400" b="1" dirty="0"/>
              <a:t>root</a:t>
            </a:r>
            <a:r>
              <a:rPr lang="en-US" sz="2400" b="1" dirty="0"/>
              <a:t>-</a:t>
            </a:r>
            <a:r>
              <a:rPr lang="en-IL" sz="2400" b="1" dirty="0"/>
              <a:t>Lorentzian</a:t>
            </a:r>
            <a:r>
              <a:rPr lang="en-IL" sz="2400" dirty="0"/>
              <a:t>, obtained by changing the pulse sign at its </a:t>
            </a:r>
            <a:r>
              <a:rPr lang="en-IL" sz="2400" dirty="0" err="1"/>
              <a:t>center</a:t>
            </a:r>
            <a:r>
              <a:rPr lang="en-IL" sz="2400" dirty="0"/>
              <a:t>:</a:t>
            </a:r>
            <a:endParaRPr lang="en-US" sz="2400" dirty="0"/>
          </a:p>
          <a:p>
            <a:pPr algn="l" rtl="0"/>
            <a:endParaRPr lang="en-US" sz="2400" dirty="0"/>
          </a:p>
          <a:p>
            <a:pPr marL="0" indent="0" algn="l" rtl="0">
              <a:buNone/>
            </a:pPr>
            <a:endParaRPr lang="en-US" sz="2400" dirty="0"/>
          </a:p>
          <a:p>
            <a:pPr algn="l" rtl="0"/>
            <a:r>
              <a:rPr lang="en-US" sz="2400" dirty="0"/>
              <a:t>Have zero power on the drive frequency</a:t>
            </a:r>
          </a:p>
          <a:p>
            <a:pPr algn="l" rtl="0"/>
            <a:r>
              <a:rPr lang="en-US" sz="2400" dirty="0"/>
              <a:t>Cancel coherent oscillations</a:t>
            </a:r>
          </a:p>
          <a:p>
            <a:pPr algn="l" rtl="0"/>
            <a:r>
              <a:rPr lang="en-US" sz="2400" dirty="0"/>
              <a:t>Inspired by:</a:t>
            </a:r>
          </a:p>
          <a:p>
            <a:pPr lvl="1" algn="l" rtl="0"/>
            <a:r>
              <a:rPr lang="en-US" sz="2000" dirty="0" err="1"/>
              <a:t>Loschmidt</a:t>
            </a:r>
            <a:r>
              <a:rPr lang="en-US" sz="2000" dirty="0"/>
              <a:t> echo </a:t>
            </a:r>
          </a:p>
          <a:p>
            <a:pPr lvl="1" algn="l" rtl="0"/>
            <a:r>
              <a:rPr lang="en-US" sz="2000" dirty="0"/>
              <a:t>STED microscopy Stefan Hell</a:t>
            </a:r>
          </a:p>
          <a:p>
            <a:pPr algn="l" rtl="0"/>
            <a:endParaRPr lang="en-US" sz="2400" dirty="0"/>
          </a:p>
          <a:p>
            <a:pPr algn="l" rtl="0"/>
            <a:endParaRPr lang="en-IL" sz="2400" dirty="0"/>
          </a:p>
        </p:txBody>
      </p:sp>
      <p:pic>
        <p:nvPicPr>
          <p:cNvPr id="27" name="Picture 26">
            <a:extLst>
              <a:ext uri="{FF2B5EF4-FFF2-40B4-BE49-F238E27FC236}">
                <a16:creationId xmlns:a16="http://schemas.microsoft.com/office/drawing/2014/main" id="{9CA3830D-064D-88F6-FAE7-683C82F71932}"/>
              </a:ext>
            </a:extLst>
          </p:cNvPr>
          <p:cNvPicPr>
            <a:picLocks noChangeAspect="1"/>
          </p:cNvPicPr>
          <p:nvPr/>
        </p:nvPicPr>
        <p:blipFill>
          <a:blip r:embed="rId4"/>
          <a:stretch>
            <a:fillRect/>
          </a:stretch>
        </p:blipFill>
        <p:spPr>
          <a:xfrm>
            <a:off x="1806297" y="2985481"/>
            <a:ext cx="3401101" cy="574071"/>
          </a:xfrm>
          <a:prstGeom prst="rect">
            <a:avLst/>
          </a:prstGeom>
          <a:ln w="12700" cap="sq">
            <a:solidFill>
              <a:srgbClr val="000000"/>
            </a:solidFill>
            <a:miter lim="800000"/>
          </a:ln>
          <a:effectLst>
            <a:outerShdw blurRad="57150" dist="50800" dir="2700000" algn="tl" rotWithShape="0">
              <a:srgbClr val="000000">
                <a:alpha val="40000"/>
              </a:srgbClr>
            </a:outerShdw>
          </a:effectLst>
        </p:spPr>
      </p:pic>
      <p:pic>
        <p:nvPicPr>
          <p:cNvPr id="7" name="Picture 6">
            <a:extLst>
              <a:ext uri="{FF2B5EF4-FFF2-40B4-BE49-F238E27FC236}">
                <a16:creationId xmlns:a16="http://schemas.microsoft.com/office/drawing/2014/main" id="{3BEB8802-E8F6-691B-098A-EB983FAB08C2}"/>
              </a:ext>
            </a:extLst>
          </p:cNvPr>
          <p:cNvPicPr>
            <a:picLocks noChangeAspect="1"/>
          </p:cNvPicPr>
          <p:nvPr/>
        </p:nvPicPr>
        <p:blipFill>
          <a:blip r:embed="rId5"/>
          <a:stretch>
            <a:fillRect/>
          </a:stretch>
        </p:blipFill>
        <p:spPr>
          <a:xfrm>
            <a:off x="7196247" y="800751"/>
            <a:ext cx="3613182" cy="4943532"/>
          </a:xfrm>
          <a:prstGeom prst="rect">
            <a:avLst/>
          </a:prstGeom>
        </p:spPr>
      </p:pic>
    </p:spTree>
    <p:extLst>
      <p:ext uri="{BB962C8B-B14F-4D97-AF65-F5344CB8AC3E}">
        <p14:creationId xmlns:p14="http://schemas.microsoft.com/office/powerpoint/2010/main" val="2351732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030D38B-1C25-C6AE-D588-55FB213475AE}"/>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0B82964D-16DE-83D4-24FF-5D3A8F3E88C0}"/>
              </a:ext>
            </a:extLst>
          </p:cNvPr>
          <p:cNvSpPr txBox="1"/>
          <p:nvPr/>
        </p:nvSpPr>
        <p:spPr>
          <a:xfrm>
            <a:off x="473413" y="489015"/>
            <a:ext cx="10205097" cy="584775"/>
          </a:xfrm>
          <a:prstGeom prst="rect">
            <a:avLst/>
          </a:prstGeom>
          <a:noFill/>
        </p:spPr>
        <p:txBody>
          <a:bodyPr wrap="square">
            <a:spAutoFit/>
          </a:bodyPr>
          <a:lstStyle/>
          <a:p>
            <a:pPr algn="l" rtl="0"/>
            <a:r>
              <a:rPr lang="en-US" sz="3200" b="1" dirty="0">
                <a:solidFill>
                  <a:srgbClr val="177987"/>
                </a:solidFill>
              </a:rPr>
              <a:t>Echo-Root-Lorentzian Results</a:t>
            </a:r>
            <a:endParaRPr lang="he-IL" sz="3200" b="1" dirty="0">
              <a:solidFill>
                <a:srgbClr val="177987"/>
              </a:solidFill>
            </a:endParaRPr>
          </a:p>
        </p:txBody>
      </p:sp>
      <p:sp>
        <p:nvSpPr>
          <p:cNvPr id="6" name="TextBox 5">
            <a:extLst>
              <a:ext uri="{FF2B5EF4-FFF2-40B4-BE49-F238E27FC236}">
                <a16:creationId xmlns:a16="http://schemas.microsoft.com/office/drawing/2014/main" id="{DAEB8776-D8AF-2B83-AD80-BCFA9DA7F374}"/>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B43C8694-365D-E01B-FD84-E236E17E9317}"/>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12" name="Picture 11">
            <a:extLst>
              <a:ext uri="{FF2B5EF4-FFF2-40B4-BE49-F238E27FC236}">
                <a16:creationId xmlns:a16="http://schemas.microsoft.com/office/drawing/2014/main" id="{EB63ACCE-5E16-351C-DF97-9623E1D62B78}"/>
              </a:ext>
            </a:extLst>
          </p:cNvPr>
          <p:cNvPicPr>
            <a:picLocks noChangeAspect="1"/>
          </p:cNvPicPr>
          <p:nvPr/>
        </p:nvPicPr>
        <p:blipFill>
          <a:blip r:embed="rId3"/>
          <a:stretch>
            <a:fillRect/>
          </a:stretch>
        </p:blipFill>
        <p:spPr>
          <a:xfrm>
            <a:off x="1496281" y="1746299"/>
            <a:ext cx="9199437" cy="3365402"/>
          </a:xfrm>
          <a:prstGeom prst="rect">
            <a:avLst/>
          </a:prstGeom>
        </p:spPr>
      </p:pic>
      <p:pic>
        <p:nvPicPr>
          <p:cNvPr id="15" name="Picture 14">
            <a:extLst>
              <a:ext uri="{FF2B5EF4-FFF2-40B4-BE49-F238E27FC236}">
                <a16:creationId xmlns:a16="http://schemas.microsoft.com/office/drawing/2014/main" id="{404D92F3-A6F4-FBC8-5BC7-1C9692A1884D}"/>
              </a:ext>
            </a:extLst>
          </p:cNvPr>
          <p:cNvPicPr>
            <a:picLocks noChangeAspect="1"/>
          </p:cNvPicPr>
          <p:nvPr/>
        </p:nvPicPr>
        <p:blipFill>
          <a:blip r:embed="rId4"/>
          <a:stretch>
            <a:fillRect/>
          </a:stretch>
        </p:blipFill>
        <p:spPr>
          <a:xfrm>
            <a:off x="1496281" y="1746299"/>
            <a:ext cx="9199437" cy="3365402"/>
          </a:xfrm>
          <a:prstGeom prst="rect">
            <a:avLst/>
          </a:prstGeom>
        </p:spPr>
      </p:pic>
      <p:pic>
        <p:nvPicPr>
          <p:cNvPr id="18" name="Picture 17">
            <a:extLst>
              <a:ext uri="{FF2B5EF4-FFF2-40B4-BE49-F238E27FC236}">
                <a16:creationId xmlns:a16="http://schemas.microsoft.com/office/drawing/2014/main" id="{F5DA4614-3B21-3977-8AF1-70BD7DB296B9}"/>
              </a:ext>
            </a:extLst>
          </p:cNvPr>
          <p:cNvPicPr>
            <a:picLocks noChangeAspect="1"/>
          </p:cNvPicPr>
          <p:nvPr/>
        </p:nvPicPr>
        <p:blipFill>
          <a:blip r:embed="rId5"/>
          <a:stretch>
            <a:fillRect/>
          </a:stretch>
        </p:blipFill>
        <p:spPr>
          <a:xfrm>
            <a:off x="7514832" y="449436"/>
            <a:ext cx="3686702" cy="943496"/>
          </a:xfrm>
          <a:prstGeom prst="rect">
            <a:avLst/>
          </a:prstGeom>
        </p:spPr>
      </p:pic>
      <p:sp>
        <p:nvSpPr>
          <p:cNvPr id="19" name="TextBox 18">
            <a:extLst>
              <a:ext uri="{FF2B5EF4-FFF2-40B4-BE49-F238E27FC236}">
                <a16:creationId xmlns:a16="http://schemas.microsoft.com/office/drawing/2014/main" id="{050BE260-8FE0-C186-7C45-A05AEF7CCBC0}"/>
              </a:ext>
            </a:extLst>
          </p:cNvPr>
          <p:cNvSpPr txBox="1"/>
          <p:nvPr/>
        </p:nvSpPr>
        <p:spPr>
          <a:xfrm>
            <a:off x="4876799" y="1285927"/>
            <a:ext cx="10205097" cy="369332"/>
          </a:xfrm>
          <a:prstGeom prst="rect">
            <a:avLst/>
          </a:prstGeom>
          <a:noFill/>
        </p:spPr>
        <p:txBody>
          <a:bodyPr wrap="square">
            <a:spAutoFit/>
          </a:bodyPr>
          <a:lstStyle/>
          <a:p>
            <a:pPr algn="l" rtl="0"/>
            <a:r>
              <a:rPr lang="en-US" dirty="0"/>
              <a:t>L = 20 us, cutoff = 0.005</a:t>
            </a:r>
            <a:endParaRPr lang="en-IL" dirty="0"/>
          </a:p>
        </p:txBody>
      </p:sp>
    </p:spTree>
    <p:extLst>
      <p:ext uri="{BB962C8B-B14F-4D97-AF65-F5344CB8AC3E}">
        <p14:creationId xmlns:p14="http://schemas.microsoft.com/office/powerpoint/2010/main" val="3595391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094471D-ADB6-A4BE-9FC3-0D8C40765B76}"/>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A30A121B-D9CE-6C60-1654-FDC214045638}"/>
              </a:ext>
            </a:extLst>
          </p:cNvPr>
          <p:cNvSpPr txBox="1"/>
          <p:nvPr/>
        </p:nvSpPr>
        <p:spPr>
          <a:xfrm>
            <a:off x="473413" y="489015"/>
            <a:ext cx="10205097" cy="553998"/>
          </a:xfrm>
          <a:prstGeom prst="rect">
            <a:avLst/>
          </a:prstGeom>
          <a:noFill/>
        </p:spPr>
        <p:txBody>
          <a:bodyPr wrap="square">
            <a:spAutoFit/>
          </a:bodyPr>
          <a:lstStyle/>
          <a:p>
            <a:pPr algn="l" rtl="0"/>
            <a:r>
              <a:rPr lang="en-US" sz="3000" b="1" dirty="0">
                <a:solidFill>
                  <a:srgbClr val="177987"/>
                </a:solidFill>
                <a:latin typeface="Sana"/>
                <a:cs typeface="Sana"/>
              </a:rPr>
              <a:t>Echo-Root-Lorentzian Results</a:t>
            </a:r>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2D8828BD-8D16-4B85-888F-CF5F59A75344}"/>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1CFFF361-DB8B-4542-F5FC-0D7E4E1F2451}"/>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12" name="Picture 11">
            <a:extLst>
              <a:ext uri="{FF2B5EF4-FFF2-40B4-BE49-F238E27FC236}">
                <a16:creationId xmlns:a16="http://schemas.microsoft.com/office/drawing/2014/main" id="{A4F82006-36C5-D6AF-4F72-2C0F7BAC7FE4}"/>
              </a:ext>
            </a:extLst>
          </p:cNvPr>
          <p:cNvPicPr>
            <a:picLocks noChangeAspect="1"/>
          </p:cNvPicPr>
          <p:nvPr/>
        </p:nvPicPr>
        <p:blipFill>
          <a:blip r:embed="rId4"/>
          <a:stretch>
            <a:fillRect/>
          </a:stretch>
        </p:blipFill>
        <p:spPr>
          <a:xfrm>
            <a:off x="1496281" y="1746299"/>
            <a:ext cx="9199437" cy="3365402"/>
          </a:xfrm>
          <a:prstGeom prst="rect">
            <a:avLst/>
          </a:prstGeom>
        </p:spPr>
      </p:pic>
      <p:pic>
        <p:nvPicPr>
          <p:cNvPr id="3" name="Picture 2">
            <a:extLst>
              <a:ext uri="{FF2B5EF4-FFF2-40B4-BE49-F238E27FC236}">
                <a16:creationId xmlns:a16="http://schemas.microsoft.com/office/drawing/2014/main" id="{BFCC2A5F-2EB9-781F-EBD3-C2E916BD1F00}"/>
              </a:ext>
            </a:extLst>
          </p:cNvPr>
          <p:cNvPicPr>
            <a:picLocks noChangeAspect="1"/>
          </p:cNvPicPr>
          <p:nvPr/>
        </p:nvPicPr>
        <p:blipFill>
          <a:blip r:embed="rId5"/>
          <a:stretch>
            <a:fillRect/>
          </a:stretch>
        </p:blipFill>
        <p:spPr>
          <a:xfrm>
            <a:off x="7514832" y="449436"/>
            <a:ext cx="3686702" cy="943496"/>
          </a:xfrm>
          <a:prstGeom prst="rect">
            <a:avLst/>
          </a:prstGeom>
        </p:spPr>
      </p:pic>
      <p:sp>
        <p:nvSpPr>
          <p:cNvPr id="5" name="TextBox 4">
            <a:extLst>
              <a:ext uri="{FF2B5EF4-FFF2-40B4-BE49-F238E27FC236}">
                <a16:creationId xmlns:a16="http://schemas.microsoft.com/office/drawing/2014/main" id="{BE1A8EFC-FA8E-1835-3AFA-8D16EB832B8A}"/>
              </a:ext>
            </a:extLst>
          </p:cNvPr>
          <p:cNvSpPr txBox="1"/>
          <p:nvPr/>
        </p:nvSpPr>
        <p:spPr>
          <a:xfrm>
            <a:off x="774699" y="5354253"/>
            <a:ext cx="10205097" cy="646331"/>
          </a:xfrm>
          <a:prstGeom prst="rect">
            <a:avLst/>
          </a:prstGeom>
          <a:noFill/>
        </p:spPr>
        <p:txBody>
          <a:bodyPr wrap="square">
            <a:spAutoFit/>
          </a:bodyPr>
          <a:lstStyle/>
          <a:p>
            <a:pPr algn="l" rtl="0"/>
            <a:r>
              <a:rPr lang="en-IL" dirty="0"/>
              <a:t>The second half reverses the coherent evolution of off-resonant components, like a </a:t>
            </a:r>
            <a:r>
              <a:rPr lang="en-IL" dirty="0" err="1"/>
              <a:t>Loschmidt</a:t>
            </a:r>
            <a:r>
              <a:rPr lang="en-IL" dirty="0"/>
              <a:t> echo, while preserving a sharp resonant response.</a:t>
            </a:r>
          </a:p>
        </p:txBody>
      </p:sp>
      <p:sp>
        <p:nvSpPr>
          <p:cNvPr id="8" name="TextBox 7">
            <a:extLst>
              <a:ext uri="{FF2B5EF4-FFF2-40B4-BE49-F238E27FC236}">
                <a16:creationId xmlns:a16="http://schemas.microsoft.com/office/drawing/2014/main" id="{9CBB6DD8-10B0-3DE3-180D-0640BCC401EA}"/>
              </a:ext>
            </a:extLst>
          </p:cNvPr>
          <p:cNvSpPr txBox="1"/>
          <p:nvPr/>
        </p:nvSpPr>
        <p:spPr>
          <a:xfrm>
            <a:off x="4876799" y="1285927"/>
            <a:ext cx="10205097" cy="369332"/>
          </a:xfrm>
          <a:prstGeom prst="rect">
            <a:avLst/>
          </a:prstGeom>
          <a:noFill/>
        </p:spPr>
        <p:txBody>
          <a:bodyPr wrap="square">
            <a:spAutoFit/>
          </a:bodyPr>
          <a:lstStyle/>
          <a:p>
            <a:pPr algn="l" rtl="0"/>
            <a:r>
              <a:rPr lang="en-US" dirty="0"/>
              <a:t>L = 20 us, cutoff = 0.005</a:t>
            </a:r>
            <a:endParaRPr lang="en-IL" dirty="0"/>
          </a:p>
        </p:txBody>
      </p:sp>
    </p:spTree>
    <p:extLst>
      <p:ext uri="{BB962C8B-B14F-4D97-AF65-F5344CB8AC3E}">
        <p14:creationId xmlns:p14="http://schemas.microsoft.com/office/powerpoint/2010/main" val="3505530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5C3BCC8-EF50-3C10-F5F0-729127BC1646}"/>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71181474-A641-E5A3-9DD9-7130F4494A7F}"/>
              </a:ext>
            </a:extLst>
          </p:cNvPr>
          <p:cNvSpPr txBox="1"/>
          <p:nvPr/>
        </p:nvSpPr>
        <p:spPr>
          <a:xfrm>
            <a:off x="473413" y="489015"/>
            <a:ext cx="10205097" cy="584775"/>
          </a:xfrm>
          <a:prstGeom prst="rect">
            <a:avLst/>
          </a:prstGeom>
          <a:noFill/>
        </p:spPr>
        <p:txBody>
          <a:bodyPr wrap="square">
            <a:spAutoFit/>
          </a:bodyPr>
          <a:lstStyle/>
          <a:p>
            <a:pPr algn="l" rtl="0"/>
            <a:r>
              <a:rPr lang="en-US" sz="3200" b="1" dirty="0">
                <a:latin typeface="Sana"/>
                <a:ea typeface="Sana"/>
                <a:cs typeface="Sana"/>
              </a:rPr>
              <a:t>Robustness</a:t>
            </a:r>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53D3243D-B41E-3CE4-633B-45DD239CA928}"/>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D8F797E2-56CF-2B8A-11F9-4ECAD25CEE79}"/>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5" name="Picture 4">
            <a:extLst>
              <a:ext uri="{FF2B5EF4-FFF2-40B4-BE49-F238E27FC236}">
                <a16:creationId xmlns:a16="http://schemas.microsoft.com/office/drawing/2014/main" id="{6AB1674C-9BA0-90E7-75CC-DF55246A5B2A}"/>
              </a:ext>
            </a:extLst>
          </p:cNvPr>
          <p:cNvPicPr>
            <a:picLocks noChangeAspect="1"/>
          </p:cNvPicPr>
          <p:nvPr/>
        </p:nvPicPr>
        <p:blipFill>
          <a:blip r:embed="rId4"/>
          <a:stretch>
            <a:fillRect/>
          </a:stretch>
        </p:blipFill>
        <p:spPr>
          <a:xfrm>
            <a:off x="1265210" y="1650309"/>
            <a:ext cx="9258867" cy="4050755"/>
          </a:xfrm>
          <a:prstGeom prst="rect">
            <a:avLst/>
          </a:prstGeom>
        </p:spPr>
      </p:pic>
      <p:pic>
        <p:nvPicPr>
          <p:cNvPr id="3" name="Picture 2">
            <a:extLst>
              <a:ext uri="{FF2B5EF4-FFF2-40B4-BE49-F238E27FC236}">
                <a16:creationId xmlns:a16="http://schemas.microsoft.com/office/drawing/2014/main" id="{3B372AB1-5019-6406-F9B9-5239B059DD01}"/>
              </a:ext>
            </a:extLst>
          </p:cNvPr>
          <p:cNvPicPr>
            <a:picLocks noChangeAspect="1"/>
          </p:cNvPicPr>
          <p:nvPr/>
        </p:nvPicPr>
        <p:blipFill>
          <a:blip r:embed="rId5"/>
          <a:stretch>
            <a:fillRect/>
          </a:stretch>
        </p:blipFill>
        <p:spPr>
          <a:xfrm>
            <a:off x="7606287" y="336036"/>
            <a:ext cx="4055372" cy="1037846"/>
          </a:xfrm>
          <a:prstGeom prst="rect">
            <a:avLst/>
          </a:prstGeom>
        </p:spPr>
      </p:pic>
    </p:spTree>
    <p:extLst>
      <p:ext uri="{BB962C8B-B14F-4D97-AF65-F5344CB8AC3E}">
        <p14:creationId xmlns:p14="http://schemas.microsoft.com/office/powerpoint/2010/main" val="129899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79F3493-487A-5326-00C3-EDBF9703344B}"/>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6D9F6E9D-DC81-252B-E17A-15AD6862A5A4}"/>
              </a:ext>
            </a:extLst>
          </p:cNvPr>
          <p:cNvSpPr txBox="1"/>
          <p:nvPr/>
        </p:nvSpPr>
        <p:spPr>
          <a:xfrm>
            <a:off x="473413" y="489015"/>
            <a:ext cx="10205097" cy="584775"/>
          </a:xfrm>
          <a:prstGeom prst="rect">
            <a:avLst/>
          </a:prstGeom>
          <a:noFill/>
        </p:spPr>
        <p:txBody>
          <a:bodyPr wrap="square">
            <a:spAutoFit/>
          </a:bodyPr>
          <a:lstStyle/>
          <a:p>
            <a:pPr algn="l" rtl="0"/>
            <a:r>
              <a:rPr lang="en-US" sz="3200" b="1" dirty="0">
                <a:latin typeface="Sana"/>
                <a:ea typeface="Sana"/>
                <a:cs typeface="Sana"/>
              </a:rPr>
              <a:t>Robustness</a:t>
            </a:r>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2BF06BB5-0E06-00AA-DC66-AE9E61101F9C}"/>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48A8D665-5366-EE7F-0B4B-3EC3BF979DE1}"/>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8" name="Picture 7">
            <a:extLst>
              <a:ext uri="{FF2B5EF4-FFF2-40B4-BE49-F238E27FC236}">
                <a16:creationId xmlns:a16="http://schemas.microsoft.com/office/drawing/2014/main" id="{6F8CDA67-029C-C36F-94F3-6BEAF6B6A7BB}"/>
              </a:ext>
            </a:extLst>
          </p:cNvPr>
          <p:cNvPicPr>
            <a:picLocks noChangeAspect="1"/>
          </p:cNvPicPr>
          <p:nvPr/>
        </p:nvPicPr>
        <p:blipFill>
          <a:blip r:embed="rId4"/>
          <a:stretch>
            <a:fillRect/>
          </a:stretch>
        </p:blipFill>
        <p:spPr>
          <a:xfrm>
            <a:off x="1466817" y="1785635"/>
            <a:ext cx="8976348" cy="3927153"/>
          </a:xfrm>
          <a:prstGeom prst="rect">
            <a:avLst/>
          </a:prstGeom>
        </p:spPr>
      </p:pic>
      <p:pic>
        <p:nvPicPr>
          <p:cNvPr id="10" name="Picture 9">
            <a:extLst>
              <a:ext uri="{FF2B5EF4-FFF2-40B4-BE49-F238E27FC236}">
                <a16:creationId xmlns:a16="http://schemas.microsoft.com/office/drawing/2014/main" id="{47390929-FF5F-21C8-B6DC-A4B8F23D1177}"/>
              </a:ext>
            </a:extLst>
          </p:cNvPr>
          <p:cNvPicPr>
            <a:picLocks noChangeAspect="1"/>
          </p:cNvPicPr>
          <p:nvPr/>
        </p:nvPicPr>
        <p:blipFill>
          <a:blip r:embed="rId5"/>
          <a:stretch>
            <a:fillRect/>
          </a:stretch>
        </p:blipFill>
        <p:spPr>
          <a:xfrm>
            <a:off x="3844532" y="5518753"/>
            <a:ext cx="3686702" cy="943496"/>
          </a:xfrm>
          <a:prstGeom prst="rect">
            <a:avLst/>
          </a:prstGeom>
        </p:spPr>
      </p:pic>
    </p:spTree>
    <p:extLst>
      <p:ext uri="{BB962C8B-B14F-4D97-AF65-F5344CB8AC3E}">
        <p14:creationId xmlns:p14="http://schemas.microsoft.com/office/powerpoint/2010/main" val="1594793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D674FA9-CBA6-7894-671C-31E01EF1FBB6}"/>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F2E329DE-E35D-BB9A-6911-3BF1A3317D48}"/>
              </a:ext>
            </a:extLst>
          </p:cNvPr>
          <p:cNvSpPr txBox="1"/>
          <p:nvPr/>
        </p:nvSpPr>
        <p:spPr>
          <a:xfrm>
            <a:off x="473413" y="489015"/>
            <a:ext cx="10205097" cy="1015663"/>
          </a:xfrm>
          <a:prstGeom prst="rect">
            <a:avLst/>
          </a:prstGeom>
          <a:noFill/>
        </p:spPr>
        <p:txBody>
          <a:bodyPr wrap="square">
            <a:spAutoFit/>
          </a:bodyPr>
          <a:lstStyle/>
          <a:p>
            <a:pPr marL="0" algn="l" defTabSz="914400" rtl="0" eaLnBrk="1" latinLnBrk="0" hangingPunct="1"/>
            <a:r>
              <a:rPr lang="en-US" sz="3000" b="1" dirty="0">
                <a:solidFill>
                  <a:srgbClr val="177987"/>
                </a:solidFill>
                <a:latin typeface="Sana"/>
                <a:cs typeface="Sana"/>
              </a:rPr>
              <a:t>Questions?</a:t>
            </a:r>
          </a:p>
          <a:p>
            <a:pPr marL="0" algn="l" defTabSz="914400" rtl="0" eaLnBrk="1" latinLnBrk="0" hangingPunct="1"/>
            <a:endParaRPr lang="en-US" sz="3000" b="1" dirty="0">
              <a:solidFill>
                <a:srgbClr val="177987"/>
              </a:solidFill>
              <a:latin typeface="Sana"/>
              <a:cs typeface="Sana"/>
            </a:endParaRPr>
          </a:p>
        </p:txBody>
      </p:sp>
      <p:sp>
        <p:nvSpPr>
          <p:cNvPr id="6" name="TextBox 5">
            <a:extLst>
              <a:ext uri="{FF2B5EF4-FFF2-40B4-BE49-F238E27FC236}">
                <a16:creationId xmlns:a16="http://schemas.microsoft.com/office/drawing/2014/main" id="{82E6038D-4471-71C8-F2F1-6B89DEC0BE77}"/>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E7B8559F-05BC-C63F-EF3F-1C744E4C7827}"/>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spTree>
    <p:extLst>
      <p:ext uri="{BB962C8B-B14F-4D97-AF65-F5344CB8AC3E}">
        <p14:creationId xmlns:p14="http://schemas.microsoft.com/office/powerpoint/2010/main" val="4158306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24C205D-855C-C0FC-65D7-C3DD34F0B165}"/>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CF7BA418-7634-599B-9A20-2AD50CBF9D5B}"/>
              </a:ext>
            </a:extLst>
          </p:cNvPr>
          <p:cNvSpPr txBox="1"/>
          <p:nvPr/>
        </p:nvSpPr>
        <p:spPr>
          <a:xfrm>
            <a:off x="473413" y="489015"/>
            <a:ext cx="10205097" cy="584775"/>
          </a:xfrm>
          <a:prstGeom prst="rect">
            <a:avLst/>
          </a:prstGeom>
          <a:noFill/>
        </p:spPr>
        <p:txBody>
          <a:bodyPr wrap="square">
            <a:spAutoFit/>
          </a:bodyPr>
          <a:lstStyle/>
          <a:p>
            <a:pPr algn="l" rtl="0"/>
            <a:r>
              <a:rPr lang="en-US" sz="3200" b="1" dirty="0">
                <a:latin typeface="Sana"/>
                <a:ea typeface="Sana"/>
                <a:cs typeface="Sana"/>
              </a:rPr>
              <a:t>Pulse shaping can change the spectroscopic response </a:t>
            </a:r>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1E14FC00-710F-5E37-A6AE-6ECCCF0FC27E}"/>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EC5D3159-D685-B1C7-E84C-594A65F57EE3}"/>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pic>
        <p:nvPicPr>
          <p:cNvPr id="2" name="Picture 1">
            <a:extLst>
              <a:ext uri="{FF2B5EF4-FFF2-40B4-BE49-F238E27FC236}">
                <a16:creationId xmlns:a16="http://schemas.microsoft.com/office/drawing/2014/main" id="{910BF27B-4539-B8E5-7229-5A1019C8E5D8}"/>
              </a:ext>
            </a:extLst>
          </p:cNvPr>
          <p:cNvPicPr>
            <a:picLocks noChangeAspect="1"/>
          </p:cNvPicPr>
          <p:nvPr/>
        </p:nvPicPr>
        <p:blipFill>
          <a:blip r:embed="rId4"/>
          <a:stretch>
            <a:fillRect/>
          </a:stretch>
        </p:blipFill>
        <p:spPr>
          <a:xfrm>
            <a:off x="473413" y="1006695"/>
            <a:ext cx="10896600" cy="2724150"/>
          </a:xfrm>
          <a:prstGeom prst="rect">
            <a:avLst/>
          </a:prstGeom>
        </p:spPr>
      </p:pic>
      <p:sp>
        <p:nvSpPr>
          <p:cNvPr id="5" name="TextBox 4">
            <a:extLst>
              <a:ext uri="{FF2B5EF4-FFF2-40B4-BE49-F238E27FC236}">
                <a16:creationId xmlns:a16="http://schemas.microsoft.com/office/drawing/2014/main" id="{F6B4F892-8934-7F4F-7C0F-371F227CA262}"/>
              </a:ext>
            </a:extLst>
          </p:cNvPr>
          <p:cNvSpPr txBox="1"/>
          <p:nvPr/>
        </p:nvSpPr>
        <p:spPr>
          <a:xfrm>
            <a:off x="-4058818" y="3816896"/>
            <a:ext cx="6819900" cy="369332"/>
          </a:xfrm>
          <a:prstGeom prst="rect">
            <a:avLst/>
          </a:prstGeom>
          <a:noFill/>
        </p:spPr>
        <p:txBody>
          <a:bodyPr wrap="square">
            <a:spAutoFit/>
          </a:bodyPr>
          <a:lstStyle/>
          <a:p>
            <a:pPr>
              <a:buNone/>
            </a:pPr>
            <a:r>
              <a:rPr lang="en-IL" b="1" dirty="0"/>
              <a:t>Adiabatic condition</a:t>
            </a:r>
          </a:p>
        </p:txBody>
      </p:sp>
      <p:sp>
        <p:nvSpPr>
          <p:cNvPr id="8" name="TextBox 7">
            <a:extLst>
              <a:ext uri="{FF2B5EF4-FFF2-40B4-BE49-F238E27FC236}">
                <a16:creationId xmlns:a16="http://schemas.microsoft.com/office/drawing/2014/main" id="{033EF6B4-E52E-80E4-4BDC-BD3A992A9EC0}"/>
              </a:ext>
            </a:extLst>
          </p:cNvPr>
          <p:cNvSpPr txBox="1"/>
          <p:nvPr/>
        </p:nvSpPr>
        <p:spPr>
          <a:xfrm>
            <a:off x="712304" y="4186228"/>
            <a:ext cx="8845826" cy="369332"/>
          </a:xfrm>
          <a:prstGeom prst="rect">
            <a:avLst/>
          </a:prstGeom>
          <a:noFill/>
        </p:spPr>
        <p:txBody>
          <a:bodyPr wrap="square">
            <a:spAutoFit/>
          </a:bodyPr>
          <a:lstStyle/>
          <a:p>
            <a:pPr algn="l" rtl="0"/>
            <a:r>
              <a:rPr lang="en-IL" dirty="0"/>
              <a:t>The adiabatic approximation requires</a:t>
            </a:r>
          </a:p>
        </p:txBody>
      </p:sp>
      <p:sp>
        <p:nvSpPr>
          <p:cNvPr id="11" name="TextBox 10">
            <a:extLst>
              <a:ext uri="{FF2B5EF4-FFF2-40B4-BE49-F238E27FC236}">
                <a16:creationId xmlns:a16="http://schemas.microsoft.com/office/drawing/2014/main" id="{E8F3BB20-E819-8342-C0CB-8141740A68E4}"/>
              </a:ext>
            </a:extLst>
          </p:cNvPr>
          <p:cNvSpPr txBox="1"/>
          <p:nvPr/>
        </p:nvSpPr>
        <p:spPr>
          <a:xfrm>
            <a:off x="712304" y="5010943"/>
            <a:ext cx="8845826" cy="369332"/>
          </a:xfrm>
          <a:prstGeom prst="rect">
            <a:avLst/>
          </a:prstGeom>
          <a:noFill/>
        </p:spPr>
        <p:txBody>
          <a:bodyPr wrap="square">
            <a:spAutoFit/>
          </a:bodyPr>
          <a:lstStyle/>
          <a:p>
            <a:pPr algn="l" rtl="0"/>
            <a:r>
              <a:rPr lang="en-IL" dirty="0"/>
              <a:t>or equivalently,</a:t>
            </a:r>
          </a:p>
        </p:txBody>
      </p:sp>
      <p:pic>
        <p:nvPicPr>
          <p:cNvPr id="14" name="Picture 13">
            <a:extLst>
              <a:ext uri="{FF2B5EF4-FFF2-40B4-BE49-F238E27FC236}">
                <a16:creationId xmlns:a16="http://schemas.microsoft.com/office/drawing/2014/main" id="{0931E35F-BAEC-E0BE-423E-1714BA3E8744}"/>
              </a:ext>
            </a:extLst>
          </p:cNvPr>
          <p:cNvPicPr>
            <a:picLocks noChangeAspect="1"/>
          </p:cNvPicPr>
          <p:nvPr/>
        </p:nvPicPr>
        <p:blipFill>
          <a:blip r:embed="rId5"/>
          <a:stretch>
            <a:fillRect/>
          </a:stretch>
        </p:blipFill>
        <p:spPr>
          <a:xfrm>
            <a:off x="5319604" y="4534540"/>
            <a:ext cx="1552792" cy="457264"/>
          </a:xfrm>
          <a:prstGeom prst="rect">
            <a:avLst/>
          </a:prstGeom>
        </p:spPr>
      </p:pic>
      <p:pic>
        <p:nvPicPr>
          <p:cNvPr id="16" name="Picture 15">
            <a:extLst>
              <a:ext uri="{FF2B5EF4-FFF2-40B4-BE49-F238E27FC236}">
                <a16:creationId xmlns:a16="http://schemas.microsoft.com/office/drawing/2014/main" id="{9123E7E4-8CB4-F75A-79F7-45AA58FEF567}"/>
              </a:ext>
            </a:extLst>
          </p:cNvPr>
          <p:cNvPicPr>
            <a:picLocks noChangeAspect="1"/>
          </p:cNvPicPr>
          <p:nvPr/>
        </p:nvPicPr>
        <p:blipFill>
          <a:blip r:embed="rId6"/>
          <a:stretch>
            <a:fillRect/>
          </a:stretch>
        </p:blipFill>
        <p:spPr>
          <a:xfrm>
            <a:off x="4961097" y="5340116"/>
            <a:ext cx="2667372" cy="847843"/>
          </a:xfrm>
          <a:prstGeom prst="rect">
            <a:avLst/>
          </a:prstGeom>
        </p:spPr>
      </p:pic>
      <p:sp>
        <p:nvSpPr>
          <p:cNvPr id="17" name="TextBox 16">
            <a:extLst>
              <a:ext uri="{FF2B5EF4-FFF2-40B4-BE49-F238E27FC236}">
                <a16:creationId xmlns:a16="http://schemas.microsoft.com/office/drawing/2014/main" id="{AB0FD60C-BA0F-6661-EA8E-2E28E5364987}"/>
              </a:ext>
            </a:extLst>
          </p:cNvPr>
          <p:cNvSpPr txBox="1"/>
          <p:nvPr/>
        </p:nvSpPr>
        <p:spPr>
          <a:xfrm>
            <a:off x="199136" y="6351785"/>
            <a:ext cx="13346519" cy="307777"/>
          </a:xfrm>
          <a:prstGeom prst="rect">
            <a:avLst/>
          </a:prstGeom>
          <a:noFill/>
        </p:spPr>
        <p:txBody>
          <a:bodyPr wrap="square">
            <a:spAutoFit/>
          </a:bodyPr>
          <a:lstStyle/>
          <a:p>
            <a:pPr algn="l" rtl="0"/>
            <a:r>
              <a:rPr lang="en-IL" sz="1400" dirty="0"/>
              <a:t>Defying Conventional Wisdom in Spectroscopy: Power Narrowing on IBM Quantum Ivo S. Mihov and Nikolay V. Vitanov</a:t>
            </a:r>
            <a:r>
              <a:rPr lang="en-US" sz="1400" dirty="0"/>
              <a:t> </a:t>
            </a:r>
            <a:r>
              <a:rPr lang="en-IL" sz="1400" dirty="0"/>
              <a:t>Phys. Rev. Lett. </a:t>
            </a:r>
            <a:r>
              <a:rPr lang="en-IL" sz="1400" b="1" dirty="0"/>
              <a:t>132</a:t>
            </a:r>
            <a:r>
              <a:rPr lang="en-IL" sz="1400" dirty="0"/>
              <a:t>, 020802</a:t>
            </a:r>
            <a:r>
              <a:rPr lang="en-US" sz="1400" dirty="0"/>
              <a:t> (2024)</a:t>
            </a:r>
            <a:endParaRPr lang="en-IL" sz="1400" dirty="0"/>
          </a:p>
        </p:txBody>
      </p:sp>
    </p:spTree>
    <p:extLst>
      <p:ext uri="{BB962C8B-B14F-4D97-AF65-F5344CB8AC3E}">
        <p14:creationId xmlns:p14="http://schemas.microsoft.com/office/powerpoint/2010/main" val="2767834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31709A9-D699-F631-BB12-A815E2CD3109}"/>
            </a:ext>
          </a:extLst>
        </p:cNvPr>
        <p:cNvGrpSpPr/>
        <p:nvPr/>
      </p:nvGrpSpPr>
      <p:grpSpPr>
        <a:xfrm>
          <a:off x="0" y="0"/>
          <a:ext cx="0" cy="0"/>
          <a:chOff x="0" y="0"/>
          <a:chExt cx="0" cy="0"/>
        </a:xfrm>
      </p:grpSpPr>
      <p:sp>
        <p:nvSpPr>
          <p:cNvPr id="13" name="תיבת טקסט 12">
            <a:extLst>
              <a:ext uri="{FF2B5EF4-FFF2-40B4-BE49-F238E27FC236}">
                <a16:creationId xmlns:a16="http://schemas.microsoft.com/office/drawing/2014/main" id="{8905DAD2-9E3F-5333-2FDB-E3A515DA3C05}"/>
              </a:ext>
            </a:extLst>
          </p:cNvPr>
          <p:cNvSpPr txBox="1"/>
          <p:nvPr/>
        </p:nvSpPr>
        <p:spPr>
          <a:xfrm>
            <a:off x="473413" y="489015"/>
            <a:ext cx="10205097" cy="584775"/>
          </a:xfrm>
          <a:prstGeom prst="rect">
            <a:avLst/>
          </a:prstGeom>
          <a:noFill/>
        </p:spPr>
        <p:txBody>
          <a:bodyPr wrap="square">
            <a:spAutoFit/>
          </a:bodyPr>
          <a:lstStyle/>
          <a:p>
            <a:pPr algn="l" rtl="0"/>
            <a:r>
              <a:rPr lang="en-US" sz="3200" b="1" dirty="0">
                <a:solidFill>
                  <a:srgbClr val="177987"/>
                </a:solidFill>
                <a:latin typeface="Sana"/>
                <a:cs typeface="Sana"/>
              </a:rPr>
              <a:t>Power narrowing</a:t>
            </a:r>
            <a:endParaRPr lang="he-IL" sz="3000" b="1" dirty="0">
              <a:solidFill>
                <a:srgbClr val="177987"/>
              </a:solidFill>
              <a:latin typeface="Sana"/>
              <a:cs typeface="Sana"/>
            </a:endParaRPr>
          </a:p>
        </p:txBody>
      </p:sp>
      <p:sp>
        <p:nvSpPr>
          <p:cNvPr id="6" name="TextBox 5">
            <a:extLst>
              <a:ext uri="{FF2B5EF4-FFF2-40B4-BE49-F238E27FC236}">
                <a16:creationId xmlns:a16="http://schemas.microsoft.com/office/drawing/2014/main" id="{AB533A6A-23FA-0FDE-59C6-767CBBADD130}"/>
              </a:ext>
            </a:extLst>
          </p:cNvPr>
          <p:cNvSpPr txBox="1"/>
          <p:nvPr/>
        </p:nvSpPr>
        <p:spPr>
          <a:xfrm>
            <a:off x="2668717" y="616085"/>
            <a:ext cx="184730" cy="369332"/>
          </a:xfrm>
          <a:prstGeom prst="rect">
            <a:avLst/>
          </a:prstGeom>
          <a:noFill/>
        </p:spPr>
        <p:txBody>
          <a:bodyPr wrap="none" rtlCol="0">
            <a:spAutoFit/>
          </a:bodyPr>
          <a:lstStyle/>
          <a:p>
            <a:endParaRPr lang="en-IL" dirty="0">
              <a:latin typeface="Sana"/>
              <a:ea typeface="Sana"/>
              <a:cs typeface="Sana"/>
            </a:endParaRPr>
          </a:p>
        </p:txBody>
      </p:sp>
      <p:sp>
        <p:nvSpPr>
          <p:cNvPr id="9" name="TextBox 8">
            <a:extLst>
              <a:ext uri="{FF2B5EF4-FFF2-40B4-BE49-F238E27FC236}">
                <a16:creationId xmlns:a16="http://schemas.microsoft.com/office/drawing/2014/main" id="{AFDD2262-A7EF-B7CE-1FE2-5F15F66E2F24}"/>
              </a:ext>
            </a:extLst>
          </p:cNvPr>
          <p:cNvSpPr txBox="1"/>
          <p:nvPr/>
        </p:nvSpPr>
        <p:spPr>
          <a:xfrm>
            <a:off x="288683" y="6277583"/>
            <a:ext cx="184730" cy="369332"/>
          </a:xfrm>
          <a:prstGeom prst="rect">
            <a:avLst/>
          </a:prstGeom>
          <a:noFill/>
        </p:spPr>
        <p:txBody>
          <a:bodyPr wrap="none" rtlCol="0">
            <a:spAutoFit/>
          </a:bodyPr>
          <a:lstStyle/>
          <a:p>
            <a:pPr marL="0" algn="l" defTabSz="914400" rtl="0" eaLnBrk="1" latinLnBrk="0" hangingPunct="1"/>
            <a:endParaRPr lang="en-IL" dirty="0">
              <a:latin typeface="Sana"/>
              <a:ea typeface="Sana"/>
              <a:cs typeface="Sana"/>
            </a:endParaRPr>
          </a:p>
        </p:txBody>
      </p:sp>
      <p:sp>
        <p:nvSpPr>
          <p:cNvPr id="3" name="TextBox 2">
            <a:extLst>
              <a:ext uri="{FF2B5EF4-FFF2-40B4-BE49-F238E27FC236}">
                <a16:creationId xmlns:a16="http://schemas.microsoft.com/office/drawing/2014/main" id="{C8890C65-61C3-27A5-7CE0-D82D59F691EC}"/>
              </a:ext>
            </a:extLst>
          </p:cNvPr>
          <p:cNvSpPr txBox="1"/>
          <p:nvPr/>
        </p:nvSpPr>
        <p:spPr>
          <a:xfrm>
            <a:off x="165793" y="6339138"/>
            <a:ext cx="13346519" cy="307777"/>
          </a:xfrm>
          <a:prstGeom prst="rect">
            <a:avLst/>
          </a:prstGeom>
          <a:noFill/>
        </p:spPr>
        <p:txBody>
          <a:bodyPr wrap="square">
            <a:spAutoFit/>
          </a:bodyPr>
          <a:lstStyle/>
          <a:p>
            <a:pPr algn="l" rtl="0"/>
            <a:r>
              <a:rPr lang="en-IL" sz="1400" dirty="0"/>
              <a:t>Defying Conventional Wisdom in Spectroscopy: Power Narrowing on IBM Quantum Ivo S. Mihov and Nikolay V. Vitanov</a:t>
            </a:r>
            <a:r>
              <a:rPr lang="en-US" sz="1400" dirty="0"/>
              <a:t> </a:t>
            </a:r>
            <a:r>
              <a:rPr lang="en-IL" sz="1400" dirty="0"/>
              <a:t>Phys. Rev. Lett. </a:t>
            </a:r>
            <a:r>
              <a:rPr lang="en-IL" sz="1400" b="1" dirty="0"/>
              <a:t>132</a:t>
            </a:r>
            <a:r>
              <a:rPr lang="en-IL" sz="1400" dirty="0"/>
              <a:t>, 020802</a:t>
            </a:r>
            <a:r>
              <a:rPr lang="en-US" sz="1400" dirty="0"/>
              <a:t> (2024)</a:t>
            </a:r>
            <a:endParaRPr lang="en-IL" sz="1400" dirty="0"/>
          </a:p>
        </p:txBody>
      </p:sp>
      <p:sp>
        <p:nvSpPr>
          <p:cNvPr id="7" name="TextBox 6">
            <a:extLst>
              <a:ext uri="{FF2B5EF4-FFF2-40B4-BE49-F238E27FC236}">
                <a16:creationId xmlns:a16="http://schemas.microsoft.com/office/drawing/2014/main" id="{26004EE4-68DF-41CC-4A1C-5AC643F2F1D8}"/>
              </a:ext>
            </a:extLst>
          </p:cNvPr>
          <p:cNvSpPr txBox="1"/>
          <p:nvPr/>
        </p:nvSpPr>
        <p:spPr>
          <a:xfrm>
            <a:off x="692426" y="1498360"/>
            <a:ext cx="6818242" cy="369332"/>
          </a:xfrm>
          <a:prstGeom prst="rect">
            <a:avLst/>
          </a:prstGeom>
          <a:noFill/>
        </p:spPr>
        <p:txBody>
          <a:bodyPr wrap="square">
            <a:spAutoFit/>
          </a:bodyPr>
          <a:lstStyle/>
          <a:p>
            <a:pPr algn="l" rtl="0"/>
            <a:r>
              <a:rPr lang="en-US" dirty="0"/>
              <a:t>If we shape power law tails to our pulse </a:t>
            </a:r>
            <a:endParaRPr lang="en-IL" dirty="0"/>
          </a:p>
        </p:txBody>
      </p:sp>
      <p:pic>
        <p:nvPicPr>
          <p:cNvPr id="12" name="Picture 11">
            <a:extLst>
              <a:ext uri="{FF2B5EF4-FFF2-40B4-BE49-F238E27FC236}">
                <a16:creationId xmlns:a16="http://schemas.microsoft.com/office/drawing/2014/main" id="{17494135-3C15-CC88-90B2-FA6C7FAFB51C}"/>
              </a:ext>
            </a:extLst>
          </p:cNvPr>
          <p:cNvPicPr>
            <a:picLocks noChangeAspect="1"/>
          </p:cNvPicPr>
          <p:nvPr/>
        </p:nvPicPr>
        <p:blipFill>
          <a:blip r:embed="rId4"/>
          <a:stretch>
            <a:fillRect/>
          </a:stretch>
        </p:blipFill>
        <p:spPr>
          <a:xfrm>
            <a:off x="2668717" y="2144234"/>
            <a:ext cx="1486107" cy="800212"/>
          </a:xfrm>
          <a:prstGeom prst="rect">
            <a:avLst/>
          </a:prstGeom>
        </p:spPr>
      </p:pic>
      <p:sp>
        <p:nvSpPr>
          <p:cNvPr id="17" name="TextBox 16">
            <a:extLst>
              <a:ext uri="{FF2B5EF4-FFF2-40B4-BE49-F238E27FC236}">
                <a16:creationId xmlns:a16="http://schemas.microsoft.com/office/drawing/2014/main" id="{177F4B8B-944B-1210-CE80-583121999060}"/>
              </a:ext>
            </a:extLst>
          </p:cNvPr>
          <p:cNvSpPr txBox="1"/>
          <p:nvPr/>
        </p:nvSpPr>
        <p:spPr>
          <a:xfrm>
            <a:off x="-407504" y="3275577"/>
            <a:ext cx="6818242" cy="369332"/>
          </a:xfrm>
          <a:prstGeom prst="rect">
            <a:avLst/>
          </a:prstGeom>
          <a:noFill/>
        </p:spPr>
        <p:txBody>
          <a:bodyPr wrap="square">
            <a:spAutoFit/>
          </a:bodyPr>
          <a:lstStyle/>
          <a:p>
            <a:r>
              <a:rPr lang="en-IL" dirty="0"/>
              <a:t>then solving the boundary of the nonadiabatic region yields</a:t>
            </a:r>
          </a:p>
        </p:txBody>
      </p:sp>
      <p:pic>
        <p:nvPicPr>
          <p:cNvPr id="19" name="Picture 18">
            <a:extLst>
              <a:ext uri="{FF2B5EF4-FFF2-40B4-BE49-F238E27FC236}">
                <a16:creationId xmlns:a16="http://schemas.microsoft.com/office/drawing/2014/main" id="{36305C5A-B3CA-94EC-04A3-F7AC24A6B17C}"/>
              </a:ext>
            </a:extLst>
          </p:cNvPr>
          <p:cNvPicPr>
            <a:picLocks noChangeAspect="1"/>
          </p:cNvPicPr>
          <p:nvPr/>
        </p:nvPicPr>
        <p:blipFill>
          <a:blip r:embed="rId5"/>
          <a:stretch>
            <a:fillRect/>
          </a:stretch>
        </p:blipFill>
        <p:spPr>
          <a:xfrm>
            <a:off x="7577351" y="4303468"/>
            <a:ext cx="2600688" cy="447737"/>
          </a:xfrm>
          <a:prstGeom prst="rect">
            <a:avLst/>
          </a:prstGeom>
        </p:spPr>
      </p:pic>
      <p:pic>
        <p:nvPicPr>
          <p:cNvPr id="20" name="Picture 19">
            <a:extLst>
              <a:ext uri="{FF2B5EF4-FFF2-40B4-BE49-F238E27FC236}">
                <a16:creationId xmlns:a16="http://schemas.microsoft.com/office/drawing/2014/main" id="{61C90095-5831-C2DC-FCE2-30F500334B87}"/>
              </a:ext>
            </a:extLst>
          </p:cNvPr>
          <p:cNvPicPr>
            <a:picLocks noChangeAspect="1"/>
          </p:cNvPicPr>
          <p:nvPr/>
        </p:nvPicPr>
        <p:blipFill>
          <a:blip r:embed="rId6"/>
          <a:stretch>
            <a:fillRect/>
          </a:stretch>
        </p:blipFill>
        <p:spPr>
          <a:xfrm>
            <a:off x="2013961" y="4137999"/>
            <a:ext cx="2667372" cy="847843"/>
          </a:xfrm>
          <a:prstGeom prst="rect">
            <a:avLst/>
          </a:prstGeom>
        </p:spPr>
      </p:pic>
      <p:sp>
        <p:nvSpPr>
          <p:cNvPr id="21" name="Arrow: Right 20">
            <a:extLst>
              <a:ext uri="{FF2B5EF4-FFF2-40B4-BE49-F238E27FC236}">
                <a16:creationId xmlns:a16="http://schemas.microsoft.com/office/drawing/2014/main" id="{B81D0259-FDD7-33C8-EB5F-37981E82E86C}"/>
              </a:ext>
            </a:extLst>
          </p:cNvPr>
          <p:cNvSpPr/>
          <p:nvPr/>
        </p:nvSpPr>
        <p:spPr>
          <a:xfrm>
            <a:off x="5300870" y="4346713"/>
            <a:ext cx="1775791"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886759671"/>
      </p:ext>
    </p:extLst>
  </p:cSld>
  <p:clrMapOvr>
    <a:masterClrMapping/>
  </p:clrMapOvr>
</p:sld>
</file>

<file path=ppt/theme/theme1.xml><?xml version="1.0" encoding="utf-8"?>
<a:theme xmlns:a="http://schemas.openxmlformats.org/drawingml/2006/main" name="ערכת נושא Office">
  <a:themeElements>
    <a:clrScheme name="מותאם אישית 5">
      <a:dk1>
        <a:srgbClr val="000000"/>
      </a:dk1>
      <a:lt1>
        <a:srgbClr val="FFFFFF"/>
      </a:lt1>
      <a:dk2>
        <a:srgbClr val="44546A"/>
      </a:dk2>
      <a:lt2>
        <a:srgbClr val="E7E6E6"/>
      </a:lt2>
      <a:accent1>
        <a:srgbClr val="75325B"/>
      </a:accent1>
      <a:accent2>
        <a:srgbClr val="50A781"/>
      </a:accent2>
      <a:accent3>
        <a:srgbClr val="D8AF5C"/>
      </a:accent3>
      <a:accent4>
        <a:srgbClr val="2B819B"/>
      </a:accent4>
      <a:accent5>
        <a:srgbClr val="83151E"/>
      </a:accent5>
      <a:accent6>
        <a:srgbClr val="873B70"/>
      </a:accent6>
      <a:hlink>
        <a:srgbClr val="50A781"/>
      </a:hlink>
      <a:folHlink>
        <a:srgbClr val="75325B"/>
      </a:folHlink>
    </a:clrScheme>
    <a:fontScheme name="Office">
      <a:majorFont>
        <a:latin typeface="Sana"/>
        <a:ea typeface="Sana"/>
        <a:cs typeface="Sana"/>
        <a:font script="Jpan" typeface="Sana"/>
        <a:font script="Hang" typeface="Sana"/>
        <a:font script="Hans" typeface="Sana"/>
        <a:font script="Hant" typeface="Sana"/>
        <a:font script="Arab" typeface="Sana"/>
        <a:font script="Hebr" typeface="Sana"/>
        <a:font script="Thai" typeface="Sana"/>
        <a:font script="Ethi" typeface="Sana"/>
        <a:font script="Beng" typeface="Sana"/>
        <a:font script="Gujr" typeface="Sana"/>
        <a:font script="Khmr" typeface="Sana"/>
        <a:font script="Knda" typeface="Sana"/>
        <a:font script="Guru" typeface="Sana"/>
        <a:font script="Cans" typeface="Sana"/>
        <a:font script="Cher" typeface="Sana"/>
        <a:font script="Yiii" typeface="Sana"/>
        <a:font script="Tibt" typeface="Sana"/>
        <a:font script="Thaa" typeface="Sana"/>
        <a:font script="Deva" typeface="Sana"/>
        <a:font script="Telu" typeface="Sana"/>
        <a:font script="Taml" typeface="Sana"/>
        <a:font script="Syrc" typeface="Sana"/>
        <a:font script="Orya" typeface="Sana"/>
        <a:font script="Mlym" typeface="Sana"/>
        <a:font script="Laoo" typeface="Sana"/>
        <a:font script="Sinh" typeface="Sana"/>
        <a:font script="Mong" typeface="Sana"/>
        <a:font script="Viet" typeface="Sana"/>
        <a:font script="Uigh" typeface="Sana"/>
        <a:font script="Geor" typeface="Sana"/>
        <a:font script="Armn" typeface="Sana"/>
        <a:font script="Bugi" typeface="Sana"/>
        <a:font script="Bopo" typeface="Sana"/>
        <a:font script="Java" typeface="Sana"/>
        <a:font script="Lisu" typeface="Sana"/>
        <a:font script="Mymr" typeface="Sana"/>
        <a:font script="Nkoo" typeface="Sana"/>
        <a:font script="Olck" typeface="Sana"/>
        <a:font script="Osma" typeface="Sana"/>
        <a:font script="Phag" typeface="Sana"/>
        <a:font script="Syrn" typeface="Sana"/>
        <a:font script="Syrj" typeface="Sana"/>
        <a:font script="Syre" typeface="Sana"/>
        <a:font script="Sora" typeface="Sana"/>
        <a:font script="Tale" typeface="Sana"/>
        <a:font script="Talu" typeface="Sana"/>
        <a:font script="Tfng" typeface="Sana"/>
      </a:majorFont>
      <a:minorFont>
        <a:latin typeface="Sana"/>
        <a:ea typeface="Sana"/>
        <a:cs typeface="Sana"/>
        <a:font script="Jpan" typeface="Sana"/>
        <a:font script="Hang" typeface="Sana"/>
        <a:font script="Hans" typeface="Sana"/>
        <a:font script="Hant" typeface="Sana"/>
        <a:font script="Arab" typeface="Sana"/>
        <a:font script="Hebr" typeface="Sana"/>
        <a:font script="Thai" typeface="Sana"/>
        <a:font script="Ethi" typeface="Sana"/>
        <a:font script="Beng" typeface="Sana"/>
        <a:font script="Gujr" typeface="Sana"/>
        <a:font script="Khmr" typeface="Sana"/>
        <a:font script="Knda" typeface="Sana"/>
        <a:font script="Guru" typeface="Sana"/>
        <a:font script="Cans" typeface="Sana"/>
        <a:font script="Cher" typeface="Sana"/>
        <a:font script="Yiii" typeface="Sana"/>
        <a:font script="Tibt" typeface="Sana"/>
        <a:font script="Thaa" typeface="Sana"/>
        <a:font script="Deva" typeface="Sana"/>
        <a:font script="Telu" typeface="Sana"/>
        <a:font script="Taml" typeface="Sana"/>
        <a:font script="Syrc" typeface="Sana"/>
        <a:font script="Orya" typeface="Sana"/>
        <a:font script="Mlym" typeface="Sana"/>
        <a:font script="Laoo" typeface="Sana"/>
        <a:font script="Sinh" typeface="Sana"/>
        <a:font script="Mong" typeface="Sana"/>
        <a:font script="Viet" typeface="Sana"/>
        <a:font script="Uigh" typeface="Sana"/>
        <a:font script="Geor" typeface="Sana"/>
        <a:font script="Armn" typeface="Sana"/>
        <a:font script="Bugi" typeface="Sana"/>
        <a:font script="Bopo" typeface="Sana"/>
        <a:font script="Java" typeface="Sana"/>
        <a:font script="Lisu" typeface="Sana"/>
        <a:font script="Mymr" typeface="Sana"/>
        <a:font script="Nkoo" typeface="Sana"/>
        <a:font script="Olck" typeface="Sana"/>
        <a:font script="Osma" typeface="Sana"/>
        <a:font script="Phag" typeface="Sana"/>
        <a:font script="Syrn" typeface="Sana"/>
        <a:font script="Syrj" typeface="Sana"/>
        <a:font script="Syre" typeface="Sana"/>
        <a:font script="Sora" typeface="Sana"/>
        <a:font script="Tale" typeface="Sana"/>
        <a:font script="Talu" typeface="Sana"/>
        <a:font script="Tfng" typeface="San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E012AC-3AB2-3145-8E75-50D168D51310}">
  <we:reference id="wa200010215" version="2.0.0.0" store="en-US" storeType="OMEX"/>
  <we:alternateReferences>
    <we:reference id="WA200010215"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{83CDC9D4-0014-B14D-ADB7-C2D46441B754}tf10001123</Template>
  <TotalTime>4448</TotalTime>
  <Words>1696</Words>
  <Application>Microsoft Office PowerPoint</Application>
  <PresentationFormat>Widescreen</PresentationFormat>
  <Paragraphs>158</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Sana</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מוריה-יעל בשן (סטודנט)</dc:creator>
  <cp:lastModifiedBy>Asaf Solonnikov</cp:lastModifiedBy>
  <cp:revision>40</cp:revision>
  <dcterms:created xsi:type="dcterms:W3CDTF">2023-06-12T09:25:50Z</dcterms:created>
  <dcterms:modified xsi:type="dcterms:W3CDTF">2026-06-30T16:09:41Z</dcterms:modified>
</cp:coreProperties>
</file>